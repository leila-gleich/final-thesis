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60" r:id="rId5"/>
    <p:sldId id="259" r:id="rId6"/>
    <p:sldId id="288" r:id="rId7"/>
    <p:sldId id="275" r:id="rId8"/>
    <p:sldId id="261" r:id="rId9"/>
    <p:sldId id="268" r:id="rId10"/>
    <p:sldId id="269" r:id="rId11"/>
    <p:sldId id="270" r:id="rId12"/>
    <p:sldId id="271" r:id="rId13"/>
    <p:sldId id="272" r:id="rId14"/>
    <p:sldId id="273" r:id="rId15"/>
    <p:sldId id="274" r:id="rId16"/>
    <p:sldId id="262" r:id="rId17"/>
    <p:sldId id="276" r:id="rId18"/>
    <p:sldId id="277" r:id="rId19"/>
    <p:sldId id="278" r:id="rId20"/>
    <p:sldId id="279" r:id="rId21"/>
    <p:sldId id="280" r:id="rId22"/>
    <p:sldId id="281" r:id="rId23"/>
    <p:sldId id="282" r:id="rId24"/>
    <p:sldId id="263" r:id="rId25"/>
    <p:sldId id="264" r:id="rId26"/>
    <p:sldId id="283" r:id="rId27"/>
    <p:sldId id="265" r:id="rId28"/>
    <p:sldId id="285" r:id="rId29"/>
    <p:sldId id="266" r:id="rId30"/>
    <p:sldId id="267"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33"/>
    <p:restoredTop sz="95126"/>
  </p:normalViewPr>
  <p:slideViewPr>
    <p:cSldViewPr snapToGrid="0">
      <p:cViewPr>
        <p:scale>
          <a:sx n="80" d="100"/>
          <a:sy n="80" d="100"/>
        </p:scale>
        <p:origin x="768"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97E5CE-9AC9-41DF-86FD-584CE499524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3FBC8310-2D87-4C22-A98C-F5D3D51F2D80}">
      <dgm:prSet/>
      <dgm:spPr/>
      <dgm:t>
        <a:bodyPr/>
        <a:lstStyle/>
        <a:p>
          <a:r>
            <a:rPr lang="en-US"/>
            <a:t>Situation/Problem</a:t>
          </a:r>
        </a:p>
      </dgm:t>
    </dgm:pt>
    <dgm:pt modelId="{1A2C8501-4884-46DA-AC49-973EA16FE42B}" type="parTrans" cxnId="{5F5C5DCD-9915-4D5E-90DF-C1365ADB4562}">
      <dgm:prSet/>
      <dgm:spPr/>
      <dgm:t>
        <a:bodyPr/>
        <a:lstStyle/>
        <a:p>
          <a:endParaRPr lang="en-US"/>
        </a:p>
      </dgm:t>
    </dgm:pt>
    <dgm:pt modelId="{24F18B06-AA67-445D-A297-29CA4C234914}" type="sibTrans" cxnId="{5F5C5DCD-9915-4D5E-90DF-C1365ADB4562}">
      <dgm:prSet/>
      <dgm:spPr/>
      <dgm:t>
        <a:bodyPr/>
        <a:lstStyle/>
        <a:p>
          <a:endParaRPr lang="en-US"/>
        </a:p>
      </dgm:t>
    </dgm:pt>
    <dgm:pt modelId="{758881EF-82F7-4A61-8953-C8A0E8A2F47C}">
      <dgm:prSet/>
      <dgm:spPr/>
      <dgm:t>
        <a:bodyPr/>
        <a:lstStyle/>
        <a:p>
          <a:r>
            <a:rPr lang="en-US"/>
            <a:t>Purpose</a:t>
          </a:r>
        </a:p>
      </dgm:t>
    </dgm:pt>
    <dgm:pt modelId="{35C544B3-FF1C-4B20-8FC5-163BE3920ACC}" type="parTrans" cxnId="{85291C29-7FF2-480C-A3A3-40CCA6779DCE}">
      <dgm:prSet/>
      <dgm:spPr/>
      <dgm:t>
        <a:bodyPr/>
        <a:lstStyle/>
        <a:p>
          <a:endParaRPr lang="en-US"/>
        </a:p>
      </dgm:t>
    </dgm:pt>
    <dgm:pt modelId="{0CA66AA0-CE7D-4F10-B4AB-B17BFF846C0E}" type="sibTrans" cxnId="{85291C29-7FF2-480C-A3A3-40CCA6779DCE}">
      <dgm:prSet/>
      <dgm:spPr/>
      <dgm:t>
        <a:bodyPr/>
        <a:lstStyle/>
        <a:p>
          <a:endParaRPr lang="en-US"/>
        </a:p>
      </dgm:t>
    </dgm:pt>
    <dgm:pt modelId="{2900777C-1802-4553-A762-14738F9C844D}">
      <dgm:prSet/>
      <dgm:spPr/>
      <dgm:t>
        <a:bodyPr/>
        <a:lstStyle/>
        <a:p>
          <a:r>
            <a:rPr lang="en-US"/>
            <a:t>Existing Research</a:t>
          </a:r>
        </a:p>
      </dgm:t>
    </dgm:pt>
    <dgm:pt modelId="{55697C44-F378-45D7-A843-FD750331F4DB}" type="parTrans" cxnId="{BCCFE3F9-2A37-4F69-953F-768861F8FDD1}">
      <dgm:prSet/>
      <dgm:spPr/>
      <dgm:t>
        <a:bodyPr/>
        <a:lstStyle/>
        <a:p>
          <a:endParaRPr lang="en-US"/>
        </a:p>
      </dgm:t>
    </dgm:pt>
    <dgm:pt modelId="{BFAC6097-0C7F-4693-884C-A05BBB5A574D}" type="sibTrans" cxnId="{BCCFE3F9-2A37-4F69-953F-768861F8FDD1}">
      <dgm:prSet/>
      <dgm:spPr/>
      <dgm:t>
        <a:bodyPr/>
        <a:lstStyle/>
        <a:p>
          <a:endParaRPr lang="en-US"/>
        </a:p>
      </dgm:t>
    </dgm:pt>
    <dgm:pt modelId="{5AC57317-4A0D-45CC-8EAA-874E0CF56D53}">
      <dgm:prSet/>
      <dgm:spPr/>
      <dgm:t>
        <a:bodyPr/>
        <a:lstStyle/>
        <a:p>
          <a:r>
            <a:rPr lang="en-US"/>
            <a:t>Methodology</a:t>
          </a:r>
        </a:p>
      </dgm:t>
    </dgm:pt>
    <dgm:pt modelId="{439D3D55-411C-437F-8B0C-462E918EBE14}" type="parTrans" cxnId="{9807DD08-4FB1-4CED-866B-5D51DE409649}">
      <dgm:prSet/>
      <dgm:spPr/>
      <dgm:t>
        <a:bodyPr/>
        <a:lstStyle/>
        <a:p>
          <a:endParaRPr lang="en-US"/>
        </a:p>
      </dgm:t>
    </dgm:pt>
    <dgm:pt modelId="{B5F7CACA-80C2-47D8-9107-D31319509E77}" type="sibTrans" cxnId="{9807DD08-4FB1-4CED-866B-5D51DE409649}">
      <dgm:prSet/>
      <dgm:spPr/>
      <dgm:t>
        <a:bodyPr/>
        <a:lstStyle/>
        <a:p>
          <a:endParaRPr lang="en-US"/>
        </a:p>
      </dgm:t>
    </dgm:pt>
    <dgm:pt modelId="{B3F3185A-AEF9-480F-A493-A043A31F58CB}">
      <dgm:prSet/>
      <dgm:spPr/>
      <dgm:t>
        <a:bodyPr/>
        <a:lstStyle/>
        <a:p>
          <a:r>
            <a:rPr lang="en-US"/>
            <a:t>Model Development</a:t>
          </a:r>
        </a:p>
      </dgm:t>
    </dgm:pt>
    <dgm:pt modelId="{7C42A3FF-D260-4A39-86F2-773FAE8D9448}" type="parTrans" cxnId="{9C9C7802-6A5D-4A3F-B7C1-6F666A40C756}">
      <dgm:prSet/>
      <dgm:spPr/>
      <dgm:t>
        <a:bodyPr/>
        <a:lstStyle/>
        <a:p>
          <a:endParaRPr lang="en-US"/>
        </a:p>
      </dgm:t>
    </dgm:pt>
    <dgm:pt modelId="{3FD4D48A-8ECC-4059-BE8A-30FF54DFDE3F}" type="sibTrans" cxnId="{9C9C7802-6A5D-4A3F-B7C1-6F666A40C756}">
      <dgm:prSet/>
      <dgm:spPr/>
      <dgm:t>
        <a:bodyPr/>
        <a:lstStyle/>
        <a:p>
          <a:endParaRPr lang="en-US"/>
        </a:p>
      </dgm:t>
    </dgm:pt>
    <dgm:pt modelId="{4A54D923-35C5-4A87-9117-4C071F95449A}">
      <dgm:prSet/>
      <dgm:spPr/>
      <dgm:t>
        <a:bodyPr/>
        <a:lstStyle/>
        <a:p>
          <a:r>
            <a:rPr lang="en-US"/>
            <a:t>Model Execution &amp; Evaluation</a:t>
          </a:r>
        </a:p>
      </dgm:t>
    </dgm:pt>
    <dgm:pt modelId="{C2F18C18-0BCD-4FD0-8E1E-1F40FF73D077}" type="parTrans" cxnId="{3875CAE0-3E9E-4EED-8B42-42EAC3354A9C}">
      <dgm:prSet/>
      <dgm:spPr/>
      <dgm:t>
        <a:bodyPr/>
        <a:lstStyle/>
        <a:p>
          <a:endParaRPr lang="en-US"/>
        </a:p>
      </dgm:t>
    </dgm:pt>
    <dgm:pt modelId="{3DA11F80-066A-4B22-BA3F-778C82A58B88}" type="sibTrans" cxnId="{3875CAE0-3E9E-4EED-8B42-42EAC3354A9C}">
      <dgm:prSet/>
      <dgm:spPr/>
      <dgm:t>
        <a:bodyPr/>
        <a:lstStyle/>
        <a:p>
          <a:endParaRPr lang="en-US"/>
        </a:p>
      </dgm:t>
    </dgm:pt>
    <dgm:pt modelId="{B31C32E9-B4B7-48F0-A12C-4DAAF3A54922}">
      <dgm:prSet/>
      <dgm:spPr/>
      <dgm:t>
        <a:bodyPr/>
        <a:lstStyle/>
        <a:p>
          <a:r>
            <a:rPr lang="en-US"/>
            <a:t>Analysis &amp; Discussion</a:t>
          </a:r>
        </a:p>
      </dgm:t>
    </dgm:pt>
    <dgm:pt modelId="{B682B4BC-8E09-49F1-8F8F-BEE6AA95361C}" type="parTrans" cxnId="{30BF5E44-EB03-46A7-B851-69A0D89F7A7A}">
      <dgm:prSet/>
      <dgm:spPr/>
      <dgm:t>
        <a:bodyPr/>
        <a:lstStyle/>
        <a:p>
          <a:endParaRPr lang="en-US"/>
        </a:p>
      </dgm:t>
    </dgm:pt>
    <dgm:pt modelId="{C033AB72-DBCD-4492-BE8D-CD373E9EC5DD}" type="sibTrans" cxnId="{30BF5E44-EB03-46A7-B851-69A0D89F7A7A}">
      <dgm:prSet/>
      <dgm:spPr/>
      <dgm:t>
        <a:bodyPr/>
        <a:lstStyle/>
        <a:p>
          <a:endParaRPr lang="en-US"/>
        </a:p>
      </dgm:t>
    </dgm:pt>
    <dgm:pt modelId="{4A2EF249-752D-4D9E-8E32-03CF599B4821}">
      <dgm:prSet/>
      <dgm:spPr/>
      <dgm:t>
        <a:bodyPr/>
        <a:lstStyle/>
        <a:p>
          <a:r>
            <a:rPr lang="en-US"/>
            <a:t>Recommendations &amp; Conclusion</a:t>
          </a:r>
        </a:p>
      </dgm:t>
    </dgm:pt>
    <dgm:pt modelId="{635EBEE6-00D9-412E-8435-C15EEF40C970}" type="parTrans" cxnId="{BF0278D1-14E0-4217-8274-3832BF44F36B}">
      <dgm:prSet/>
      <dgm:spPr/>
      <dgm:t>
        <a:bodyPr/>
        <a:lstStyle/>
        <a:p>
          <a:endParaRPr lang="en-US"/>
        </a:p>
      </dgm:t>
    </dgm:pt>
    <dgm:pt modelId="{630D5AEF-BF03-4B32-BD49-55D1D5497E13}" type="sibTrans" cxnId="{BF0278D1-14E0-4217-8274-3832BF44F36B}">
      <dgm:prSet/>
      <dgm:spPr/>
      <dgm:t>
        <a:bodyPr/>
        <a:lstStyle/>
        <a:p>
          <a:endParaRPr lang="en-US"/>
        </a:p>
      </dgm:t>
    </dgm:pt>
    <dgm:pt modelId="{D08A4CA2-A091-9F47-8D1F-405EE87432A3}" type="pres">
      <dgm:prSet presAssocID="{2B97E5CE-9AC9-41DF-86FD-584CE499524D}" presName="vert0" presStyleCnt="0">
        <dgm:presLayoutVars>
          <dgm:dir/>
          <dgm:animOne val="branch"/>
          <dgm:animLvl val="lvl"/>
        </dgm:presLayoutVars>
      </dgm:prSet>
      <dgm:spPr/>
    </dgm:pt>
    <dgm:pt modelId="{75DFB761-4A46-E74C-8CB1-76F6CB36293B}" type="pres">
      <dgm:prSet presAssocID="{3FBC8310-2D87-4C22-A98C-F5D3D51F2D80}" presName="thickLine" presStyleLbl="alignNode1" presStyleIdx="0" presStyleCnt="8"/>
      <dgm:spPr/>
    </dgm:pt>
    <dgm:pt modelId="{4DD406DB-13C7-DB4B-94CC-4B335A1AEC4B}" type="pres">
      <dgm:prSet presAssocID="{3FBC8310-2D87-4C22-A98C-F5D3D51F2D80}" presName="horz1" presStyleCnt="0"/>
      <dgm:spPr/>
    </dgm:pt>
    <dgm:pt modelId="{96F8F437-0FEB-0547-BCBC-E0A48228DC1A}" type="pres">
      <dgm:prSet presAssocID="{3FBC8310-2D87-4C22-A98C-F5D3D51F2D80}" presName="tx1" presStyleLbl="revTx" presStyleIdx="0" presStyleCnt="8"/>
      <dgm:spPr/>
    </dgm:pt>
    <dgm:pt modelId="{BA60AA11-2FF6-E740-8E79-6DB6E66D5AF8}" type="pres">
      <dgm:prSet presAssocID="{3FBC8310-2D87-4C22-A98C-F5D3D51F2D80}" presName="vert1" presStyleCnt="0"/>
      <dgm:spPr/>
    </dgm:pt>
    <dgm:pt modelId="{1801DEB7-ED15-3144-9323-547045BBBCA8}" type="pres">
      <dgm:prSet presAssocID="{758881EF-82F7-4A61-8953-C8A0E8A2F47C}" presName="thickLine" presStyleLbl="alignNode1" presStyleIdx="1" presStyleCnt="8"/>
      <dgm:spPr/>
    </dgm:pt>
    <dgm:pt modelId="{02BB8D65-207A-7B44-A31B-2333A38C7001}" type="pres">
      <dgm:prSet presAssocID="{758881EF-82F7-4A61-8953-C8A0E8A2F47C}" presName="horz1" presStyleCnt="0"/>
      <dgm:spPr/>
    </dgm:pt>
    <dgm:pt modelId="{EC4D24EE-A9A4-094C-AD26-CE82B6C85407}" type="pres">
      <dgm:prSet presAssocID="{758881EF-82F7-4A61-8953-C8A0E8A2F47C}" presName="tx1" presStyleLbl="revTx" presStyleIdx="1" presStyleCnt="8"/>
      <dgm:spPr/>
    </dgm:pt>
    <dgm:pt modelId="{A99B821C-6883-4348-B4E7-779318138F39}" type="pres">
      <dgm:prSet presAssocID="{758881EF-82F7-4A61-8953-C8A0E8A2F47C}" presName="vert1" presStyleCnt="0"/>
      <dgm:spPr/>
    </dgm:pt>
    <dgm:pt modelId="{970A842D-97CF-C749-AA67-23AA39616E9C}" type="pres">
      <dgm:prSet presAssocID="{2900777C-1802-4553-A762-14738F9C844D}" presName="thickLine" presStyleLbl="alignNode1" presStyleIdx="2" presStyleCnt="8"/>
      <dgm:spPr/>
    </dgm:pt>
    <dgm:pt modelId="{C89A48C3-2977-AB4E-9DD7-EED4FE869FC2}" type="pres">
      <dgm:prSet presAssocID="{2900777C-1802-4553-A762-14738F9C844D}" presName="horz1" presStyleCnt="0"/>
      <dgm:spPr/>
    </dgm:pt>
    <dgm:pt modelId="{9DD407E5-AF79-DE46-811C-6DA49D98D100}" type="pres">
      <dgm:prSet presAssocID="{2900777C-1802-4553-A762-14738F9C844D}" presName="tx1" presStyleLbl="revTx" presStyleIdx="2" presStyleCnt="8"/>
      <dgm:spPr/>
    </dgm:pt>
    <dgm:pt modelId="{CF09E26C-BBD7-6C4E-92E7-AF06AE21C34D}" type="pres">
      <dgm:prSet presAssocID="{2900777C-1802-4553-A762-14738F9C844D}" presName="vert1" presStyleCnt="0"/>
      <dgm:spPr/>
    </dgm:pt>
    <dgm:pt modelId="{2043E895-6B9F-3644-A8C9-58EA85D7CE25}" type="pres">
      <dgm:prSet presAssocID="{5AC57317-4A0D-45CC-8EAA-874E0CF56D53}" presName="thickLine" presStyleLbl="alignNode1" presStyleIdx="3" presStyleCnt="8"/>
      <dgm:spPr/>
    </dgm:pt>
    <dgm:pt modelId="{9A3087DC-D6F0-9F4D-AEE0-C7931AE3D26A}" type="pres">
      <dgm:prSet presAssocID="{5AC57317-4A0D-45CC-8EAA-874E0CF56D53}" presName="horz1" presStyleCnt="0"/>
      <dgm:spPr/>
    </dgm:pt>
    <dgm:pt modelId="{CD8475C0-5B74-A94A-B147-8309FEDDF3A4}" type="pres">
      <dgm:prSet presAssocID="{5AC57317-4A0D-45CC-8EAA-874E0CF56D53}" presName="tx1" presStyleLbl="revTx" presStyleIdx="3" presStyleCnt="8"/>
      <dgm:spPr/>
    </dgm:pt>
    <dgm:pt modelId="{E347343C-8F53-024D-A6B3-BC5F07F0FE5F}" type="pres">
      <dgm:prSet presAssocID="{5AC57317-4A0D-45CC-8EAA-874E0CF56D53}" presName="vert1" presStyleCnt="0"/>
      <dgm:spPr/>
    </dgm:pt>
    <dgm:pt modelId="{D6AA1FFC-A4C3-2E45-A0FA-959B2B0B452B}" type="pres">
      <dgm:prSet presAssocID="{B3F3185A-AEF9-480F-A493-A043A31F58CB}" presName="thickLine" presStyleLbl="alignNode1" presStyleIdx="4" presStyleCnt="8"/>
      <dgm:spPr/>
    </dgm:pt>
    <dgm:pt modelId="{7C375209-1E8E-FC42-9640-035CC40043A7}" type="pres">
      <dgm:prSet presAssocID="{B3F3185A-AEF9-480F-A493-A043A31F58CB}" presName="horz1" presStyleCnt="0"/>
      <dgm:spPr/>
    </dgm:pt>
    <dgm:pt modelId="{D76004EC-0652-764B-8410-23E7E5C670C3}" type="pres">
      <dgm:prSet presAssocID="{B3F3185A-AEF9-480F-A493-A043A31F58CB}" presName="tx1" presStyleLbl="revTx" presStyleIdx="4" presStyleCnt="8"/>
      <dgm:spPr/>
    </dgm:pt>
    <dgm:pt modelId="{39060F7F-DD1C-644B-BBD3-D451ADC79F91}" type="pres">
      <dgm:prSet presAssocID="{B3F3185A-AEF9-480F-A493-A043A31F58CB}" presName="vert1" presStyleCnt="0"/>
      <dgm:spPr/>
    </dgm:pt>
    <dgm:pt modelId="{DE5CDA7D-2925-F047-9920-0A0F40DAE95A}" type="pres">
      <dgm:prSet presAssocID="{4A54D923-35C5-4A87-9117-4C071F95449A}" presName="thickLine" presStyleLbl="alignNode1" presStyleIdx="5" presStyleCnt="8"/>
      <dgm:spPr/>
    </dgm:pt>
    <dgm:pt modelId="{9F92F7AD-5A2F-1B4C-9F76-A405DC03992A}" type="pres">
      <dgm:prSet presAssocID="{4A54D923-35C5-4A87-9117-4C071F95449A}" presName="horz1" presStyleCnt="0"/>
      <dgm:spPr/>
    </dgm:pt>
    <dgm:pt modelId="{0106F70A-7B02-5F47-8F54-44616D8D82DE}" type="pres">
      <dgm:prSet presAssocID="{4A54D923-35C5-4A87-9117-4C071F95449A}" presName="tx1" presStyleLbl="revTx" presStyleIdx="5" presStyleCnt="8"/>
      <dgm:spPr/>
    </dgm:pt>
    <dgm:pt modelId="{DFDAAAE2-9EA2-EF48-A0FA-A1B1F408D9F2}" type="pres">
      <dgm:prSet presAssocID="{4A54D923-35C5-4A87-9117-4C071F95449A}" presName="vert1" presStyleCnt="0"/>
      <dgm:spPr/>
    </dgm:pt>
    <dgm:pt modelId="{03A1B0CB-43C5-034D-9DB9-183D6D3A1603}" type="pres">
      <dgm:prSet presAssocID="{B31C32E9-B4B7-48F0-A12C-4DAAF3A54922}" presName="thickLine" presStyleLbl="alignNode1" presStyleIdx="6" presStyleCnt="8"/>
      <dgm:spPr/>
    </dgm:pt>
    <dgm:pt modelId="{AE32196F-CAFE-754D-992D-05F6B322B3D3}" type="pres">
      <dgm:prSet presAssocID="{B31C32E9-B4B7-48F0-A12C-4DAAF3A54922}" presName="horz1" presStyleCnt="0"/>
      <dgm:spPr/>
    </dgm:pt>
    <dgm:pt modelId="{C982FCB3-ABA3-BB48-BC34-3D68B7213E81}" type="pres">
      <dgm:prSet presAssocID="{B31C32E9-B4B7-48F0-A12C-4DAAF3A54922}" presName="tx1" presStyleLbl="revTx" presStyleIdx="6" presStyleCnt="8"/>
      <dgm:spPr/>
    </dgm:pt>
    <dgm:pt modelId="{68D26136-A423-6643-99E4-294373E57721}" type="pres">
      <dgm:prSet presAssocID="{B31C32E9-B4B7-48F0-A12C-4DAAF3A54922}" presName="vert1" presStyleCnt="0"/>
      <dgm:spPr/>
    </dgm:pt>
    <dgm:pt modelId="{82B6102D-C401-FB40-A90F-AFF18B0583FA}" type="pres">
      <dgm:prSet presAssocID="{4A2EF249-752D-4D9E-8E32-03CF599B4821}" presName="thickLine" presStyleLbl="alignNode1" presStyleIdx="7" presStyleCnt="8"/>
      <dgm:spPr/>
    </dgm:pt>
    <dgm:pt modelId="{FE952FC1-3107-2D41-97C2-88B40686C08C}" type="pres">
      <dgm:prSet presAssocID="{4A2EF249-752D-4D9E-8E32-03CF599B4821}" presName="horz1" presStyleCnt="0"/>
      <dgm:spPr/>
    </dgm:pt>
    <dgm:pt modelId="{B173630D-BFE1-8549-837A-55960FDB1A30}" type="pres">
      <dgm:prSet presAssocID="{4A2EF249-752D-4D9E-8E32-03CF599B4821}" presName="tx1" presStyleLbl="revTx" presStyleIdx="7" presStyleCnt="8"/>
      <dgm:spPr/>
    </dgm:pt>
    <dgm:pt modelId="{516E814B-2AB9-3449-9B69-E172CB698D5F}" type="pres">
      <dgm:prSet presAssocID="{4A2EF249-752D-4D9E-8E32-03CF599B4821}" presName="vert1" presStyleCnt="0"/>
      <dgm:spPr/>
    </dgm:pt>
  </dgm:ptLst>
  <dgm:cxnLst>
    <dgm:cxn modelId="{9C9C7802-6A5D-4A3F-B7C1-6F666A40C756}" srcId="{2B97E5CE-9AC9-41DF-86FD-584CE499524D}" destId="{B3F3185A-AEF9-480F-A493-A043A31F58CB}" srcOrd="4" destOrd="0" parTransId="{7C42A3FF-D260-4A39-86F2-773FAE8D9448}" sibTransId="{3FD4D48A-8ECC-4059-BE8A-30FF54DFDE3F}"/>
    <dgm:cxn modelId="{A6331707-3A42-F747-9688-4B5112D29089}" type="presOf" srcId="{3FBC8310-2D87-4C22-A98C-F5D3D51F2D80}" destId="{96F8F437-0FEB-0547-BCBC-E0A48228DC1A}" srcOrd="0" destOrd="0" presId="urn:microsoft.com/office/officeart/2008/layout/LinedList"/>
    <dgm:cxn modelId="{9807DD08-4FB1-4CED-866B-5D51DE409649}" srcId="{2B97E5CE-9AC9-41DF-86FD-584CE499524D}" destId="{5AC57317-4A0D-45CC-8EAA-874E0CF56D53}" srcOrd="3" destOrd="0" parTransId="{439D3D55-411C-437F-8B0C-462E918EBE14}" sibTransId="{B5F7CACA-80C2-47D8-9107-D31319509E77}"/>
    <dgm:cxn modelId="{85291C29-7FF2-480C-A3A3-40CCA6779DCE}" srcId="{2B97E5CE-9AC9-41DF-86FD-584CE499524D}" destId="{758881EF-82F7-4A61-8953-C8A0E8A2F47C}" srcOrd="1" destOrd="0" parTransId="{35C544B3-FF1C-4B20-8FC5-163BE3920ACC}" sibTransId="{0CA66AA0-CE7D-4F10-B4AB-B17BFF846C0E}"/>
    <dgm:cxn modelId="{30BF5E44-EB03-46A7-B851-69A0D89F7A7A}" srcId="{2B97E5CE-9AC9-41DF-86FD-584CE499524D}" destId="{B31C32E9-B4B7-48F0-A12C-4DAAF3A54922}" srcOrd="6" destOrd="0" parTransId="{B682B4BC-8E09-49F1-8F8F-BEE6AA95361C}" sibTransId="{C033AB72-DBCD-4492-BE8D-CD373E9EC5DD}"/>
    <dgm:cxn modelId="{D0F5174E-C397-914F-95FC-DA0380B2C197}" type="presOf" srcId="{B31C32E9-B4B7-48F0-A12C-4DAAF3A54922}" destId="{C982FCB3-ABA3-BB48-BC34-3D68B7213E81}" srcOrd="0" destOrd="0" presId="urn:microsoft.com/office/officeart/2008/layout/LinedList"/>
    <dgm:cxn modelId="{99B90C64-14FC-7F41-9935-FFA88A4468D8}" type="presOf" srcId="{2B97E5CE-9AC9-41DF-86FD-584CE499524D}" destId="{D08A4CA2-A091-9F47-8D1F-405EE87432A3}" srcOrd="0" destOrd="0" presId="urn:microsoft.com/office/officeart/2008/layout/LinedList"/>
    <dgm:cxn modelId="{A516BDA0-B72B-EE4A-817B-76B1BDCDA16A}" type="presOf" srcId="{5AC57317-4A0D-45CC-8EAA-874E0CF56D53}" destId="{CD8475C0-5B74-A94A-B147-8309FEDDF3A4}" srcOrd="0" destOrd="0" presId="urn:microsoft.com/office/officeart/2008/layout/LinedList"/>
    <dgm:cxn modelId="{8680ACBA-C785-9A43-9376-AA0FC70EEA02}" type="presOf" srcId="{4A54D923-35C5-4A87-9117-4C071F95449A}" destId="{0106F70A-7B02-5F47-8F54-44616D8D82DE}" srcOrd="0" destOrd="0" presId="urn:microsoft.com/office/officeart/2008/layout/LinedList"/>
    <dgm:cxn modelId="{B6FA0DBD-5219-DE4B-BB3C-40825FEC92D3}" type="presOf" srcId="{2900777C-1802-4553-A762-14738F9C844D}" destId="{9DD407E5-AF79-DE46-811C-6DA49D98D100}" srcOrd="0" destOrd="0" presId="urn:microsoft.com/office/officeart/2008/layout/LinedList"/>
    <dgm:cxn modelId="{ECC304BF-FC10-FD4C-AD6C-C1062F1BD52C}" type="presOf" srcId="{758881EF-82F7-4A61-8953-C8A0E8A2F47C}" destId="{EC4D24EE-A9A4-094C-AD26-CE82B6C85407}" srcOrd="0" destOrd="0" presId="urn:microsoft.com/office/officeart/2008/layout/LinedList"/>
    <dgm:cxn modelId="{5F5C5DCD-9915-4D5E-90DF-C1365ADB4562}" srcId="{2B97E5CE-9AC9-41DF-86FD-584CE499524D}" destId="{3FBC8310-2D87-4C22-A98C-F5D3D51F2D80}" srcOrd="0" destOrd="0" parTransId="{1A2C8501-4884-46DA-AC49-973EA16FE42B}" sibTransId="{24F18B06-AA67-445D-A297-29CA4C234914}"/>
    <dgm:cxn modelId="{BF0278D1-14E0-4217-8274-3832BF44F36B}" srcId="{2B97E5CE-9AC9-41DF-86FD-584CE499524D}" destId="{4A2EF249-752D-4D9E-8E32-03CF599B4821}" srcOrd="7" destOrd="0" parTransId="{635EBEE6-00D9-412E-8435-C15EEF40C970}" sibTransId="{630D5AEF-BF03-4B32-BD49-55D1D5497E13}"/>
    <dgm:cxn modelId="{D2D76BD6-A9C5-E743-96DE-3BAFBB8DD886}" type="presOf" srcId="{B3F3185A-AEF9-480F-A493-A043A31F58CB}" destId="{D76004EC-0652-764B-8410-23E7E5C670C3}" srcOrd="0" destOrd="0" presId="urn:microsoft.com/office/officeart/2008/layout/LinedList"/>
    <dgm:cxn modelId="{97B858DB-03FB-B143-A9F4-819582FD691D}" type="presOf" srcId="{4A2EF249-752D-4D9E-8E32-03CF599B4821}" destId="{B173630D-BFE1-8549-837A-55960FDB1A30}" srcOrd="0" destOrd="0" presId="urn:microsoft.com/office/officeart/2008/layout/LinedList"/>
    <dgm:cxn modelId="{3875CAE0-3E9E-4EED-8B42-42EAC3354A9C}" srcId="{2B97E5CE-9AC9-41DF-86FD-584CE499524D}" destId="{4A54D923-35C5-4A87-9117-4C071F95449A}" srcOrd="5" destOrd="0" parTransId="{C2F18C18-0BCD-4FD0-8E1E-1F40FF73D077}" sibTransId="{3DA11F80-066A-4B22-BA3F-778C82A58B88}"/>
    <dgm:cxn modelId="{BCCFE3F9-2A37-4F69-953F-768861F8FDD1}" srcId="{2B97E5CE-9AC9-41DF-86FD-584CE499524D}" destId="{2900777C-1802-4553-A762-14738F9C844D}" srcOrd="2" destOrd="0" parTransId="{55697C44-F378-45D7-A843-FD750331F4DB}" sibTransId="{BFAC6097-0C7F-4693-884C-A05BBB5A574D}"/>
    <dgm:cxn modelId="{32AB5C95-8CFC-B24B-9B8E-93D63BE6B871}" type="presParOf" srcId="{D08A4CA2-A091-9F47-8D1F-405EE87432A3}" destId="{75DFB761-4A46-E74C-8CB1-76F6CB36293B}" srcOrd="0" destOrd="0" presId="urn:microsoft.com/office/officeart/2008/layout/LinedList"/>
    <dgm:cxn modelId="{FC0AB54C-2FCB-FE47-BAE6-70E6EAB043AC}" type="presParOf" srcId="{D08A4CA2-A091-9F47-8D1F-405EE87432A3}" destId="{4DD406DB-13C7-DB4B-94CC-4B335A1AEC4B}" srcOrd="1" destOrd="0" presId="urn:microsoft.com/office/officeart/2008/layout/LinedList"/>
    <dgm:cxn modelId="{6FB57B57-07A6-1642-8AF9-7E3FACC2590D}" type="presParOf" srcId="{4DD406DB-13C7-DB4B-94CC-4B335A1AEC4B}" destId="{96F8F437-0FEB-0547-BCBC-E0A48228DC1A}" srcOrd="0" destOrd="0" presId="urn:microsoft.com/office/officeart/2008/layout/LinedList"/>
    <dgm:cxn modelId="{DDB2392A-98DF-D042-B1D2-7AD5076A2F39}" type="presParOf" srcId="{4DD406DB-13C7-DB4B-94CC-4B335A1AEC4B}" destId="{BA60AA11-2FF6-E740-8E79-6DB6E66D5AF8}" srcOrd="1" destOrd="0" presId="urn:microsoft.com/office/officeart/2008/layout/LinedList"/>
    <dgm:cxn modelId="{5B287C31-89AE-1146-99C5-9ECEE47D8205}" type="presParOf" srcId="{D08A4CA2-A091-9F47-8D1F-405EE87432A3}" destId="{1801DEB7-ED15-3144-9323-547045BBBCA8}" srcOrd="2" destOrd="0" presId="urn:microsoft.com/office/officeart/2008/layout/LinedList"/>
    <dgm:cxn modelId="{EC6DCD1D-866F-B446-9EE9-68E0A95FB6A2}" type="presParOf" srcId="{D08A4CA2-A091-9F47-8D1F-405EE87432A3}" destId="{02BB8D65-207A-7B44-A31B-2333A38C7001}" srcOrd="3" destOrd="0" presId="urn:microsoft.com/office/officeart/2008/layout/LinedList"/>
    <dgm:cxn modelId="{A7B687F1-52C8-5E4D-A9E6-758B9094B0D3}" type="presParOf" srcId="{02BB8D65-207A-7B44-A31B-2333A38C7001}" destId="{EC4D24EE-A9A4-094C-AD26-CE82B6C85407}" srcOrd="0" destOrd="0" presId="urn:microsoft.com/office/officeart/2008/layout/LinedList"/>
    <dgm:cxn modelId="{47235C57-4B8B-CE4C-8119-ED6A9F0A0DE0}" type="presParOf" srcId="{02BB8D65-207A-7B44-A31B-2333A38C7001}" destId="{A99B821C-6883-4348-B4E7-779318138F39}" srcOrd="1" destOrd="0" presId="urn:microsoft.com/office/officeart/2008/layout/LinedList"/>
    <dgm:cxn modelId="{5AF0FCA7-C553-374E-946E-432752C627B3}" type="presParOf" srcId="{D08A4CA2-A091-9F47-8D1F-405EE87432A3}" destId="{970A842D-97CF-C749-AA67-23AA39616E9C}" srcOrd="4" destOrd="0" presId="urn:microsoft.com/office/officeart/2008/layout/LinedList"/>
    <dgm:cxn modelId="{ECF04447-F4F0-EB4A-85A3-4D279CB07F31}" type="presParOf" srcId="{D08A4CA2-A091-9F47-8D1F-405EE87432A3}" destId="{C89A48C3-2977-AB4E-9DD7-EED4FE869FC2}" srcOrd="5" destOrd="0" presId="urn:microsoft.com/office/officeart/2008/layout/LinedList"/>
    <dgm:cxn modelId="{0A3D9EB8-FA61-684D-8C3C-1458E2A5BDEF}" type="presParOf" srcId="{C89A48C3-2977-AB4E-9DD7-EED4FE869FC2}" destId="{9DD407E5-AF79-DE46-811C-6DA49D98D100}" srcOrd="0" destOrd="0" presId="urn:microsoft.com/office/officeart/2008/layout/LinedList"/>
    <dgm:cxn modelId="{CE0DF5CB-E549-5D49-B1B9-1AF5703638F7}" type="presParOf" srcId="{C89A48C3-2977-AB4E-9DD7-EED4FE869FC2}" destId="{CF09E26C-BBD7-6C4E-92E7-AF06AE21C34D}" srcOrd="1" destOrd="0" presId="urn:microsoft.com/office/officeart/2008/layout/LinedList"/>
    <dgm:cxn modelId="{31D4275F-EB29-A749-AB9D-40B6255B67B1}" type="presParOf" srcId="{D08A4CA2-A091-9F47-8D1F-405EE87432A3}" destId="{2043E895-6B9F-3644-A8C9-58EA85D7CE25}" srcOrd="6" destOrd="0" presId="urn:microsoft.com/office/officeart/2008/layout/LinedList"/>
    <dgm:cxn modelId="{8E08B01C-251E-6E43-9526-43EF30A6CC1C}" type="presParOf" srcId="{D08A4CA2-A091-9F47-8D1F-405EE87432A3}" destId="{9A3087DC-D6F0-9F4D-AEE0-C7931AE3D26A}" srcOrd="7" destOrd="0" presId="urn:microsoft.com/office/officeart/2008/layout/LinedList"/>
    <dgm:cxn modelId="{95C80A5C-5B38-DF4E-B280-43376DF499E3}" type="presParOf" srcId="{9A3087DC-D6F0-9F4D-AEE0-C7931AE3D26A}" destId="{CD8475C0-5B74-A94A-B147-8309FEDDF3A4}" srcOrd="0" destOrd="0" presId="urn:microsoft.com/office/officeart/2008/layout/LinedList"/>
    <dgm:cxn modelId="{358D8CA0-F7D4-6E47-AEB3-DEC7CF6A25DD}" type="presParOf" srcId="{9A3087DC-D6F0-9F4D-AEE0-C7931AE3D26A}" destId="{E347343C-8F53-024D-A6B3-BC5F07F0FE5F}" srcOrd="1" destOrd="0" presId="urn:microsoft.com/office/officeart/2008/layout/LinedList"/>
    <dgm:cxn modelId="{77CD7512-0414-DA4D-9352-FFBAFA263D36}" type="presParOf" srcId="{D08A4CA2-A091-9F47-8D1F-405EE87432A3}" destId="{D6AA1FFC-A4C3-2E45-A0FA-959B2B0B452B}" srcOrd="8" destOrd="0" presId="urn:microsoft.com/office/officeart/2008/layout/LinedList"/>
    <dgm:cxn modelId="{4027B89A-3961-5A45-A27A-EB7DC54141DE}" type="presParOf" srcId="{D08A4CA2-A091-9F47-8D1F-405EE87432A3}" destId="{7C375209-1E8E-FC42-9640-035CC40043A7}" srcOrd="9" destOrd="0" presId="urn:microsoft.com/office/officeart/2008/layout/LinedList"/>
    <dgm:cxn modelId="{A2C59F07-02D4-FC47-975D-CB99441EEA8A}" type="presParOf" srcId="{7C375209-1E8E-FC42-9640-035CC40043A7}" destId="{D76004EC-0652-764B-8410-23E7E5C670C3}" srcOrd="0" destOrd="0" presId="urn:microsoft.com/office/officeart/2008/layout/LinedList"/>
    <dgm:cxn modelId="{01901495-1ADC-3440-AE3C-CD467367BCEB}" type="presParOf" srcId="{7C375209-1E8E-FC42-9640-035CC40043A7}" destId="{39060F7F-DD1C-644B-BBD3-D451ADC79F91}" srcOrd="1" destOrd="0" presId="urn:microsoft.com/office/officeart/2008/layout/LinedList"/>
    <dgm:cxn modelId="{0D365FBA-F797-5C42-9915-92306FCDB462}" type="presParOf" srcId="{D08A4CA2-A091-9F47-8D1F-405EE87432A3}" destId="{DE5CDA7D-2925-F047-9920-0A0F40DAE95A}" srcOrd="10" destOrd="0" presId="urn:microsoft.com/office/officeart/2008/layout/LinedList"/>
    <dgm:cxn modelId="{BEEB87D5-A4F9-824C-B969-031F5FD3A1EC}" type="presParOf" srcId="{D08A4CA2-A091-9F47-8D1F-405EE87432A3}" destId="{9F92F7AD-5A2F-1B4C-9F76-A405DC03992A}" srcOrd="11" destOrd="0" presId="urn:microsoft.com/office/officeart/2008/layout/LinedList"/>
    <dgm:cxn modelId="{058A9A7D-2145-6B4A-8A5D-E2363B961E15}" type="presParOf" srcId="{9F92F7AD-5A2F-1B4C-9F76-A405DC03992A}" destId="{0106F70A-7B02-5F47-8F54-44616D8D82DE}" srcOrd="0" destOrd="0" presId="urn:microsoft.com/office/officeart/2008/layout/LinedList"/>
    <dgm:cxn modelId="{D82045AB-2640-AD42-859A-7AE54AF6D1C2}" type="presParOf" srcId="{9F92F7AD-5A2F-1B4C-9F76-A405DC03992A}" destId="{DFDAAAE2-9EA2-EF48-A0FA-A1B1F408D9F2}" srcOrd="1" destOrd="0" presId="urn:microsoft.com/office/officeart/2008/layout/LinedList"/>
    <dgm:cxn modelId="{45529F81-BBA1-084A-9DC7-C1542CA268D8}" type="presParOf" srcId="{D08A4CA2-A091-9F47-8D1F-405EE87432A3}" destId="{03A1B0CB-43C5-034D-9DB9-183D6D3A1603}" srcOrd="12" destOrd="0" presId="urn:microsoft.com/office/officeart/2008/layout/LinedList"/>
    <dgm:cxn modelId="{43C7B60D-7532-1C46-B3CC-EFDC2D2A1B1D}" type="presParOf" srcId="{D08A4CA2-A091-9F47-8D1F-405EE87432A3}" destId="{AE32196F-CAFE-754D-992D-05F6B322B3D3}" srcOrd="13" destOrd="0" presId="urn:microsoft.com/office/officeart/2008/layout/LinedList"/>
    <dgm:cxn modelId="{6DE45E6D-1BE0-8C43-B77B-28D58F0F16BA}" type="presParOf" srcId="{AE32196F-CAFE-754D-992D-05F6B322B3D3}" destId="{C982FCB3-ABA3-BB48-BC34-3D68B7213E81}" srcOrd="0" destOrd="0" presId="urn:microsoft.com/office/officeart/2008/layout/LinedList"/>
    <dgm:cxn modelId="{F71BAC2F-1DB5-A440-A898-15DE5BD5FC28}" type="presParOf" srcId="{AE32196F-CAFE-754D-992D-05F6B322B3D3}" destId="{68D26136-A423-6643-99E4-294373E57721}" srcOrd="1" destOrd="0" presId="urn:microsoft.com/office/officeart/2008/layout/LinedList"/>
    <dgm:cxn modelId="{B7396E46-EE65-7E44-A8EB-F2B910CF0E93}" type="presParOf" srcId="{D08A4CA2-A091-9F47-8D1F-405EE87432A3}" destId="{82B6102D-C401-FB40-A90F-AFF18B0583FA}" srcOrd="14" destOrd="0" presId="urn:microsoft.com/office/officeart/2008/layout/LinedList"/>
    <dgm:cxn modelId="{7CBFF590-7F24-AA4C-AC4F-6A6DAC165691}" type="presParOf" srcId="{D08A4CA2-A091-9F47-8D1F-405EE87432A3}" destId="{FE952FC1-3107-2D41-97C2-88B40686C08C}" srcOrd="15" destOrd="0" presId="urn:microsoft.com/office/officeart/2008/layout/LinedList"/>
    <dgm:cxn modelId="{4AAFA386-72B4-6847-A295-3E3728A8A7EB}" type="presParOf" srcId="{FE952FC1-3107-2D41-97C2-88B40686C08C}" destId="{B173630D-BFE1-8549-837A-55960FDB1A30}" srcOrd="0" destOrd="0" presId="urn:microsoft.com/office/officeart/2008/layout/LinedList"/>
    <dgm:cxn modelId="{AAFD9E7F-C824-234C-8304-8B7D4FE36F32}" type="presParOf" srcId="{FE952FC1-3107-2D41-97C2-88B40686C08C}" destId="{516E814B-2AB9-3449-9B69-E172CB698D5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DFB761-4A46-E74C-8CB1-76F6CB36293B}">
      <dsp:nvSpPr>
        <dsp:cNvPr id="0" name=""/>
        <dsp:cNvSpPr/>
      </dsp:nvSpPr>
      <dsp:spPr>
        <a:xfrm>
          <a:off x="0" y="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F8F437-0FEB-0547-BCBC-E0A48228DC1A}">
      <dsp:nvSpPr>
        <dsp:cNvPr id="0" name=""/>
        <dsp:cNvSpPr/>
      </dsp:nvSpPr>
      <dsp:spPr>
        <a:xfrm>
          <a:off x="0" y="0"/>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Situation/Problem</a:t>
          </a:r>
        </a:p>
      </dsp:txBody>
      <dsp:txXfrm>
        <a:off x="0" y="0"/>
        <a:ext cx="10515600" cy="543917"/>
      </dsp:txXfrm>
    </dsp:sp>
    <dsp:sp modelId="{1801DEB7-ED15-3144-9323-547045BBBCA8}">
      <dsp:nvSpPr>
        <dsp:cNvPr id="0" name=""/>
        <dsp:cNvSpPr/>
      </dsp:nvSpPr>
      <dsp:spPr>
        <a:xfrm>
          <a:off x="0" y="543917"/>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4D24EE-A9A4-094C-AD26-CE82B6C85407}">
      <dsp:nvSpPr>
        <dsp:cNvPr id="0" name=""/>
        <dsp:cNvSpPr/>
      </dsp:nvSpPr>
      <dsp:spPr>
        <a:xfrm>
          <a:off x="0" y="543917"/>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Purpose</a:t>
          </a:r>
        </a:p>
      </dsp:txBody>
      <dsp:txXfrm>
        <a:off x="0" y="543917"/>
        <a:ext cx="10515600" cy="543917"/>
      </dsp:txXfrm>
    </dsp:sp>
    <dsp:sp modelId="{970A842D-97CF-C749-AA67-23AA39616E9C}">
      <dsp:nvSpPr>
        <dsp:cNvPr id="0" name=""/>
        <dsp:cNvSpPr/>
      </dsp:nvSpPr>
      <dsp:spPr>
        <a:xfrm>
          <a:off x="0" y="108783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D407E5-AF79-DE46-811C-6DA49D98D100}">
      <dsp:nvSpPr>
        <dsp:cNvPr id="0" name=""/>
        <dsp:cNvSpPr/>
      </dsp:nvSpPr>
      <dsp:spPr>
        <a:xfrm>
          <a:off x="0" y="1087834"/>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Existing Research</a:t>
          </a:r>
        </a:p>
      </dsp:txBody>
      <dsp:txXfrm>
        <a:off x="0" y="1087834"/>
        <a:ext cx="10515600" cy="543917"/>
      </dsp:txXfrm>
    </dsp:sp>
    <dsp:sp modelId="{2043E895-6B9F-3644-A8C9-58EA85D7CE25}">
      <dsp:nvSpPr>
        <dsp:cNvPr id="0" name=""/>
        <dsp:cNvSpPr/>
      </dsp:nvSpPr>
      <dsp:spPr>
        <a:xfrm>
          <a:off x="0" y="163175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8475C0-5B74-A94A-B147-8309FEDDF3A4}">
      <dsp:nvSpPr>
        <dsp:cNvPr id="0" name=""/>
        <dsp:cNvSpPr/>
      </dsp:nvSpPr>
      <dsp:spPr>
        <a:xfrm>
          <a:off x="0" y="1631751"/>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Methodology</a:t>
          </a:r>
        </a:p>
      </dsp:txBody>
      <dsp:txXfrm>
        <a:off x="0" y="1631751"/>
        <a:ext cx="10515600" cy="543917"/>
      </dsp:txXfrm>
    </dsp:sp>
    <dsp:sp modelId="{D6AA1FFC-A4C3-2E45-A0FA-959B2B0B452B}">
      <dsp:nvSpPr>
        <dsp:cNvPr id="0" name=""/>
        <dsp:cNvSpPr/>
      </dsp:nvSpPr>
      <dsp:spPr>
        <a:xfrm>
          <a:off x="0" y="217566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6004EC-0652-764B-8410-23E7E5C670C3}">
      <dsp:nvSpPr>
        <dsp:cNvPr id="0" name=""/>
        <dsp:cNvSpPr/>
      </dsp:nvSpPr>
      <dsp:spPr>
        <a:xfrm>
          <a:off x="0" y="2175669"/>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Model Development</a:t>
          </a:r>
        </a:p>
      </dsp:txBody>
      <dsp:txXfrm>
        <a:off x="0" y="2175669"/>
        <a:ext cx="10515600" cy="543917"/>
      </dsp:txXfrm>
    </dsp:sp>
    <dsp:sp modelId="{DE5CDA7D-2925-F047-9920-0A0F40DAE95A}">
      <dsp:nvSpPr>
        <dsp:cNvPr id="0" name=""/>
        <dsp:cNvSpPr/>
      </dsp:nvSpPr>
      <dsp:spPr>
        <a:xfrm>
          <a:off x="0" y="271958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06F70A-7B02-5F47-8F54-44616D8D82DE}">
      <dsp:nvSpPr>
        <dsp:cNvPr id="0" name=""/>
        <dsp:cNvSpPr/>
      </dsp:nvSpPr>
      <dsp:spPr>
        <a:xfrm>
          <a:off x="0" y="2719586"/>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Model Execution &amp; Evaluation</a:t>
          </a:r>
        </a:p>
      </dsp:txBody>
      <dsp:txXfrm>
        <a:off x="0" y="2719586"/>
        <a:ext cx="10515600" cy="543917"/>
      </dsp:txXfrm>
    </dsp:sp>
    <dsp:sp modelId="{03A1B0CB-43C5-034D-9DB9-183D6D3A1603}">
      <dsp:nvSpPr>
        <dsp:cNvPr id="0" name=""/>
        <dsp:cNvSpPr/>
      </dsp:nvSpPr>
      <dsp:spPr>
        <a:xfrm>
          <a:off x="0" y="326350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82FCB3-ABA3-BB48-BC34-3D68B7213E81}">
      <dsp:nvSpPr>
        <dsp:cNvPr id="0" name=""/>
        <dsp:cNvSpPr/>
      </dsp:nvSpPr>
      <dsp:spPr>
        <a:xfrm>
          <a:off x="0" y="3263503"/>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Analysis &amp; Discussion</a:t>
          </a:r>
        </a:p>
      </dsp:txBody>
      <dsp:txXfrm>
        <a:off x="0" y="3263503"/>
        <a:ext cx="10515600" cy="543917"/>
      </dsp:txXfrm>
    </dsp:sp>
    <dsp:sp modelId="{82B6102D-C401-FB40-A90F-AFF18B0583FA}">
      <dsp:nvSpPr>
        <dsp:cNvPr id="0" name=""/>
        <dsp:cNvSpPr/>
      </dsp:nvSpPr>
      <dsp:spPr>
        <a:xfrm>
          <a:off x="0" y="380742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73630D-BFE1-8549-837A-55960FDB1A30}">
      <dsp:nvSpPr>
        <dsp:cNvPr id="0" name=""/>
        <dsp:cNvSpPr/>
      </dsp:nvSpPr>
      <dsp:spPr>
        <a:xfrm>
          <a:off x="0" y="3807420"/>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Recommendations &amp; Conclusion</a:t>
          </a:r>
        </a:p>
      </dsp:txBody>
      <dsp:txXfrm>
        <a:off x="0" y="3807420"/>
        <a:ext cx="10515600" cy="54391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DFBF8D-8671-5143-9DEE-EFAAD585ED04}" type="datetimeFigureOut">
              <a:rPr lang="en-US" smtClean="0"/>
              <a:t>10/12/26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3A0739-8DCB-E542-BB22-1F4E0C2FF57D}" type="slidenum">
              <a:rPr lang="en-US" smtClean="0"/>
              <a:t>‹#›</a:t>
            </a:fld>
            <a:endParaRPr lang="en-US"/>
          </a:p>
        </p:txBody>
      </p:sp>
    </p:spTree>
    <p:extLst>
      <p:ext uri="{BB962C8B-B14F-4D97-AF65-F5344CB8AC3E}">
        <p14:creationId xmlns:p14="http://schemas.microsoft.com/office/powerpoint/2010/main" val="779119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3A0739-8DCB-E542-BB22-1F4E0C2FF57D}" type="slidenum">
              <a:rPr lang="en-US" smtClean="0"/>
              <a:t>2</a:t>
            </a:fld>
            <a:endParaRPr lang="en-US"/>
          </a:p>
        </p:txBody>
      </p:sp>
    </p:spTree>
    <p:extLst>
      <p:ext uri="{BB962C8B-B14F-4D97-AF65-F5344CB8AC3E}">
        <p14:creationId xmlns:p14="http://schemas.microsoft.com/office/powerpoint/2010/main" val="4203784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Airport passenger arrivals and behaviors are inherently stochastic, varying significantly by time of day, flight schedules, and external factors (Cheng, Zhang, &amp; Guo, 2012; Dönmez, </a:t>
            </a:r>
            <a:r>
              <a:rPr lang="en-US" sz="1200" kern="1200" dirty="0" err="1">
                <a:solidFill>
                  <a:schemeClr val="tx1"/>
                </a:solidFill>
                <a:effectLst/>
                <a:latin typeface="+mn-lt"/>
                <a:ea typeface="+mn-ea"/>
                <a:cs typeface="+mn-cs"/>
              </a:rPr>
              <a:t>Tükenmez</a:t>
            </a:r>
            <a:r>
              <a:rPr lang="en-US" sz="1200" kern="1200" dirty="0">
                <a:solidFill>
                  <a:schemeClr val="tx1"/>
                </a:solidFill>
                <a:effectLst/>
                <a:latin typeface="+mn-lt"/>
                <a:ea typeface="+mn-ea"/>
                <a:cs typeface="+mn-cs"/>
              </a:rPr>
              <a:t>, &amp; </a:t>
            </a:r>
            <a:r>
              <a:rPr lang="en-US" sz="1200" kern="1200" dirty="0" err="1">
                <a:solidFill>
                  <a:schemeClr val="tx1"/>
                </a:solidFill>
                <a:effectLst/>
                <a:latin typeface="+mn-lt"/>
                <a:ea typeface="+mn-ea"/>
                <a:cs typeface="+mn-cs"/>
              </a:rPr>
              <a:t>Cecen</a:t>
            </a:r>
            <a:r>
              <a:rPr lang="en-US" sz="1200" kern="1200" dirty="0">
                <a:solidFill>
                  <a:schemeClr val="tx1"/>
                </a:solidFill>
                <a:effectLst/>
                <a:latin typeface="+mn-lt"/>
                <a:ea typeface="+mn-ea"/>
                <a:cs typeface="+mn-cs"/>
              </a:rPr>
              <a:t>, 2025). Existing models for managing airport passenger flow tend to rely on static or pre‑pandemic assumptions, often failing to account for unpredictable post‑pandemic travel patterns (Ebert, Dutta, </a:t>
            </a:r>
            <a:r>
              <a:rPr lang="en-US" sz="1200" kern="1200" dirty="0" err="1">
                <a:solidFill>
                  <a:schemeClr val="tx1"/>
                </a:solidFill>
                <a:effectLst/>
                <a:latin typeface="+mn-lt"/>
                <a:ea typeface="+mn-ea"/>
                <a:cs typeface="+mn-cs"/>
              </a:rPr>
              <a:t>Mengersen</a:t>
            </a:r>
            <a:r>
              <a:rPr lang="en-US" sz="1200" kern="1200" dirty="0">
                <a:solidFill>
                  <a:schemeClr val="tx1"/>
                </a:solidFill>
                <a:effectLst/>
                <a:latin typeface="+mn-lt"/>
                <a:ea typeface="+mn-ea"/>
                <a:cs typeface="+mn-cs"/>
              </a:rPr>
              <a:t>, Mira, Ruggeri, &amp; Wu, 2021; Hopfe, Lee &amp; Yu, 2024). This mismatch between capacity planning and fluctuating passenger demand contributes to bottlenecks at check‑in counters, TSA checkpoints, and boarding gates, leading to congestion and inefficient resource allocation. The pandemic demonstrated that static historical baselines are insufficient for modern operations; without an adaptable and dynamic evaluation methodology, airports risk deploying tools that fail to absorb day-to-day demand fluctuations, respond to sudden operational shocks, or account for unique airport characteristics.</a:t>
            </a:r>
          </a:p>
          <a:p>
            <a:endParaRPr lang="en-US" dirty="0"/>
          </a:p>
        </p:txBody>
      </p:sp>
      <p:sp>
        <p:nvSpPr>
          <p:cNvPr id="4" name="Slide Number Placeholder 3"/>
          <p:cNvSpPr>
            <a:spLocks noGrp="1"/>
          </p:cNvSpPr>
          <p:nvPr>
            <p:ph type="sldNum" sz="quarter" idx="5"/>
          </p:nvPr>
        </p:nvSpPr>
        <p:spPr/>
        <p:txBody>
          <a:bodyPr/>
          <a:lstStyle/>
          <a:p>
            <a:fld id="{023A0739-8DCB-E542-BB22-1F4E0C2FF57D}" type="slidenum">
              <a:rPr lang="en-US" smtClean="0"/>
              <a:t>3</a:t>
            </a:fld>
            <a:endParaRPr lang="en-US"/>
          </a:p>
        </p:txBody>
      </p:sp>
    </p:spTree>
    <p:extLst>
      <p:ext uri="{BB962C8B-B14F-4D97-AF65-F5344CB8AC3E}">
        <p14:creationId xmlns:p14="http://schemas.microsoft.com/office/powerpoint/2010/main" val="3127531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primary objective is to evaluate predictive modeling techniques, such as regression, machine learning, and queuing simulation, to optimize airport capacity via technological rather than physical, more costly interventions. By analyzing the relationship between flight operations and TSA throughput, this study evaluates various predictive modeling frameworks against the primary criteria of robustness, resilience, and generalizability. Rather than seeking a singular, universally optimal model, this research aims to identify which frameworks perform best under each distinct metric.</a:t>
            </a:r>
          </a:p>
          <a:p>
            <a:endParaRPr lang="en-US" dirty="0"/>
          </a:p>
        </p:txBody>
      </p:sp>
      <p:sp>
        <p:nvSpPr>
          <p:cNvPr id="4" name="Slide Number Placeholder 3"/>
          <p:cNvSpPr>
            <a:spLocks noGrp="1"/>
          </p:cNvSpPr>
          <p:nvPr>
            <p:ph type="sldNum" sz="quarter" idx="5"/>
          </p:nvPr>
        </p:nvSpPr>
        <p:spPr/>
        <p:txBody>
          <a:bodyPr/>
          <a:lstStyle/>
          <a:p>
            <a:fld id="{023A0739-8DCB-E542-BB22-1F4E0C2FF57D}" type="slidenum">
              <a:rPr lang="en-US" smtClean="0"/>
              <a:t>4</a:t>
            </a:fld>
            <a:endParaRPr lang="en-US"/>
          </a:p>
        </p:txBody>
      </p:sp>
    </p:spTree>
    <p:extLst>
      <p:ext uri="{BB962C8B-B14F-4D97-AF65-F5344CB8AC3E}">
        <p14:creationId xmlns:p14="http://schemas.microsoft.com/office/powerpoint/2010/main" val="3162457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Asymmetric Trade-Off </a:t>
                </a:r>
                <a14:m>
                  <m:oMath xmlns:m="http://schemas.openxmlformats.org/officeDocument/2006/math">
                    <m:sSub>
                      <m:sSubPr>
                        <m:ctrlPr>
                          <a:rPr lang="en-US" sz="1200" i="1" kern="1200">
                            <a:solidFill>
                              <a:schemeClr val="tx1"/>
                            </a:solidFill>
                            <a:effectLst/>
                            <a:latin typeface="+mn-lt"/>
                            <a:ea typeface="+mn-ea"/>
                            <a:cs typeface="+mn-cs"/>
                          </a:rPr>
                        </m:ctrlPr>
                      </m:sSubPr>
                      <m:e>
                        <m:r>
                          <a:rPr lang="en-US" sz="1200" i="1" kern="1200">
                            <a:solidFill>
                              <a:schemeClr val="tx1"/>
                            </a:solidFill>
                            <a:effectLst/>
                            <a:latin typeface="+mn-lt"/>
                            <a:ea typeface="+mn-ea"/>
                            <a:cs typeface="+mn-cs"/>
                          </a:rPr>
                          <m:t>𝐻</m:t>
                        </m:r>
                      </m:e>
                      <m:sub>
                        <m:r>
                          <a:rPr lang="en-US" sz="1200" i="1" kern="1200">
                            <a:solidFill>
                              <a:schemeClr val="tx1"/>
                            </a:solidFill>
                            <a:effectLst/>
                            <a:latin typeface="+mn-lt"/>
                            <a:ea typeface="+mn-ea"/>
                            <a:cs typeface="+mn-cs"/>
                          </a:rPr>
                          <m:t>1</m:t>
                        </m:r>
                      </m:sub>
                    </m:sSub>
                  </m:oMath>
                </a14:m>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Across the candidate modeling paradigms evaluated, no individual approach will prove superior across all three performance measures (robustness, resilience, and generalizability).</a:t>
                </a:r>
              </a:p>
              <a:p>
                <a:pPr lvl="0"/>
                <a14:m>
                  <m:oMath xmlns:m="http://schemas.openxmlformats.org/officeDocument/2006/math">
                    <m:sSub>
                      <m:sSubPr>
                        <m:ctrlPr>
                          <a:rPr lang="en-US" sz="1200" i="1" kern="1200">
                            <a:solidFill>
                              <a:schemeClr val="tx1"/>
                            </a:solidFill>
                            <a:effectLst/>
                            <a:latin typeface="+mn-lt"/>
                            <a:ea typeface="+mn-ea"/>
                            <a:cs typeface="+mn-cs"/>
                          </a:rPr>
                        </m:ctrlPr>
                      </m:sSubPr>
                      <m:e>
                        <m:r>
                          <a:rPr lang="en-US" sz="1200" i="1" kern="1200">
                            <a:solidFill>
                              <a:schemeClr val="tx1"/>
                            </a:solidFill>
                            <a:effectLst/>
                            <a:latin typeface="+mn-lt"/>
                            <a:ea typeface="+mn-ea"/>
                            <a:cs typeface="+mn-cs"/>
                          </a:rPr>
                          <m:t>𝐻</m:t>
                        </m:r>
                      </m:e>
                      <m:sub>
                        <m:r>
                          <a:rPr lang="en-US" sz="1200" i="1" kern="1200">
                            <a:solidFill>
                              <a:schemeClr val="tx1"/>
                            </a:solidFill>
                            <a:effectLst/>
                            <a:latin typeface="+mn-lt"/>
                            <a:ea typeface="+mn-ea"/>
                            <a:cs typeface="+mn-cs"/>
                          </a:rPr>
                          <m:t>1</m:t>
                        </m:r>
                        <m:r>
                          <a:rPr lang="en-US" sz="1200" i="1" kern="1200">
                            <a:solidFill>
                              <a:schemeClr val="tx1"/>
                            </a:solidFill>
                            <a:effectLst/>
                            <a:latin typeface="+mn-lt"/>
                            <a:ea typeface="+mn-ea"/>
                            <a:cs typeface="+mn-cs"/>
                          </a:rPr>
                          <m:t>𝑎</m:t>
                        </m:r>
                      </m:sub>
                    </m:sSub>
                  </m:oMath>
                </a14:m>
                <a:r>
                  <a:rPr lang="en-US" sz="1200" b="1" kern="1200" dirty="0">
                    <a:solidFill>
                      <a:schemeClr val="tx1"/>
                    </a:solidFill>
                    <a:effectLst/>
                    <a:latin typeface="+mn-lt"/>
                    <a:ea typeface="+mn-ea"/>
                    <a:cs typeface="+mn-cs"/>
                  </a:rPr>
                  <a:t> (Robustness): </a:t>
                </a:r>
                <a:r>
                  <a:rPr lang="en-US" sz="1200" kern="1200" dirty="0">
                    <a:solidFill>
                      <a:schemeClr val="tx1"/>
                    </a:solidFill>
                    <a:effectLst/>
                    <a:latin typeface="+mn-lt"/>
                    <a:ea typeface="+mn-ea"/>
                    <a:cs typeface="+mn-cs"/>
                  </a:rPr>
                  <a:t>Supervised machine learning (Model 2) and two-stage dynamic hybrids (Model 3) will successfully achieve the robustness target under nominal operating conditions, whereas naive persistence (Baseline Control) and deterministic flight schedules (Model 1) will fail this threshold.</a:t>
                </a:r>
              </a:p>
              <a:p>
                <a:pPr lvl="0"/>
                <a14:m>
                  <m:oMath xmlns:m="http://schemas.openxmlformats.org/officeDocument/2006/math">
                    <m:sSub>
                      <m:sSubPr>
                        <m:ctrlPr>
                          <a:rPr lang="en-US" sz="1200" i="1" kern="1200">
                            <a:solidFill>
                              <a:schemeClr val="tx1"/>
                            </a:solidFill>
                            <a:effectLst/>
                            <a:latin typeface="+mn-lt"/>
                            <a:ea typeface="+mn-ea"/>
                            <a:cs typeface="+mn-cs"/>
                          </a:rPr>
                        </m:ctrlPr>
                      </m:sSubPr>
                      <m:e>
                        <m:r>
                          <a:rPr lang="en-US" sz="1200" i="1" kern="1200">
                            <a:solidFill>
                              <a:schemeClr val="tx1"/>
                            </a:solidFill>
                            <a:effectLst/>
                            <a:latin typeface="+mn-lt"/>
                            <a:ea typeface="+mn-ea"/>
                            <a:cs typeface="+mn-cs"/>
                          </a:rPr>
                          <m:t>𝐻</m:t>
                        </m:r>
                      </m:e>
                      <m:sub>
                        <m:r>
                          <a:rPr lang="en-US" sz="1200" i="1" kern="1200">
                            <a:solidFill>
                              <a:schemeClr val="tx1"/>
                            </a:solidFill>
                            <a:effectLst/>
                            <a:latin typeface="+mn-lt"/>
                            <a:ea typeface="+mn-ea"/>
                            <a:cs typeface="+mn-cs"/>
                          </a:rPr>
                          <m:t>1</m:t>
                        </m:r>
                        <m:r>
                          <a:rPr lang="en-US" sz="1200" i="1" kern="1200">
                            <a:solidFill>
                              <a:schemeClr val="tx1"/>
                            </a:solidFill>
                            <a:effectLst/>
                            <a:latin typeface="+mn-lt"/>
                            <a:ea typeface="+mn-ea"/>
                            <a:cs typeface="+mn-cs"/>
                          </a:rPr>
                          <m:t>𝑏</m:t>
                        </m:r>
                      </m:sub>
                    </m:sSub>
                  </m:oMath>
                </a14:m>
                <a:r>
                  <a:rPr lang="en-US" sz="1200" b="1" kern="1200" dirty="0">
                    <a:solidFill>
                      <a:schemeClr val="tx1"/>
                    </a:solidFill>
                    <a:effectLst/>
                    <a:latin typeface="+mn-lt"/>
                    <a:ea typeface="+mn-ea"/>
                    <a:cs typeface="+mn-cs"/>
                  </a:rPr>
                  <a:t> (Resilience)</a:t>
                </a:r>
                <a:r>
                  <a:rPr lang="en-US" sz="1200" kern="1200" dirty="0">
                    <a:solidFill>
                      <a:schemeClr val="tx1"/>
                    </a:solidFill>
                    <a:effectLst/>
                    <a:latin typeface="+mn-lt"/>
                    <a:ea typeface="+mn-ea"/>
                    <a:cs typeface="+mn-cs"/>
                  </a:rPr>
                  <a:t>: The Dynamic Two-Stage Hybrid (Model 3) will be the sole architecture to satisfy the resilience. Static supervised machine learning (Model 2) will experience severe performance degradation, while deterministic baselines (Model 1) will remain blind to downline delay cascades.</a:t>
                </a:r>
              </a:p>
              <a:p>
                <a:pPr lvl="0"/>
                <a14:m>
                  <m:oMath xmlns:m="http://schemas.openxmlformats.org/officeDocument/2006/math">
                    <m:sSub>
                      <m:sSubPr>
                        <m:ctrlPr>
                          <a:rPr lang="en-US" sz="1200" i="1" kern="1200">
                            <a:solidFill>
                              <a:schemeClr val="tx1"/>
                            </a:solidFill>
                            <a:effectLst/>
                            <a:latin typeface="+mn-lt"/>
                            <a:ea typeface="+mn-ea"/>
                            <a:cs typeface="+mn-cs"/>
                          </a:rPr>
                        </m:ctrlPr>
                      </m:sSubPr>
                      <m:e>
                        <m:r>
                          <a:rPr lang="en-US" sz="1200" i="1" kern="1200">
                            <a:solidFill>
                              <a:schemeClr val="tx1"/>
                            </a:solidFill>
                            <a:effectLst/>
                            <a:latin typeface="+mn-lt"/>
                            <a:ea typeface="+mn-ea"/>
                            <a:cs typeface="+mn-cs"/>
                          </a:rPr>
                          <m:t>𝐻</m:t>
                        </m:r>
                      </m:e>
                      <m:sub>
                        <m:r>
                          <a:rPr lang="en-US" sz="1200" i="1" kern="1200">
                            <a:solidFill>
                              <a:schemeClr val="tx1"/>
                            </a:solidFill>
                            <a:effectLst/>
                            <a:latin typeface="+mn-lt"/>
                            <a:ea typeface="+mn-ea"/>
                            <a:cs typeface="+mn-cs"/>
                          </a:rPr>
                          <m:t>1</m:t>
                        </m:r>
                        <m:r>
                          <a:rPr lang="en-US" sz="1200" i="1" kern="1200">
                            <a:solidFill>
                              <a:schemeClr val="tx1"/>
                            </a:solidFill>
                            <a:effectLst/>
                            <a:latin typeface="+mn-lt"/>
                            <a:ea typeface="+mn-ea"/>
                            <a:cs typeface="+mn-cs"/>
                          </a:rPr>
                          <m:t>𝑐</m:t>
                        </m:r>
                      </m:sub>
                    </m:sSub>
                  </m:oMath>
                </a14:m>
                <a:r>
                  <a:rPr lang="en-US" sz="1200" b="1" kern="1200" dirty="0">
                    <a:solidFill>
                      <a:schemeClr val="tx1"/>
                    </a:solidFill>
                    <a:effectLst/>
                    <a:latin typeface="+mn-lt"/>
                    <a:ea typeface="+mn-ea"/>
                    <a:cs typeface="+mn-cs"/>
                  </a:rPr>
                  <a:t> (Generalizability)</a:t>
                </a:r>
                <a:r>
                  <a:rPr lang="en-US" sz="1200" kern="1200" dirty="0">
                    <a:solidFill>
                      <a:schemeClr val="tx1"/>
                    </a:solidFill>
                    <a:effectLst/>
                    <a:latin typeface="+mn-lt"/>
                    <a:ea typeface="+mn-ea"/>
                    <a:cs typeface="+mn-cs"/>
                  </a:rPr>
                  <a:t>: The Deterministic Flight Schedule Model (Model 1) will satisfy the generalizability target without local. Conversely, the Dynamic Hybrid (Model 3) will fail the generalizability target.</a:t>
                </a:r>
              </a:p>
              <a:p>
                <a:endParaRPr lang="en-US" dirty="0"/>
              </a:p>
            </p:txBody>
          </p:sp>
        </mc:Choice>
        <mc:Fallback>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Asymmetric Trade-Off </a:t>
                </a:r>
                <a:r>
                  <a:rPr lang="en-US" sz="1200" i="0" kern="1200">
                    <a:solidFill>
                      <a:schemeClr val="tx1"/>
                    </a:solidFill>
                    <a:effectLst/>
                    <a:latin typeface="+mn-lt"/>
                    <a:ea typeface="+mn-ea"/>
                    <a:cs typeface="+mn-cs"/>
                  </a:rPr>
                  <a:t>𝐻_1</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Across the candidate modeling paradigms evaluated, no individual approach will prove superior across all three performance measures (robustness, resilience, and generalizability).</a:t>
                </a:r>
              </a:p>
              <a:p>
                <a:pPr lvl="0"/>
                <a:r>
                  <a:rPr lang="en-US" sz="1200" i="0" kern="1200">
                    <a:solidFill>
                      <a:schemeClr val="tx1"/>
                    </a:solidFill>
                    <a:effectLst/>
                    <a:latin typeface="+mn-lt"/>
                    <a:ea typeface="+mn-ea"/>
                    <a:cs typeface="+mn-cs"/>
                  </a:rPr>
                  <a:t>𝐻_1𝑎</a:t>
                </a:r>
                <a:r>
                  <a:rPr lang="en-US" sz="1200" b="1" kern="1200" dirty="0">
                    <a:solidFill>
                      <a:schemeClr val="tx1"/>
                    </a:solidFill>
                    <a:effectLst/>
                    <a:latin typeface="+mn-lt"/>
                    <a:ea typeface="+mn-ea"/>
                    <a:cs typeface="+mn-cs"/>
                  </a:rPr>
                  <a:t> (Robustness): </a:t>
                </a:r>
                <a:r>
                  <a:rPr lang="en-US" sz="1200" kern="1200" dirty="0">
                    <a:solidFill>
                      <a:schemeClr val="tx1"/>
                    </a:solidFill>
                    <a:effectLst/>
                    <a:latin typeface="+mn-lt"/>
                    <a:ea typeface="+mn-ea"/>
                    <a:cs typeface="+mn-cs"/>
                  </a:rPr>
                  <a:t>Supervised machine learning (Model 2) and two-stage dynamic hybrids (Model 3) will successfully achieve the robustness target under nominal operating conditions, whereas naive persistence (Baseline Control) and deterministic flight schedules (Model 1) will fail this threshold.</a:t>
                </a:r>
              </a:p>
              <a:p>
                <a:pPr lvl="0"/>
                <a:r>
                  <a:rPr lang="en-US" sz="1200" i="0" kern="1200">
                    <a:solidFill>
                      <a:schemeClr val="tx1"/>
                    </a:solidFill>
                    <a:effectLst/>
                    <a:latin typeface="+mn-lt"/>
                    <a:ea typeface="+mn-ea"/>
                    <a:cs typeface="+mn-cs"/>
                  </a:rPr>
                  <a:t>𝐻_1𝑏</a:t>
                </a:r>
                <a:r>
                  <a:rPr lang="en-US" sz="1200" b="1" kern="1200" dirty="0">
                    <a:solidFill>
                      <a:schemeClr val="tx1"/>
                    </a:solidFill>
                    <a:effectLst/>
                    <a:latin typeface="+mn-lt"/>
                    <a:ea typeface="+mn-ea"/>
                    <a:cs typeface="+mn-cs"/>
                  </a:rPr>
                  <a:t> (Resilience)</a:t>
                </a:r>
                <a:r>
                  <a:rPr lang="en-US" sz="1200" kern="1200" dirty="0">
                    <a:solidFill>
                      <a:schemeClr val="tx1"/>
                    </a:solidFill>
                    <a:effectLst/>
                    <a:latin typeface="+mn-lt"/>
                    <a:ea typeface="+mn-ea"/>
                    <a:cs typeface="+mn-cs"/>
                  </a:rPr>
                  <a:t>: The Dynamic Two-Stage Hybrid (Model 3) will be the sole architecture to satisfy the resilience. Static supervised machine learning (Model 2) will experience severe performance degradation, while deterministic baselines (Model 1) will remain blind to downline delay cascades.</a:t>
                </a:r>
              </a:p>
              <a:p>
                <a:pPr lvl="0"/>
                <a:r>
                  <a:rPr lang="en-US" sz="1200" i="0" kern="1200">
                    <a:solidFill>
                      <a:schemeClr val="tx1"/>
                    </a:solidFill>
                    <a:effectLst/>
                    <a:latin typeface="+mn-lt"/>
                    <a:ea typeface="+mn-ea"/>
                    <a:cs typeface="+mn-cs"/>
                  </a:rPr>
                  <a:t>𝐻_1𝑐</a:t>
                </a:r>
                <a:r>
                  <a:rPr lang="en-US" sz="1200" b="1" kern="1200" dirty="0">
                    <a:solidFill>
                      <a:schemeClr val="tx1"/>
                    </a:solidFill>
                    <a:effectLst/>
                    <a:latin typeface="+mn-lt"/>
                    <a:ea typeface="+mn-ea"/>
                    <a:cs typeface="+mn-cs"/>
                  </a:rPr>
                  <a:t> (Generalizability)</a:t>
                </a:r>
                <a:r>
                  <a:rPr lang="en-US" sz="1200" kern="1200" dirty="0">
                    <a:solidFill>
                      <a:schemeClr val="tx1"/>
                    </a:solidFill>
                    <a:effectLst/>
                    <a:latin typeface="+mn-lt"/>
                    <a:ea typeface="+mn-ea"/>
                    <a:cs typeface="+mn-cs"/>
                  </a:rPr>
                  <a:t>: The Deterministic Flight Schedule Model (Model 1) will satisfy the generalizability target without local. Conversely, the Dynamic Hybrid (Model 3) will fail the generalizability target.</a:t>
                </a:r>
              </a:p>
              <a:p>
                <a:endParaRPr lang="en-US" dirty="0"/>
              </a:p>
            </p:txBody>
          </p:sp>
        </mc:Fallback>
      </mc:AlternateContent>
      <p:sp>
        <p:nvSpPr>
          <p:cNvPr id="4" name="Slide Number Placeholder 3"/>
          <p:cNvSpPr>
            <a:spLocks noGrp="1"/>
          </p:cNvSpPr>
          <p:nvPr>
            <p:ph type="sldNum" sz="quarter" idx="5"/>
          </p:nvPr>
        </p:nvSpPr>
        <p:spPr/>
        <p:txBody>
          <a:bodyPr/>
          <a:lstStyle/>
          <a:p>
            <a:fld id="{023A0739-8DCB-E542-BB22-1F4E0C2FF57D}" type="slidenum">
              <a:rPr lang="en-US" smtClean="0"/>
              <a:t>6</a:t>
            </a:fld>
            <a:endParaRPr lang="en-US"/>
          </a:p>
        </p:txBody>
      </p:sp>
    </p:spTree>
    <p:extLst>
      <p:ext uri="{BB962C8B-B14F-4D97-AF65-F5344CB8AC3E}">
        <p14:creationId xmlns:p14="http://schemas.microsoft.com/office/powerpoint/2010/main" val="318970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they mean general, what they mean in this context, and the mathematics</a:t>
            </a:r>
          </a:p>
        </p:txBody>
      </p:sp>
      <p:sp>
        <p:nvSpPr>
          <p:cNvPr id="4" name="Slide Number Placeholder 3"/>
          <p:cNvSpPr>
            <a:spLocks noGrp="1"/>
          </p:cNvSpPr>
          <p:nvPr>
            <p:ph type="sldNum" sz="quarter" idx="5"/>
          </p:nvPr>
        </p:nvSpPr>
        <p:spPr/>
        <p:txBody>
          <a:bodyPr/>
          <a:lstStyle/>
          <a:p>
            <a:fld id="{023A0739-8DCB-E542-BB22-1F4E0C2FF57D}" type="slidenum">
              <a:rPr lang="en-US" smtClean="0"/>
              <a:t>7</a:t>
            </a:fld>
            <a:endParaRPr lang="en-US"/>
          </a:p>
        </p:txBody>
      </p:sp>
    </p:spTree>
    <p:extLst>
      <p:ext uri="{BB962C8B-B14F-4D97-AF65-F5344CB8AC3E}">
        <p14:creationId xmlns:p14="http://schemas.microsoft.com/office/powerpoint/2010/main" val="475661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evaluate the predictive accuracy, operational viability, and behavioral dynamics of the candidate modeling frameworks, each architecture was evaluated against the quarantined 2025 full-year out-of-time holdout dataset. Spanning 3,222 complex-days and 72,053 hourly screening observations across the nine-airport cohort, this prospective evaluation protocol strictly tests forecasting performance under unobserved operating conditions. Predictive performance was benchmarked against the empirical daily persistence control across established error metrics, including the Coefficient of Determination (R²), Root Mean Squared Error (RMSE), Mean Absolute Error (MAE), Mean Absolute Scaled Error (MASE), and systematic forecast bias. Table 4.6 synthesizes the master benchmark evaluation matrix across all four paradigms, establishing the foundational empirical fit of each predictive framework prior to multi-pillar hypothesis testing.</a:t>
            </a:r>
            <a:r>
              <a:rPr lang="en-US" dirty="0">
                <a:effectLst/>
              </a:rPr>
              <a:t> </a:t>
            </a:r>
          </a:p>
          <a:p>
            <a:endParaRPr lang="en-US" dirty="0"/>
          </a:p>
        </p:txBody>
      </p:sp>
      <p:sp>
        <p:nvSpPr>
          <p:cNvPr id="4" name="Slide Number Placeholder 3"/>
          <p:cNvSpPr>
            <a:spLocks noGrp="1"/>
          </p:cNvSpPr>
          <p:nvPr>
            <p:ph type="sldNum" sz="quarter" idx="5"/>
          </p:nvPr>
        </p:nvSpPr>
        <p:spPr/>
        <p:txBody>
          <a:bodyPr/>
          <a:lstStyle/>
          <a:p>
            <a:fld id="{023A0739-8DCB-E542-BB22-1F4E0C2FF57D}" type="slidenum">
              <a:rPr lang="en-US" smtClean="0"/>
              <a:t>27</a:t>
            </a:fld>
            <a:endParaRPr lang="en-US"/>
          </a:p>
        </p:txBody>
      </p:sp>
    </p:spTree>
    <p:extLst>
      <p:ext uri="{BB962C8B-B14F-4D97-AF65-F5344CB8AC3E}">
        <p14:creationId xmlns:p14="http://schemas.microsoft.com/office/powerpoint/2010/main" val="3554665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6098-D05B-0685-5597-953860897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883B32-884E-0588-C2B1-34919B83E6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DA4BC6-AD53-0998-4FA9-D517A646C206}"/>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The out-of-time holdout evaluations confirm the thesis hypothesis: no single predictive modeling paradigm is universally superior across all operational regimes. Instead, airport security demand forecasting is governed by fundamental asymmetric trade-offs across robustness, resilience, and generalizability:</a:t>
            </a:r>
          </a:p>
          <a:p>
            <a:r>
              <a:rPr lang="en-US" sz="1200" b="1" kern="1200" dirty="0">
                <a:solidFill>
                  <a:schemeClr val="tx1"/>
                </a:solidFill>
                <a:effectLst/>
                <a:latin typeface="+mn-lt"/>
                <a:ea typeface="+mn-ea"/>
                <a:cs typeface="+mn-cs"/>
              </a:rPr>
              <a:t>Dimension 1: Robustness (Nominal &amp; Routine Conditions).</a:t>
            </a:r>
            <a:r>
              <a:rPr lang="en-US" sz="1200" kern="1200" dirty="0">
                <a:solidFill>
                  <a:schemeClr val="tx1"/>
                </a:solidFill>
                <a:effectLst/>
                <a:latin typeface="+mn-lt"/>
                <a:ea typeface="+mn-ea"/>
                <a:cs typeface="+mn-cs"/>
              </a:rPr>
              <a:t> Both the Machine Learning model (Model 2, MASE = 0.680) and Dynamic Hybrid (Model 3, MASE = 0.662) achieve the academic target of MASE &lt; 0.700 under routine operations. Under routine operating conditions, when flights operate on schedule, both models track the natural morning and afternoon passenger waves with high precision. However, Model 2 achieves this with near-zero computational overhead and requires no real-time checkpoint data feeds, allowing airport managers to generate staffing schedules days in advance rather than waiting on live hourly sensor updates.</a:t>
            </a:r>
          </a:p>
          <a:p>
            <a:r>
              <a:rPr lang="en-US" sz="1200" kern="1200" dirty="0">
                <a:solidFill>
                  <a:schemeClr val="tx1"/>
                </a:solidFill>
                <a:effectLst/>
                <a:latin typeface="+mn-lt"/>
                <a:ea typeface="+mn-ea"/>
                <a:cs typeface="+mn-cs"/>
              </a:rPr>
              <a:t>Dimension 2: Resilience (Severe Disruption). The Dynamic Hybrid Framework (Model 3) is the decisive champion of Resilience. During severe weather disruptions, flights are frequently delayed or held on the ground. A pure machine learning model suffers from the "Empty Checkpoint Fallacy"—it assumes that because flights are delayed, security lines must be empty, resulting in massive under-prediction (bias shift of -112.4 pax/</a:t>
            </a:r>
            <a:r>
              <a:rPr lang="en-US" sz="1200" kern="1200" dirty="0" err="1">
                <a:solidFill>
                  <a:schemeClr val="tx1"/>
                </a:solidFill>
                <a:effectLst/>
                <a:latin typeface="+mn-lt"/>
                <a:ea typeface="+mn-ea"/>
                <a:cs typeface="+mn-cs"/>
              </a:rPr>
              <a:t>hr</a:t>
            </a:r>
            <a:r>
              <a:rPr lang="en-US" sz="1200" kern="1200" dirty="0">
                <a:solidFill>
                  <a:schemeClr val="tx1"/>
                </a:solidFill>
                <a:effectLst/>
                <a:latin typeface="+mn-lt"/>
                <a:ea typeface="+mn-ea"/>
                <a:cs typeface="+mn-cs"/>
              </a:rPr>
              <a:t>). In reality, thousands of stranded travelers remain in the terminal lobby. Because Model 3 incorporates live recursive error feedback (α = 0.35), it immediately senses accumulated travelers, cutting disruption error to 284.5 pax/</a:t>
            </a:r>
            <a:r>
              <a:rPr lang="en-US" sz="1200" kern="1200" dirty="0" err="1">
                <a:solidFill>
                  <a:schemeClr val="tx1"/>
                </a:solidFill>
                <a:effectLst/>
                <a:latin typeface="+mn-lt"/>
                <a:ea typeface="+mn-ea"/>
                <a:cs typeface="+mn-cs"/>
              </a:rPr>
              <a:t>hr</a:t>
            </a:r>
            <a:r>
              <a:rPr lang="en-US" sz="1200" kern="1200" dirty="0">
                <a:solidFill>
                  <a:schemeClr val="tx1"/>
                </a:solidFill>
                <a:effectLst/>
                <a:latin typeface="+mn-lt"/>
                <a:ea typeface="+mn-ea"/>
                <a:cs typeface="+mn-cs"/>
              </a:rPr>
              <a:t> (a 39% reduction over Model 2), capping bias shift at -14.8 pax/</a:t>
            </a:r>
            <a:r>
              <a:rPr lang="en-US" sz="1200" kern="1200" dirty="0" err="1">
                <a:solidFill>
                  <a:schemeClr val="tx1"/>
                </a:solidFill>
                <a:effectLst/>
                <a:latin typeface="+mn-lt"/>
                <a:ea typeface="+mn-ea"/>
                <a:cs typeface="+mn-cs"/>
              </a:rPr>
              <a:t>hr</a:t>
            </a:r>
            <a:r>
              <a:rPr lang="en-US" sz="1200" kern="1200" dirty="0">
                <a:solidFill>
                  <a:schemeClr val="tx1"/>
                </a:solidFill>
                <a:effectLst/>
                <a:latin typeface="+mn-lt"/>
                <a:ea typeface="+mn-ea"/>
                <a:cs typeface="+mn-cs"/>
              </a:rPr>
              <a:t>, and returning to normal error levels in just 2.8 hours.</a:t>
            </a:r>
          </a:p>
          <a:p>
            <a:r>
              <a:rPr lang="en-US" sz="1200" b="1" kern="1200" dirty="0">
                <a:solidFill>
                  <a:schemeClr val="tx1"/>
                </a:solidFill>
                <a:effectLst/>
                <a:latin typeface="+mn-lt"/>
                <a:ea typeface="+mn-ea"/>
                <a:cs typeface="+mn-cs"/>
              </a:rPr>
              <a:t>Dimension 3: Generalizability (Zero-Shot Portability).</a:t>
            </a:r>
            <a:r>
              <a:rPr lang="en-US" sz="1200" kern="1200" dirty="0">
                <a:solidFill>
                  <a:schemeClr val="tx1"/>
                </a:solidFill>
                <a:effectLst/>
                <a:latin typeface="+mn-lt"/>
                <a:ea typeface="+mn-ea"/>
                <a:cs typeface="+mn-cs"/>
              </a:rPr>
              <a:t> The Deterministic Flight Schedule Model (Model 1) is the decisive champion of Generalizability. It successfully meets both stated targets: a transfer MASE of 0.867 and an error degradation of only +4.2% (well within the ≤ 10% threshold). Operationally, because passengers consistently arrive at airports 90 to 120 minutes before their scheduled departure regardless of the city, the basic physical relationship between flight schedules and checkpoint demand works everywhere. Conversely, the Hybrid model (Model 3) degrades by +42.3% (MASE = 0.942) because its machine learning components overfit to the specific concourse layouts, gate geometries, and carrier banking structures of the airports on which it was trained.</a:t>
            </a:r>
          </a:p>
          <a:p>
            <a:r>
              <a:rPr lang="en-US" sz="1200" kern="1200" dirty="0">
                <a:solidFill>
                  <a:schemeClr val="tx1"/>
                </a:solidFill>
                <a:effectLst/>
                <a:latin typeface="+mn-lt"/>
                <a:ea typeface="+mn-ea"/>
                <a:cs typeface="+mn-cs"/>
              </a:rPr>
              <a:t>Taken together, these empirical trade-offs validate the primary thesis hypothesis: predictive capability is regime-dependent, meaning no singular architectural paradigm dominates across every operational condition. Rather than pursuing an elusive universal model, security checkpoint forecasting requires operational alignment: the Dynamic Hybrid framework (Model 3) is essential during severe flight disruptions and irregular operations, the Deterministic Schedule baseline (Model 1) transfers most reliably to unmodeled airports without retraining, and the Supervised Machine Learning model (Model 2) remains the most practical, computationally efficient choice for routine advance staffing. Consequently, airport authorities and TSA leadership should adopt an operational triage strategy by dynamically deploying specific forecasting frameworks to match prevailing daily flight conditions rather than relying on a static, single-model approach.</a:t>
            </a:r>
          </a:p>
          <a:p>
            <a:r>
              <a:rPr lang="en-US" sz="1200" kern="1200" dirty="0">
                <a:solidFill>
                  <a:schemeClr val="tx1"/>
                </a:solidFill>
                <a:effectLst/>
                <a:latin typeface="+mn-lt"/>
                <a:ea typeface="+mn-ea"/>
                <a:cs typeface="+mn-cs"/>
              </a:rPr>
              <a:t> </a:t>
            </a:r>
          </a:p>
          <a:p>
            <a:endParaRPr lang="en-US" dirty="0"/>
          </a:p>
        </p:txBody>
      </p:sp>
      <p:sp>
        <p:nvSpPr>
          <p:cNvPr id="4" name="Slide Number Placeholder 3">
            <a:extLst>
              <a:ext uri="{FF2B5EF4-FFF2-40B4-BE49-F238E27FC236}">
                <a16:creationId xmlns:a16="http://schemas.microsoft.com/office/drawing/2014/main" id="{C3B08BC4-E682-871C-6B4E-69F68A29D5A2}"/>
              </a:ext>
            </a:extLst>
          </p:cNvPr>
          <p:cNvSpPr>
            <a:spLocks noGrp="1"/>
          </p:cNvSpPr>
          <p:nvPr>
            <p:ph type="sldNum" sz="quarter" idx="5"/>
          </p:nvPr>
        </p:nvSpPr>
        <p:spPr/>
        <p:txBody>
          <a:bodyPr/>
          <a:lstStyle/>
          <a:p>
            <a:fld id="{023A0739-8DCB-E542-BB22-1F4E0C2FF57D}" type="slidenum">
              <a:rPr lang="en-US" smtClean="0"/>
              <a:t>28</a:t>
            </a:fld>
            <a:endParaRPr lang="en-US"/>
          </a:p>
        </p:txBody>
      </p:sp>
    </p:spTree>
    <p:extLst>
      <p:ext uri="{BB962C8B-B14F-4D97-AF65-F5344CB8AC3E}">
        <p14:creationId xmlns:p14="http://schemas.microsoft.com/office/powerpoint/2010/main" val="2163614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primary purpose of this thesis was to evaluate and optimize predictive modeling frameworks – spanning deterministic flight schedule convolution, supervised machine learning, and dynamic two-stage hybrid architectures – to enhance airport security checkpoint capacity management and throughput volatility forecasting across diverse operational conditions. The empirical findings definitively confirmed the overarching asymmetric trade-off hypothesis (Hypothesis 1) and its constituent sub-hypotheses (Hypothesis 1a, 1b, and 1c), demonstrating that no single paradigm is universally superior across all operational regimes: supervised machine learning maximizes routine baseline accuracy (robustness, confirming Hypothesis 1a), dynamic hybrid feedback provides unmatched resilience during acute flight delays and convective disruption shocks (resilience, confirming Hypothesis 1b), and deterministic schedule baselines deliver superior cross-facility generalizability (generalizability, confirming Hypothesis 1c). Ultimately, these results illustrate that airport authorities and security planners can achieve substantial operational capacity optimization without capital-intensive physical expansions by transitioning from static, monolithic models to a synchronized, condition-responsive regime-switched forecasting architecture.</a:t>
            </a:r>
          </a:p>
          <a:p>
            <a:endParaRPr lang="en-US" dirty="0"/>
          </a:p>
        </p:txBody>
      </p:sp>
      <p:sp>
        <p:nvSpPr>
          <p:cNvPr id="4" name="Slide Number Placeholder 3"/>
          <p:cNvSpPr>
            <a:spLocks noGrp="1"/>
          </p:cNvSpPr>
          <p:nvPr>
            <p:ph type="sldNum" sz="quarter" idx="5"/>
          </p:nvPr>
        </p:nvSpPr>
        <p:spPr/>
        <p:txBody>
          <a:bodyPr/>
          <a:lstStyle/>
          <a:p>
            <a:fld id="{023A0739-8DCB-E542-BB22-1F4E0C2FF57D}" type="slidenum">
              <a:rPr lang="en-US" smtClean="0"/>
              <a:t>32</a:t>
            </a:fld>
            <a:endParaRPr lang="en-US"/>
          </a:p>
        </p:txBody>
      </p:sp>
    </p:spTree>
    <p:extLst>
      <p:ext uri="{BB962C8B-B14F-4D97-AF65-F5344CB8AC3E}">
        <p14:creationId xmlns:p14="http://schemas.microsoft.com/office/powerpoint/2010/main" val="1371086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2F2AC-2B38-647B-8031-F311444B8B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E242B88-2A90-0422-BD59-25E30A24A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B0A13D-6C86-2948-BE12-2777C46E7293}"/>
              </a:ext>
            </a:extLst>
          </p:cNvPr>
          <p:cNvSpPr>
            <a:spLocks noGrp="1"/>
          </p:cNvSpPr>
          <p:nvPr>
            <p:ph type="dt" sz="half" idx="10"/>
          </p:nvPr>
        </p:nvSpPr>
        <p:spPr/>
        <p:txBody>
          <a:bodyPr/>
          <a:lstStyle/>
          <a:p>
            <a:fld id="{DC08930E-3CBA-324B-85CC-2293DF21A711}" type="datetimeFigureOut">
              <a:rPr lang="en-US" smtClean="0"/>
              <a:t>10/12/26</a:t>
            </a:fld>
            <a:endParaRPr lang="en-US"/>
          </a:p>
        </p:txBody>
      </p:sp>
      <p:sp>
        <p:nvSpPr>
          <p:cNvPr id="5" name="Footer Placeholder 4">
            <a:extLst>
              <a:ext uri="{FF2B5EF4-FFF2-40B4-BE49-F238E27FC236}">
                <a16:creationId xmlns:a16="http://schemas.microsoft.com/office/drawing/2014/main" id="{CF98C27D-FB14-DB1D-F02B-EC43F5066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CF259-2161-0DD8-15DA-9327A035F3B1}"/>
              </a:ext>
            </a:extLst>
          </p:cNvPr>
          <p:cNvSpPr>
            <a:spLocks noGrp="1"/>
          </p:cNvSpPr>
          <p:nvPr>
            <p:ph type="sldNum" sz="quarter" idx="12"/>
          </p:nvPr>
        </p:nvSpPr>
        <p:spPr/>
        <p:txBody>
          <a:bodyPr/>
          <a:lstStyle/>
          <a:p>
            <a:fld id="{B416B243-A43C-6F45-A932-9F54D5EE32B5}" type="slidenum">
              <a:rPr lang="en-US" smtClean="0"/>
              <a:t>‹#›</a:t>
            </a:fld>
            <a:endParaRPr lang="en-US"/>
          </a:p>
        </p:txBody>
      </p:sp>
    </p:spTree>
    <p:extLst>
      <p:ext uri="{BB962C8B-B14F-4D97-AF65-F5344CB8AC3E}">
        <p14:creationId xmlns:p14="http://schemas.microsoft.com/office/powerpoint/2010/main" val="2964168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05FFD-55BE-655E-9D9E-0A1ACC58AE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D263D0-6F0E-B3E6-0FBA-4A31D6C210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918653-08E8-CCAE-735C-A1B2E69941D2}"/>
              </a:ext>
            </a:extLst>
          </p:cNvPr>
          <p:cNvSpPr>
            <a:spLocks noGrp="1"/>
          </p:cNvSpPr>
          <p:nvPr>
            <p:ph type="dt" sz="half" idx="10"/>
          </p:nvPr>
        </p:nvSpPr>
        <p:spPr/>
        <p:txBody>
          <a:bodyPr/>
          <a:lstStyle/>
          <a:p>
            <a:fld id="{DC08930E-3CBA-324B-85CC-2293DF21A711}" type="datetimeFigureOut">
              <a:rPr lang="en-US" smtClean="0"/>
              <a:t>10/12/26</a:t>
            </a:fld>
            <a:endParaRPr lang="en-US"/>
          </a:p>
        </p:txBody>
      </p:sp>
      <p:sp>
        <p:nvSpPr>
          <p:cNvPr id="5" name="Footer Placeholder 4">
            <a:extLst>
              <a:ext uri="{FF2B5EF4-FFF2-40B4-BE49-F238E27FC236}">
                <a16:creationId xmlns:a16="http://schemas.microsoft.com/office/drawing/2014/main" id="{3319773F-8BF1-64F6-C163-25E948AF25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28F5FB-E312-0FD7-0D8D-82C9AB0F8FE3}"/>
              </a:ext>
            </a:extLst>
          </p:cNvPr>
          <p:cNvSpPr>
            <a:spLocks noGrp="1"/>
          </p:cNvSpPr>
          <p:nvPr>
            <p:ph type="sldNum" sz="quarter" idx="12"/>
          </p:nvPr>
        </p:nvSpPr>
        <p:spPr/>
        <p:txBody>
          <a:bodyPr/>
          <a:lstStyle/>
          <a:p>
            <a:fld id="{B416B243-A43C-6F45-A932-9F54D5EE32B5}" type="slidenum">
              <a:rPr lang="en-US" smtClean="0"/>
              <a:t>‹#›</a:t>
            </a:fld>
            <a:endParaRPr lang="en-US"/>
          </a:p>
        </p:txBody>
      </p:sp>
    </p:spTree>
    <p:extLst>
      <p:ext uri="{BB962C8B-B14F-4D97-AF65-F5344CB8AC3E}">
        <p14:creationId xmlns:p14="http://schemas.microsoft.com/office/powerpoint/2010/main" val="4244763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765C8-154F-9291-2D28-66913F3B11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108EB8-68D2-2084-86CD-431157C7EA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2EDF06-4D75-BDD0-B1BA-B4074F0EFFD5}"/>
              </a:ext>
            </a:extLst>
          </p:cNvPr>
          <p:cNvSpPr>
            <a:spLocks noGrp="1"/>
          </p:cNvSpPr>
          <p:nvPr>
            <p:ph type="dt" sz="half" idx="10"/>
          </p:nvPr>
        </p:nvSpPr>
        <p:spPr/>
        <p:txBody>
          <a:bodyPr/>
          <a:lstStyle/>
          <a:p>
            <a:fld id="{DC08930E-3CBA-324B-85CC-2293DF21A711}" type="datetimeFigureOut">
              <a:rPr lang="en-US" smtClean="0"/>
              <a:t>10/12/26</a:t>
            </a:fld>
            <a:endParaRPr lang="en-US"/>
          </a:p>
        </p:txBody>
      </p:sp>
      <p:sp>
        <p:nvSpPr>
          <p:cNvPr id="5" name="Footer Placeholder 4">
            <a:extLst>
              <a:ext uri="{FF2B5EF4-FFF2-40B4-BE49-F238E27FC236}">
                <a16:creationId xmlns:a16="http://schemas.microsoft.com/office/drawing/2014/main" id="{0A788B60-387F-BEC8-7DFD-AF706285E5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F83F8B-B123-75D2-5B6A-3D3D4448709C}"/>
              </a:ext>
            </a:extLst>
          </p:cNvPr>
          <p:cNvSpPr>
            <a:spLocks noGrp="1"/>
          </p:cNvSpPr>
          <p:nvPr>
            <p:ph type="sldNum" sz="quarter" idx="12"/>
          </p:nvPr>
        </p:nvSpPr>
        <p:spPr/>
        <p:txBody>
          <a:bodyPr/>
          <a:lstStyle/>
          <a:p>
            <a:fld id="{B416B243-A43C-6F45-A932-9F54D5EE32B5}" type="slidenum">
              <a:rPr lang="en-US" smtClean="0"/>
              <a:t>‹#›</a:t>
            </a:fld>
            <a:endParaRPr lang="en-US"/>
          </a:p>
        </p:txBody>
      </p:sp>
    </p:spTree>
    <p:extLst>
      <p:ext uri="{BB962C8B-B14F-4D97-AF65-F5344CB8AC3E}">
        <p14:creationId xmlns:p14="http://schemas.microsoft.com/office/powerpoint/2010/main" val="1668331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3B0E6-325A-EC11-C3BA-6FC91372E0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6B1D06-0B99-52AF-81E5-AF07A8BFCA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17F85E-8860-5D63-4FD8-44356A2E65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93EEE2-E03A-F5F5-166A-58FC6B6E627F}"/>
              </a:ext>
            </a:extLst>
          </p:cNvPr>
          <p:cNvSpPr>
            <a:spLocks noGrp="1"/>
          </p:cNvSpPr>
          <p:nvPr>
            <p:ph type="dt" sz="half" idx="10"/>
          </p:nvPr>
        </p:nvSpPr>
        <p:spPr/>
        <p:txBody>
          <a:bodyPr/>
          <a:lstStyle/>
          <a:p>
            <a:fld id="{DC08930E-3CBA-324B-85CC-2293DF21A711}" type="datetimeFigureOut">
              <a:rPr lang="en-US" smtClean="0"/>
              <a:t>10/12/26</a:t>
            </a:fld>
            <a:endParaRPr lang="en-US"/>
          </a:p>
        </p:txBody>
      </p:sp>
      <p:sp>
        <p:nvSpPr>
          <p:cNvPr id="6" name="Footer Placeholder 5">
            <a:extLst>
              <a:ext uri="{FF2B5EF4-FFF2-40B4-BE49-F238E27FC236}">
                <a16:creationId xmlns:a16="http://schemas.microsoft.com/office/drawing/2014/main" id="{40F6106E-505F-A0FE-5B61-F549094D9B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7C98EA-6402-E5D7-AD78-F27DC6D6CEAA}"/>
              </a:ext>
            </a:extLst>
          </p:cNvPr>
          <p:cNvSpPr>
            <a:spLocks noGrp="1"/>
          </p:cNvSpPr>
          <p:nvPr>
            <p:ph type="sldNum" sz="quarter" idx="12"/>
          </p:nvPr>
        </p:nvSpPr>
        <p:spPr/>
        <p:txBody>
          <a:bodyPr/>
          <a:lstStyle/>
          <a:p>
            <a:fld id="{B416B243-A43C-6F45-A932-9F54D5EE32B5}" type="slidenum">
              <a:rPr lang="en-US" smtClean="0"/>
              <a:t>‹#›</a:t>
            </a:fld>
            <a:endParaRPr lang="en-US"/>
          </a:p>
        </p:txBody>
      </p:sp>
    </p:spTree>
    <p:extLst>
      <p:ext uri="{BB962C8B-B14F-4D97-AF65-F5344CB8AC3E}">
        <p14:creationId xmlns:p14="http://schemas.microsoft.com/office/powerpoint/2010/main" val="1372437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9789A-4259-8378-8BE0-C019C8B646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B824FF-568A-19BB-BE9D-1DCB083BA2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6EB6BB-DE84-5C5B-5A1E-EBB7546799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6601EF-ED2B-6C88-A010-B99F44F849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79FA68-EAA0-F540-98FF-D83CDEEF01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DC0858-AC37-86F0-9552-2760A2E56ACE}"/>
              </a:ext>
            </a:extLst>
          </p:cNvPr>
          <p:cNvSpPr>
            <a:spLocks noGrp="1"/>
          </p:cNvSpPr>
          <p:nvPr>
            <p:ph type="dt" sz="half" idx="10"/>
          </p:nvPr>
        </p:nvSpPr>
        <p:spPr/>
        <p:txBody>
          <a:bodyPr/>
          <a:lstStyle/>
          <a:p>
            <a:fld id="{DC08930E-3CBA-324B-85CC-2293DF21A711}" type="datetimeFigureOut">
              <a:rPr lang="en-US" smtClean="0"/>
              <a:t>10/12/26</a:t>
            </a:fld>
            <a:endParaRPr lang="en-US"/>
          </a:p>
        </p:txBody>
      </p:sp>
      <p:sp>
        <p:nvSpPr>
          <p:cNvPr id="8" name="Footer Placeholder 7">
            <a:extLst>
              <a:ext uri="{FF2B5EF4-FFF2-40B4-BE49-F238E27FC236}">
                <a16:creationId xmlns:a16="http://schemas.microsoft.com/office/drawing/2014/main" id="{0C671268-7EFC-0591-42BF-F418BE9398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EE6ABC-AB94-791F-B8A2-0E3E1444297F}"/>
              </a:ext>
            </a:extLst>
          </p:cNvPr>
          <p:cNvSpPr>
            <a:spLocks noGrp="1"/>
          </p:cNvSpPr>
          <p:nvPr>
            <p:ph type="sldNum" sz="quarter" idx="12"/>
          </p:nvPr>
        </p:nvSpPr>
        <p:spPr/>
        <p:txBody>
          <a:bodyPr/>
          <a:lstStyle/>
          <a:p>
            <a:fld id="{B416B243-A43C-6F45-A932-9F54D5EE32B5}" type="slidenum">
              <a:rPr lang="en-US" smtClean="0"/>
              <a:t>‹#›</a:t>
            </a:fld>
            <a:endParaRPr lang="en-US"/>
          </a:p>
        </p:txBody>
      </p:sp>
    </p:spTree>
    <p:extLst>
      <p:ext uri="{BB962C8B-B14F-4D97-AF65-F5344CB8AC3E}">
        <p14:creationId xmlns:p14="http://schemas.microsoft.com/office/powerpoint/2010/main" val="303196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37134-2588-C32E-9E73-349848A2D0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98480C-67D0-20C4-1757-4F81730C359C}"/>
              </a:ext>
            </a:extLst>
          </p:cNvPr>
          <p:cNvSpPr>
            <a:spLocks noGrp="1"/>
          </p:cNvSpPr>
          <p:nvPr>
            <p:ph type="dt" sz="half" idx="10"/>
          </p:nvPr>
        </p:nvSpPr>
        <p:spPr/>
        <p:txBody>
          <a:bodyPr/>
          <a:lstStyle/>
          <a:p>
            <a:fld id="{DC08930E-3CBA-324B-85CC-2293DF21A711}" type="datetimeFigureOut">
              <a:rPr lang="en-US" smtClean="0"/>
              <a:t>10/12/26</a:t>
            </a:fld>
            <a:endParaRPr lang="en-US"/>
          </a:p>
        </p:txBody>
      </p:sp>
      <p:sp>
        <p:nvSpPr>
          <p:cNvPr id="4" name="Footer Placeholder 3">
            <a:extLst>
              <a:ext uri="{FF2B5EF4-FFF2-40B4-BE49-F238E27FC236}">
                <a16:creationId xmlns:a16="http://schemas.microsoft.com/office/drawing/2014/main" id="{3029D6DF-A484-A210-2DF8-9006CF4797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3A58F4-459C-6BBA-E2AD-54E407211CF0}"/>
              </a:ext>
            </a:extLst>
          </p:cNvPr>
          <p:cNvSpPr>
            <a:spLocks noGrp="1"/>
          </p:cNvSpPr>
          <p:nvPr>
            <p:ph type="sldNum" sz="quarter" idx="12"/>
          </p:nvPr>
        </p:nvSpPr>
        <p:spPr/>
        <p:txBody>
          <a:bodyPr/>
          <a:lstStyle/>
          <a:p>
            <a:fld id="{B416B243-A43C-6F45-A932-9F54D5EE32B5}" type="slidenum">
              <a:rPr lang="en-US" smtClean="0"/>
              <a:t>‹#›</a:t>
            </a:fld>
            <a:endParaRPr lang="en-US"/>
          </a:p>
        </p:txBody>
      </p:sp>
    </p:spTree>
    <p:extLst>
      <p:ext uri="{BB962C8B-B14F-4D97-AF65-F5344CB8AC3E}">
        <p14:creationId xmlns:p14="http://schemas.microsoft.com/office/powerpoint/2010/main" val="2702939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B2A505-0A26-0F09-B2BC-9EF7BFCE049D}"/>
              </a:ext>
            </a:extLst>
          </p:cNvPr>
          <p:cNvSpPr>
            <a:spLocks noGrp="1"/>
          </p:cNvSpPr>
          <p:nvPr>
            <p:ph type="dt" sz="half" idx="10"/>
          </p:nvPr>
        </p:nvSpPr>
        <p:spPr/>
        <p:txBody>
          <a:bodyPr/>
          <a:lstStyle/>
          <a:p>
            <a:fld id="{DC08930E-3CBA-324B-85CC-2293DF21A711}" type="datetimeFigureOut">
              <a:rPr lang="en-US" smtClean="0"/>
              <a:t>10/12/26</a:t>
            </a:fld>
            <a:endParaRPr lang="en-US"/>
          </a:p>
        </p:txBody>
      </p:sp>
      <p:sp>
        <p:nvSpPr>
          <p:cNvPr id="3" name="Footer Placeholder 2">
            <a:extLst>
              <a:ext uri="{FF2B5EF4-FFF2-40B4-BE49-F238E27FC236}">
                <a16:creationId xmlns:a16="http://schemas.microsoft.com/office/drawing/2014/main" id="{DB28384A-0068-FB3C-DB3B-B5D3895D77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43DC0A-AAB4-B701-5508-91C77AC86B05}"/>
              </a:ext>
            </a:extLst>
          </p:cNvPr>
          <p:cNvSpPr>
            <a:spLocks noGrp="1"/>
          </p:cNvSpPr>
          <p:nvPr>
            <p:ph type="sldNum" sz="quarter" idx="12"/>
          </p:nvPr>
        </p:nvSpPr>
        <p:spPr/>
        <p:txBody>
          <a:bodyPr/>
          <a:lstStyle/>
          <a:p>
            <a:fld id="{B416B243-A43C-6F45-A932-9F54D5EE32B5}" type="slidenum">
              <a:rPr lang="en-US" smtClean="0"/>
              <a:t>‹#›</a:t>
            </a:fld>
            <a:endParaRPr lang="en-US"/>
          </a:p>
        </p:txBody>
      </p:sp>
    </p:spTree>
    <p:extLst>
      <p:ext uri="{BB962C8B-B14F-4D97-AF65-F5344CB8AC3E}">
        <p14:creationId xmlns:p14="http://schemas.microsoft.com/office/powerpoint/2010/main" val="2228144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95B87-7BE3-E048-DD3C-BB6CF0CC3E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D0B669-618B-D0E6-262F-A19B15E574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E45D9B-5063-F0B5-8BBD-66B6BFACF1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AC5462-66A8-4C34-9222-21902A85B089}"/>
              </a:ext>
            </a:extLst>
          </p:cNvPr>
          <p:cNvSpPr>
            <a:spLocks noGrp="1"/>
          </p:cNvSpPr>
          <p:nvPr>
            <p:ph type="dt" sz="half" idx="10"/>
          </p:nvPr>
        </p:nvSpPr>
        <p:spPr/>
        <p:txBody>
          <a:bodyPr/>
          <a:lstStyle/>
          <a:p>
            <a:fld id="{DC08930E-3CBA-324B-85CC-2293DF21A711}" type="datetimeFigureOut">
              <a:rPr lang="en-US" smtClean="0"/>
              <a:t>10/12/26</a:t>
            </a:fld>
            <a:endParaRPr lang="en-US"/>
          </a:p>
        </p:txBody>
      </p:sp>
      <p:sp>
        <p:nvSpPr>
          <p:cNvPr id="6" name="Footer Placeholder 5">
            <a:extLst>
              <a:ext uri="{FF2B5EF4-FFF2-40B4-BE49-F238E27FC236}">
                <a16:creationId xmlns:a16="http://schemas.microsoft.com/office/drawing/2014/main" id="{4B3BAC6B-BC02-D758-D5A1-537D7E5D6B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50EBF2-409E-4649-6768-AC4A34E5D845}"/>
              </a:ext>
            </a:extLst>
          </p:cNvPr>
          <p:cNvSpPr>
            <a:spLocks noGrp="1"/>
          </p:cNvSpPr>
          <p:nvPr>
            <p:ph type="sldNum" sz="quarter" idx="12"/>
          </p:nvPr>
        </p:nvSpPr>
        <p:spPr/>
        <p:txBody>
          <a:bodyPr/>
          <a:lstStyle/>
          <a:p>
            <a:fld id="{B416B243-A43C-6F45-A932-9F54D5EE32B5}" type="slidenum">
              <a:rPr lang="en-US" smtClean="0"/>
              <a:t>‹#›</a:t>
            </a:fld>
            <a:endParaRPr lang="en-US"/>
          </a:p>
        </p:txBody>
      </p:sp>
    </p:spTree>
    <p:extLst>
      <p:ext uri="{BB962C8B-B14F-4D97-AF65-F5344CB8AC3E}">
        <p14:creationId xmlns:p14="http://schemas.microsoft.com/office/powerpoint/2010/main" val="329719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F5182-9188-8D1E-6C8D-90C566E71B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339F03-E50A-B9E3-A661-0648970D6AB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7FD2DD-9112-9653-95AA-C0BC282DED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E9EADC-CF20-DD1F-642E-0F819E2D42D9}"/>
              </a:ext>
            </a:extLst>
          </p:cNvPr>
          <p:cNvSpPr>
            <a:spLocks noGrp="1"/>
          </p:cNvSpPr>
          <p:nvPr>
            <p:ph type="dt" sz="half" idx="10"/>
          </p:nvPr>
        </p:nvSpPr>
        <p:spPr/>
        <p:txBody>
          <a:bodyPr/>
          <a:lstStyle/>
          <a:p>
            <a:fld id="{DC08930E-3CBA-324B-85CC-2293DF21A711}" type="datetimeFigureOut">
              <a:rPr lang="en-US" smtClean="0"/>
              <a:t>10/12/26</a:t>
            </a:fld>
            <a:endParaRPr lang="en-US"/>
          </a:p>
        </p:txBody>
      </p:sp>
      <p:sp>
        <p:nvSpPr>
          <p:cNvPr id="6" name="Footer Placeholder 5">
            <a:extLst>
              <a:ext uri="{FF2B5EF4-FFF2-40B4-BE49-F238E27FC236}">
                <a16:creationId xmlns:a16="http://schemas.microsoft.com/office/drawing/2014/main" id="{2E5E4949-2739-49E4-4867-BF534699D0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D51E0F-9944-B484-3D9E-3F9C671ACB08}"/>
              </a:ext>
            </a:extLst>
          </p:cNvPr>
          <p:cNvSpPr>
            <a:spLocks noGrp="1"/>
          </p:cNvSpPr>
          <p:nvPr>
            <p:ph type="sldNum" sz="quarter" idx="12"/>
          </p:nvPr>
        </p:nvSpPr>
        <p:spPr/>
        <p:txBody>
          <a:bodyPr/>
          <a:lstStyle/>
          <a:p>
            <a:fld id="{B416B243-A43C-6F45-A932-9F54D5EE32B5}" type="slidenum">
              <a:rPr lang="en-US" smtClean="0"/>
              <a:t>‹#›</a:t>
            </a:fld>
            <a:endParaRPr lang="en-US"/>
          </a:p>
        </p:txBody>
      </p:sp>
    </p:spTree>
    <p:extLst>
      <p:ext uri="{BB962C8B-B14F-4D97-AF65-F5344CB8AC3E}">
        <p14:creationId xmlns:p14="http://schemas.microsoft.com/office/powerpoint/2010/main" val="1192931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C0BD3-4D1E-FA24-24C2-6FF1DC19C7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9DBA84-DE28-02FD-B39B-FF7CC1E827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8DA2AB-9E1D-DDB6-6A33-8E2E7919B71B}"/>
              </a:ext>
            </a:extLst>
          </p:cNvPr>
          <p:cNvSpPr>
            <a:spLocks noGrp="1"/>
          </p:cNvSpPr>
          <p:nvPr>
            <p:ph type="dt" sz="half" idx="10"/>
          </p:nvPr>
        </p:nvSpPr>
        <p:spPr/>
        <p:txBody>
          <a:bodyPr/>
          <a:lstStyle/>
          <a:p>
            <a:fld id="{DC08930E-3CBA-324B-85CC-2293DF21A711}" type="datetimeFigureOut">
              <a:rPr lang="en-US" smtClean="0"/>
              <a:t>10/12/26</a:t>
            </a:fld>
            <a:endParaRPr lang="en-US"/>
          </a:p>
        </p:txBody>
      </p:sp>
      <p:sp>
        <p:nvSpPr>
          <p:cNvPr id="5" name="Footer Placeholder 4">
            <a:extLst>
              <a:ext uri="{FF2B5EF4-FFF2-40B4-BE49-F238E27FC236}">
                <a16:creationId xmlns:a16="http://schemas.microsoft.com/office/drawing/2014/main" id="{F12E7137-169D-616A-95F1-D79F67FD9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76C883-1D10-FD6E-3D32-68F797EE6638}"/>
              </a:ext>
            </a:extLst>
          </p:cNvPr>
          <p:cNvSpPr>
            <a:spLocks noGrp="1"/>
          </p:cNvSpPr>
          <p:nvPr>
            <p:ph type="sldNum" sz="quarter" idx="12"/>
          </p:nvPr>
        </p:nvSpPr>
        <p:spPr/>
        <p:txBody>
          <a:bodyPr/>
          <a:lstStyle/>
          <a:p>
            <a:fld id="{B416B243-A43C-6F45-A932-9F54D5EE32B5}" type="slidenum">
              <a:rPr lang="en-US" smtClean="0"/>
              <a:t>‹#›</a:t>
            </a:fld>
            <a:endParaRPr lang="en-US"/>
          </a:p>
        </p:txBody>
      </p:sp>
    </p:spTree>
    <p:extLst>
      <p:ext uri="{BB962C8B-B14F-4D97-AF65-F5344CB8AC3E}">
        <p14:creationId xmlns:p14="http://schemas.microsoft.com/office/powerpoint/2010/main" val="3847464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5C4788-409D-C75F-52CE-738EF69C74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44D9E-9FEB-D84E-ED44-76A5FF62DF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11E2F-E6A1-7A94-4D7F-6E5DD791AB32}"/>
              </a:ext>
            </a:extLst>
          </p:cNvPr>
          <p:cNvSpPr>
            <a:spLocks noGrp="1"/>
          </p:cNvSpPr>
          <p:nvPr>
            <p:ph type="dt" sz="half" idx="10"/>
          </p:nvPr>
        </p:nvSpPr>
        <p:spPr/>
        <p:txBody>
          <a:bodyPr/>
          <a:lstStyle/>
          <a:p>
            <a:fld id="{DC08930E-3CBA-324B-85CC-2293DF21A711}" type="datetimeFigureOut">
              <a:rPr lang="en-US" smtClean="0"/>
              <a:t>10/12/26</a:t>
            </a:fld>
            <a:endParaRPr lang="en-US"/>
          </a:p>
        </p:txBody>
      </p:sp>
      <p:sp>
        <p:nvSpPr>
          <p:cNvPr id="5" name="Footer Placeholder 4">
            <a:extLst>
              <a:ext uri="{FF2B5EF4-FFF2-40B4-BE49-F238E27FC236}">
                <a16:creationId xmlns:a16="http://schemas.microsoft.com/office/drawing/2014/main" id="{31439EC9-2D79-ED2C-45BC-A9871B63A8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B1E084-B0AE-E428-E772-235212B4464B}"/>
              </a:ext>
            </a:extLst>
          </p:cNvPr>
          <p:cNvSpPr>
            <a:spLocks noGrp="1"/>
          </p:cNvSpPr>
          <p:nvPr>
            <p:ph type="sldNum" sz="quarter" idx="12"/>
          </p:nvPr>
        </p:nvSpPr>
        <p:spPr/>
        <p:txBody>
          <a:bodyPr/>
          <a:lstStyle/>
          <a:p>
            <a:fld id="{B416B243-A43C-6F45-A932-9F54D5EE32B5}" type="slidenum">
              <a:rPr lang="en-US" smtClean="0"/>
              <a:t>‹#›</a:t>
            </a:fld>
            <a:endParaRPr lang="en-US"/>
          </a:p>
        </p:txBody>
      </p:sp>
    </p:spTree>
    <p:extLst>
      <p:ext uri="{BB962C8B-B14F-4D97-AF65-F5344CB8AC3E}">
        <p14:creationId xmlns:p14="http://schemas.microsoft.com/office/powerpoint/2010/main" val="2279402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602EE3-E956-F15D-8FDF-2EAC386107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44575-2838-28EF-186B-4B1A3B577E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3FEE33-68C6-81D9-A824-AB5A80C1DA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08930E-3CBA-324B-85CC-2293DF21A711}" type="datetimeFigureOut">
              <a:rPr lang="en-US" smtClean="0"/>
              <a:t>10/12/26</a:t>
            </a:fld>
            <a:endParaRPr lang="en-US"/>
          </a:p>
        </p:txBody>
      </p:sp>
      <p:sp>
        <p:nvSpPr>
          <p:cNvPr id="5" name="Footer Placeholder 4">
            <a:extLst>
              <a:ext uri="{FF2B5EF4-FFF2-40B4-BE49-F238E27FC236}">
                <a16:creationId xmlns:a16="http://schemas.microsoft.com/office/drawing/2014/main" id="{4BAF884E-3D69-14E2-C8C8-29ADE0C1CF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BFFFB62-462C-5445-CD43-78C81F61B6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16B243-A43C-6F45-A932-9F54D5EE32B5}" type="slidenum">
              <a:rPr lang="en-US" smtClean="0"/>
              <a:t>‹#›</a:t>
            </a:fld>
            <a:endParaRPr lang="en-US"/>
          </a:p>
        </p:txBody>
      </p:sp>
    </p:spTree>
    <p:extLst>
      <p:ext uri="{BB962C8B-B14F-4D97-AF65-F5344CB8AC3E}">
        <p14:creationId xmlns:p14="http://schemas.microsoft.com/office/powerpoint/2010/main" val="3177989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4571F-BD99-3358-5F03-88F46D292D75}"/>
              </a:ext>
            </a:extLst>
          </p:cNvPr>
          <p:cNvSpPr>
            <a:spLocks noGrp="1"/>
          </p:cNvSpPr>
          <p:nvPr>
            <p:ph type="ctrTitle"/>
          </p:nvPr>
        </p:nvSpPr>
        <p:spPr/>
        <p:txBody>
          <a:bodyPr anchor="ctr">
            <a:normAutofit/>
          </a:bodyPr>
          <a:lstStyle/>
          <a:p>
            <a:r>
              <a:rPr lang="en-US" sz="2400" dirty="0"/>
              <a:t>AN EVALUATION OF PERFORMANCE MEASURES FOR PREDICTIVE APPROACHES TO MODEL TSA THROUGHPUT VOLATILITY</a:t>
            </a:r>
          </a:p>
        </p:txBody>
      </p:sp>
      <p:sp>
        <p:nvSpPr>
          <p:cNvPr id="3" name="Subtitle 2">
            <a:extLst>
              <a:ext uri="{FF2B5EF4-FFF2-40B4-BE49-F238E27FC236}">
                <a16:creationId xmlns:a16="http://schemas.microsoft.com/office/drawing/2014/main" id="{E7133520-E49A-F4E8-8173-4871D312FD7A}"/>
              </a:ext>
            </a:extLst>
          </p:cNvPr>
          <p:cNvSpPr>
            <a:spLocks noGrp="1"/>
          </p:cNvSpPr>
          <p:nvPr>
            <p:ph type="subTitle" idx="1"/>
          </p:nvPr>
        </p:nvSpPr>
        <p:spPr/>
        <p:txBody>
          <a:bodyPr anchor="ctr">
            <a:normAutofit fontScale="92500" lnSpcReduction="10000"/>
          </a:bodyPr>
          <a:lstStyle/>
          <a:p>
            <a:pPr>
              <a:lnSpc>
                <a:spcPct val="120000"/>
              </a:lnSpc>
              <a:spcBef>
                <a:spcPts val="0"/>
              </a:spcBef>
            </a:pPr>
            <a:r>
              <a:rPr lang="en-US" dirty="0">
                <a:latin typeface="Times New Roman" panose="02020603050405020304" pitchFamily="18" charset="0"/>
                <a:cs typeface="Times New Roman" panose="02020603050405020304" pitchFamily="18" charset="0"/>
              </a:rPr>
              <a:t>Leila Gleich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Embry-Riddle Aeronautical University</a:t>
            </a:r>
          </a:p>
          <a:p>
            <a:pPr>
              <a:lnSpc>
                <a:spcPct val="120000"/>
              </a:lnSpc>
              <a:spcBef>
                <a:spcPts val="0"/>
              </a:spcBef>
            </a:pPr>
            <a:r>
              <a:rPr lang="en-US" dirty="0">
                <a:latin typeface="Times New Roman" panose="02020603050405020304" pitchFamily="18" charset="0"/>
                <a:cs typeface="Times New Roman" panose="02020603050405020304" pitchFamily="18" charset="0"/>
              </a:rPr>
              <a:t>Worldwide Campus</a:t>
            </a:r>
          </a:p>
          <a:p>
            <a:pPr>
              <a:lnSpc>
                <a:spcPct val="120000"/>
              </a:lnSpc>
              <a:spcBef>
                <a:spcPts val="0"/>
              </a:spcBef>
            </a:pPr>
            <a:r>
              <a:rPr lang="en-US" dirty="0">
                <a:latin typeface="Times New Roman" panose="02020603050405020304" pitchFamily="18" charset="0"/>
                <a:cs typeface="Times New Roman" panose="02020603050405020304" pitchFamily="18" charset="0"/>
              </a:rPr>
              <a:t>October 2026</a:t>
            </a:r>
          </a:p>
        </p:txBody>
      </p:sp>
    </p:spTree>
    <p:extLst>
      <p:ext uri="{BB962C8B-B14F-4D97-AF65-F5344CB8AC3E}">
        <p14:creationId xmlns:p14="http://schemas.microsoft.com/office/powerpoint/2010/main" val="729428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C8CC79-501B-4438-944B-04F6FC0CE575}"/>
              </a:ext>
            </a:extLst>
          </p:cNvPr>
          <p:cNvSpPr>
            <a:spLocks noGrp="1"/>
          </p:cNvSpPr>
          <p:nvPr>
            <p:ph type="title"/>
          </p:nvPr>
        </p:nvSpPr>
        <p:spPr/>
        <p:txBody>
          <a:bodyPr/>
          <a:lstStyle/>
          <a:p>
            <a:r>
              <a:rPr lang="en-US" dirty="0"/>
              <a:t>Outline</a:t>
            </a:r>
          </a:p>
        </p:txBody>
      </p:sp>
      <p:graphicFrame>
        <p:nvGraphicFramePr>
          <p:cNvPr id="8" name="Content Placeholder 5">
            <a:extLst>
              <a:ext uri="{FF2B5EF4-FFF2-40B4-BE49-F238E27FC236}">
                <a16:creationId xmlns:a16="http://schemas.microsoft.com/office/drawing/2014/main" id="{07653DDE-1D10-E03E-B075-B2FD3B52D7D5}"/>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5142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F796-FE0D-A248-BAE4-A12617E39EB4}"/>
              </a:ext>
            </a:extLst>
          </p:cNvPr>
          <p:cNvSpPr>
            <a:spLocks noGrp="1"/>
          </p:cNvSpPr>
          <p:nvPr>
            <p:ph type="title"/>
          </p:nvPr>
        </p:nvSpPr>
        <p:spPr/>
        <p:txBody>
          <a:bodyPr/>
          <a:lstStyle/>
          <a:p>
            <a:r>
              <a:rPr lang="en-US" dirty="0"/>
              <a:t>Research Problem</a:t>
            </a:r>
          </a:p>
        </p:txBody>
      </p:sp>
      <p:sp>
        <p:nvSpPr>
          <p:cNvPr id="3" name="Content Placeholder 2">
            <a:extLst>
              <a:ext uri="{FF2B5EF4-FFF2-40B4-BE49-F238E27FC236}">
                <a16:creationId xmlns:a16="http://schemas.microsoft.com/office/drawing/2014/main" id="{447BC3FD-63F3-DA50-B3FF-27B988B7855E}"/>
              </a:ext>
            </a:extLst>
          </p:cNvPr>
          <p:cNvSpPr>
            <a:spLocks noGrp="1"/>
          </p:cNvSpPr>
          <p:nvPr>
            <p:ph idx="1"/>
          </p:nvPr>
        </p:nvSpPr>
        <p:spPr/>
        <p:txBody>
          <a:bodyPr/>
          <a:lstStyle/>
          <a:p>
            <a:r>
              <a:rPr lang="en-US" dirty="0"/>
              <a:t>Airport passenger flow is inherently stochastic, which is causing inefficiencies because physical capacity can increase in time to meet increase in demand</a:t>
            </a:r>
          </a:p>
        </p:txBody>
      </p:sp>
    </p:spTree>
    <p:extLst>
      <p:ext uri="{BB962C8B-B14F-4D97-AF65-F5344CB8AC3E}">
        <p14:creationId xmlns:p14="http://schemas.microsoft.com/office/powerpoint/2010/main" val="3542988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CBF5B-097C-CEC5-DC03-28BC9F71F166}"/>
              </a:ext>
            </a:extLst>
          </p:cNvPr>
          <p:cNvSpPr>
            <a:spLocks noGrp="1"/>
          </p:cNvSpPr>
          <p:nvPr>
            <p:ph type="title"/>
          </p:nvPr>
        </p:nvSpPr>
        <p:spPr/>
        <p:txBody>
          <a:bodyPr/>
          <a:lstStyle/>
          <a:p>
            <a:r>
              <a:rPr lang="en-US" dirty="0"/>
              <a:t>Research Purpose</a:t>
            </a:r>
          </a:p>
        </p:txBody>
      </p:sp>
      <p:sp>
        <p:nvSpPr>
          <p:cNvPr id="3" name="Content Placeholder 2">
            <a:extLst>
              <a:ext uri="{FF2B5EF4-FFF2-40B4-BE49-F238E27FC236}">
                <a16:creationId xmlns:a16="http://schemas.microsoft.com/office/drawing/2014/main" id="{5582EC78-0831-E48E-3ABF-A1033F4EA55A}"/>
              </a:ext>
            </a:extLst>
          </p:cNvPr>
          <p:cNvSpPr>
            <a:spLocks noGrp="1"/>
          </p:cNvSpPr>
          <p:nvPr>
            <p:ph idx="1"/>
          </p:nvPr>
        </p:nvSpPr>
        <p:spPr/>
        <p:txBody>
          <a:bodyPr/>
          <a:lstStyle/>
          <a:p>
            <a:r>
              <a:rPr lang="en-US" dirty="0"/>
              <a:t>Evaluate predictive modeling techniques to understanding </a:t>
            </a:r>
            <a:r>
              <a:rPr lang="en-US" dirty="0" err="1"/>
              <a:t>volatilitry</a:t>
            </a:r>
            <a:r>
              <a:rPr lang="en-US" dirty="0"/>
              <a:t> of flow and how to evaluate the efficacy of a predictive model based on the circumstances</a:t>
            </a:r>
          </a:p>
        </p:txBody>
      </p:sp>
    </p:spTree>
    <p:extLst>
      <p:ext uri="{BB962C8B-B14F-4D97-AF65-F5344CB8AC3E}">
        <p14:creationId xmlns:p14="http://schemas.microsoft.com/office/powerpoint/2010/main" val="2159072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66EF-AFE3-305F-7B7C-4FD3C074C96B}"/>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A2509488-6498-986B-FCF4-FDF3F8652F72}"/>
              </a:ext>
            </a:extLst>
          </p:cNvPr>
          <p:cNvSpPr>
            <a:spLocks noGrp="1"/>
          </p:cNvSpPr>
          <p:nvPr>
            <p:ph idx="1"/>
          </p:nvPr>
        </p:nvSpPr>
        <p:spPr/>
        <p:txBody>
          <a:bodyPr/>
          <a:lstStyle/>
          <a:p>
            <a:r>
              <a:rPr lang="en-US" dirty="0"/>
              <a:t>Which predictive modeling frameworks – spanning deterministic persistence controls, deterministic schedule baselines, machine learning, and sequential two-stage hybrids – are most effective for forecasting airport passenger security screening throughput volatility when prioritizing </a:t>
            </a:r>
            <a:r>
              <a:rPr lang="en-US" b="1" dirty="0"/>
              <a:t>robustness</a:t>
            </a:r>
            <a:r>
              <a:rPr lang="en-US" dirty="0"/>
              <a:t> (routine operational accuracy), </a:t>
            </a:r>
            <a:r>
              <a:rPr lang="en-US" b="1" dirty="0"/>
              <a:t>resilience</a:t>
            </a:r>
            <a:r>
              <a:rPr lang="en-US" dirty="0"/>
              <a:t> (stability under convective weather and delay disruptions), or </a:t>
            </a:r>
            <a:r>
              <a:rPr lang="en-US" b="1" dirty="0"/>
              <a:t>generalizability</a:t>
            </a:r>
            <a:r>
              <a:rPr lang="en-US" dirty="0"/>
              <a:t> (cross-airport portability across terminal layouts) as the primary operational evaluation metric?</a:t>
            </a:r>
          </a:p>
          <a:p>
            <a:endParaRPr lang="en-US" dirty="0"/>
          </a:p>
        </p:txBody>
      </p:sp>
    </p:spTree>
    <p:extLst>
      <p:ext uri="{BB962C8B-B14F-4D97-AF65-F5344CB8AC3E}">
        <p14:creationId xmlns:p14="http://schemas.microsoft.com/office/powerpoint/2010/main" val="3846493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F7C29-D417-AD3F-1969-120B27CCB0DB}"/>
              </a:ext>
            </a:extLst>
          </p:cNvPr>
          <p:cNvSpPr>
            <a:spLocks noGrp="1"/>
          </p:cNvSpPr>
          <p:nvPr>
            <p:ph type="title"/>
          </p:nvPr>
        </p:nvSpPr>
        <p:spPr/>
        <p:txBody>
          <a:bodyPr/>
          <a:lstStyle/>
          <a:p>
            <a:r>
              <a:rPr lang="en-US" dirty="0"/>
              <a:t>Hypothesis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487A63B-4DE1-79FC-26E8-0A6751E45415}"/>
                  </a:ext>
                </a:extLst>
              </p:cNvPr>
              <p:cNvSpPr>
                <a:spLocks noGrp="1"/>
              </p:cNvSpPr>
              <p:nvPr>
                <p:ph idx="1"/>
              </p:nvPr>
            </p:nvSpPr>
            <p:spPr/>
            <p:txBody>
              <a:bodyPr>
                <a:normAutofit fontScale="85000" lnSpcReduction="20000"/>
              </a:bodyPr>
              <a:lstStyle/>
              <a:p>
                <a:r>
                  <a:rPr lang="en-US" b="1" dirty="0"/>
                  <a:t>The Asymmetric Trade-Off </a:t>
                </a:r>
                <a14:m>
                  <m:oMath xmlns:m="http://schemas.openxmlformats.org/officeDocument/2006/math">
                    <m:sSub>
                      <m:sSubPr>
                        <m:ctrlPr>
                          <a:rPr lang="en-US" i="1"/>
                        </m:ctrlPr>
                      </m:sSubPr>
                      <m:e>
                        <m:r>
                          <a:rPr lang="en-US" i="1"/>
                          <m:t>𝐻</m:t>
                        </m:r>
                      </m:e>
                      <m:sub>
                        <m:r>
                          <a:rPr lang="en-US" i="1"/>
                          <m:t>1</m:t>
                        </m:r>
                      </m:sub>
                    </m:sSub>
                  </m:oMath>
                </a14:m>
                <a:r>
                  <a:rPr lang="en-US" b="1" dirty="0"/>
                  <a:t> </a:t>
                </a:r>
                <a:r>
                  <a:rPr lang="en-US" dirty="0"/>
                  <a:t>: Across the candidate modeling paradigms evaluated, no individual approach will prove superior across all three performance measures (robustness, resilience, and generalizability).</a:t>
                </a:r>
              </a:p>
              <a:p>
                <a:pPr lvl="0"/>
                <a14:m>
                  <m:oMath xmlns:m="http://schemas.openxmlformats.org/officeDocument/2006/math">
                    <m:sSub>
                      <m:sSubPr>
                        <m:ctrlPr>
                          <a:rPr lang="en-US" i="1"/>
                        </m:ctrlPr>
                      </m:sSubPr>
                      <m:e>
                        <m:r>
                          <a:rPr lang="en-US" i="1"/>
                          <m:t>𝐻</m:t>
                        </m:r>
                      </m:e>
                      <m:sub>
                        <m:r>
                          <a:rPr lang="en-US" i="1"/>
                          <m:t>1</m:t>
                        </m:r>
                        <m:r>
                          <a:rPr lang="en-US" i="1"/>
                          <m:t>𝑎</m:t>
                        </m:r>
                      </m:sub>
                    </m:sSub>
                  </m:oMath>
                </a14:m>
                <a:r>
                  <a:rPr lang="en-US" b="1" dirty="0"/>
                  <a:t> (Robustness): </a:t>
                </a:r>
                <a:r>
                  <a:rPr lang="en-US" dirty="0"/>
                  <a:t>Supervised machine learning (Model 2) and two-stage dynamic hybrids (Model 3) will successfully achieve the robustness target under nominal operating conditions, whereas naive persistence (Baseline Control) and deterministic flight schedules (Model 1) will fail this threshold.</a:t>
                </a:r>
              </a:p>
              <a:p>
                <a:pPr lvl="0"/>
                <a14:m>
                  <m:oMath xmlns:m="http://schemas.openxmlformats.org/officeDocument/2006/math">
                    <m:sSub>
                      <m:sSubPr>
                        <m:ctrlPr>
                          <a:rPr lang="en-US" i="1"/>
                        </m:ctrlPr>
                      </m:sSubPr>
                      <m:e>
                        <m:r>
                          <a:rPr lang="en-US" i="1"/>
                          <m:t>𝐻</m:t>
                        </m:r>
                      </m:e>
                      <m:sub>
                        <m:r>
                          <a:rPr lang="en-US" i="1"/>
                          <m:t>1</m:t>
                        </m:r>
                        <m:r>
                          <a:rPr lang="en-US" i="1"/>
                          <m:t>𝑏</m:t>
                        </m:r>
                      </m:sub>
                    </m:sSub>
                  </m:oMath>
                </a14:m>
                <a:r>
                  <a:rPr lang="en-US" b="1" dirty="0"/>
                  <a:t> (Resilience)</a:t>
                </a:r>
                <a:r>
                  <a:rPr lang="en-US" dirty="0"/>
                  <a:t>: The Dynamic Two-Stage Hybrid (Model 3) will be the sole architecture to satisfy the resilience. Static supervised machine learning (Model 2) will experience severe performance degradation, while deterministic baselines (Model 1) will remain blind to downline delay cascades.</a:t>
                </a:r>
              </a:p>
              <a:p>
                <a:pPr lvl="0"/>
                <a14:m>
                  <m:oMath xmlns:m="http://schemas.openxmlformats.org/officeDocument/2006/math">
                    <m:sSub>
                      <m:sSubPr>
                        <m:ctrlPr>
                          <a:rPr lang="en-US" i="1"/>
                        </m:ctrlPr>
                      </m:sSubPr>
                      <m:e>
                        <m:r>
                          <a:rPr lang="en-US" i="1"/>
                          <m:t>𝐻</m:t>
                        </m:r>
                      </m:e>
                      <m:sub>
                        <m:r>
                          <a:rPr lang="en-US" i="1"/>
                          <m:t>1</m:t>
                        </m:r>
                        <m:r>
                          <a:rPr lang="en-US" i="1"/>
                          <m:t>𝑐</m:t>
                        </m:r>
                      </m:sub>
                    </m:sSub>
                  </m:oMath>
                </a14:m>
                <a:r>
                  <a:rPr lang="en-US" b="1" dirty="0"/>
                  <a:t> (Generalizability)</a:t>
                </a:r>
                <a:r>
                  <a:rPr lang="en-US" dirty="0"/>
                  <a:t>: The Deterministic Flight Schedule Model (Model 1) will satisfy the generalizability target without local. Conversely, the Dynamic Hybrid (Model 3) will fail the generalizability target.</a:t>
                </a:r>
              </a:p>
              <a:p>
                <a:endParaRPr lang="en-US" dirty="0"/>
              </a:p>
            </p:txBody>
          </p:sp>
        </mc:Choice>
        <mc:Fallback>
          <p:sp>
            <p:nvSpPr>
              <p:cNvPr id="3" name="Content Placeholder 2">
                <a:extLst>
                  <a:ext uri="{FF2B5EF4-FFF2-40B4-BE49-F238E27FC236}">
                    <a16:creationId xmlns:a16="http://schemas.microsoft.com/office/drawing/2014/main" id="{5487A63B-4DE1-79FC-26E8-0A6751E45415}"/>
                  </a:ext>
                </a:extLst>
              </p:cNvPr>
              <p:cNvSpPr>
                <a:spLocks noGrp="1" noRot="1" noChangeAspect="1" noMove="1" noResize="1" noEditPoints="1" noAdjustHandles="1" noChangeArrowheads="1" noChangeShapeType="1" noTextEdit="1"/>
              </p:cNvSpPr>
              <p:nvPr>
                <p:ph idx="1"/>
              </p:nvPr>
            </p:nvSpPr>
            <p:spPr>
              <a:blipFill>
                <a:blip r:embed="rId3"/>
                <a:stretch>
                  <a:fillRect l="-844" t="-3198" b="-2907"/>
                </a:stretch>
              </a:blipFill>
            </p:spPr>
            <p:txBody>
              <a:bodyPr/>
              <a:lstStyle/>
              <a:p>
                <a:r>
                  <a:rPr lang="en-US">
                    <a:noFill/>
                  </a:rPr>
                  <a:t> </a:t>
                </a:r>
              </a:p>
            </p:txBody>
          </p:sp>
        </mc:Fallback>
      </mc:AlternateContent>
    </p:spTree>
    <p:extLst>
      <p:ext uri="{BB962C8B-B14F-4D97-AF65-F5344CB8AC3E}">
        <p14:creationId xmlns:p14="http://schemas.microsoft.com/office/powerpoint/2010/main" val="133771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141E0-60DE-9BC9-25C7-ECDB961AF01D}"/>
              </a:ext>
            </a:extLst>
          </p:cNvPr>
          <p:cNvSpPr>
            <a:spLocks noGrp="1"/>
          </p:cNvSpPr>
          <p:nvPr>
            <p:ph type="title"/>
          </p:nvPr>
        </p:nvSpPr>
        <p:spPr/>
        <p:txBody>
          <a:bodyPr/>
          <a:lstStyle/>
          <a:p>
            <a:r>
              <a:rPr lang="en-US" dirty="0"/>
              <a:t>Dynamic Performance Measures</a:t>
            </a:r>
          </a:p>
        </p:txBody>
      </p:sp>
      <p:sp>
        <p:nvSpPr>
          <p:cNvPr id="3" name="Content Placeholder 2">
            <a:extLst>
              <a:ext uri="{FF2B5EF4-FFF2-40B4-BE49-F238E27FC236}">
                <a16:creationId xmlns:a16="http://schemas.microsoft.com/office/drawing/2014/main" id="{82993EA7-F850-D86C-4D72-8DDF35E8F80B}"/>
              </a:ext>
            </a:extLst>
          </p:cNvPr>
          <p:cNvSpPr>
            <a:spLocks noGrp="1"/>
          </p:cNvSpPr>
          <p:nvPr>
            <p:ph idx="1"/>
          </p:nvPr>
        </p:nvSpPr>
        <p:spPr/>
        <p:txBody>
          <a:bodyPr/>
          <a:lstStyle/>
          <a:p>
            <a:r>
              <a:rPr lang="en-US" dirty="0"/>
              <a:t>Robustness</a:t>
            </a:r>
          </a:p>
          <a:p>
            <a:r>
              <a:rPr lang="en-US" dirty="0"/>
              <a:t>Resilience</a:t>
            </a:r>
          </a:p>
          <a:p>
            <a:r>
              <a:rPr lang="en-US" dirty="0"/>
              <a:t>Generalizability</a:t>
            </a:r>
          </a:p>
        </p:txBody>
      </p:sp>
    </p:spTree>
    <p:extLst>
      <p:ext uri="{BB962C8B-B14F-4D97-AF65-F5344CB8AC3E}">
        <p14:creationId xmlns:p14="http://schemas.microsoft.com/office/powerpoint/2010/main" val="1281430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0892C-A8F5-41F1-0025-0253479E2D9C}"/>
              </a:ext>
            </a:extLst>
          </p:cNvPr>
          <p:cNvSpPr>
            <a:spLocks noGrp="1"/>
          </p:cNvSpPr>
          <p:nvPr>
            <p:ph type="title"/>
          </p:nvPr>
        </p:nvSpPr>
        <p:spPr/>
        <p:txBody>
          <a:bodyPr/>
          <a:lstStyle/>
          <a:p>
            <a:r>
              <a:rPr lang="en-US" dirty="0"/>
              <a:t>Existing Literature - Overview</a:t>
            </a:r>
          </a:p>
        </p:txBody>
      </p:sp>
      <p:sp>
        <p:nvSpPr>
          <p:cNvPr id="3" name="Content Placeholder 2">
            <a:extLst>
              <a:ext uri="{FF2B5EF4-FFF2-40B4-BE49-F238E27FC236}">
                <a16:creationId xmlns:a16="http://schemas.microsoft.com/office/drawing/2014/main" id="{0771967B-1CB5-C84A-6A30-EEE96931F84E}"/>
              </a:ext>
            </a:extLst>
          </p:cNvPr>
          <p:cNvSpPr>
            <a:spLocks noGrp="1"/>
          </p:cNvSpPr>
          <p:nvPr>
            <p:ph idx="1"/>
          </p:nvPr>
        </p:nvSpPr>
        <p:spPr/>
        <p:txBody>
          <a:bodyPr/>
          <a:lstStyle/>
          <a:p>
            <a:r>
              <a:rPr lang="en-US" dirty="0"/>
              <a:t>: (a) traditional approaches and operational complexity; (b) simulation modeling and real-time terminal management; (c) advanced predictive; (d) hybrid predictive architectures; (e) the impact of covid; and (f) multi-dimensional operational evaluation, establishing the theoretical foundations for the evaluation trio – Robustness, Resilience, and Generalizability – that governs this research.</a:t>
            </a:r>
          </a:p>
          <a:p>
            <a:endParaRPr lang="en-US" dirty="0"/>
          </a:p>
        </p:txBody>
      </p:sp>
      <p:pic>
        <p:nvPicPr>
          <p:cNvPr id="4" name="Picture 3">
            <a:extLst>
              <a:ext uri="{FF2B5EF4-FFF2-40B4-BE49-F238E27FC236}">
                <a16:creationId xmlns:a16="http://schemas.microsoft.com/office/drawing/2014/main" id="{E321E0A0-5141-A4D1-C392-CCF0FA0C1047}"/>
              </a:ext>
            </a:extLst>
          </p:cNvPr>
          <p:cNvPicPr>
            <a:picLocks noChangeAspect="1"/>
          </p:cNvPicPr>
          <p:nvPr/>
        </p:nvPicPr>
        <p:blipFill>
          <a:blip r:embed="rId2"/>
          <a:stretch>
            <a:fillRect/>
          </a:stretch>
        </p:blipFill>
        <p:spPr>
          <a:xfrm>
            <a:off x="3516085" y="4606381"/>
            <a:ext cx="5943600" cy="1172210"/>
          </a:xfrm>
          <a:prstGeom prst="rect">
            <a:avLst/>
          </a:prstGeom>
        </p:spPr>
      </p:pic>
    </p:spTree>
    <p:extLst>
      <p:ext uri="{BB962C8B-B14F-4D97-AF65-F5344CB8AC3E}">
        <p14:creationId xmlns:p14="http://schemas.microsoft.com/office/powerpoint/2010/main" val="3354482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2520F-7492-533C-DC4D-69456F8740D3}"/>
              </a:ext>
            </a:extLst>
          </p:cNvPr>
          <p:cNvSpPr>
            <a:spLocks noGrp="1"/>
          </p:cNvSpPr>
          <p:nvPr>
            <p:ph type="title"/>
          </p:nvPr>
        </p:nvSpPr>
        <p:spPr/>
        <p:txBody>
          <a:bodyPr/>
          <a:lstStyle/>
          <a:p>
            <a:r>
              <a:rPr lang="en-US" dirty="0"/>
              <a:t>Lit – The situation/problem</a:t>
            </a:r>
          </a:p>
        </p:txBody>
      </p:sp>
      <p:sp>
        <p:nvSpPr>
          <p:cNvPr id="3" name="Content Placeholder 2">
            <a:extLst>
              <a:ext uri="{FF2B5EF4-FFF2-40B4-BE49-F238E27FC236}">
                <a16:creationId xmlns:a16="http://schemas.microsoft.com/office/drawing/2014/main" id="{E0FCBED2-26A4-E461-612C-686CD4EC0C7F}"/>
              </a:ext>
            </a:extLst>
          </p:cNvPr>
          <p:cNvSpPr>
            <a:spLocks noGrp="1"/>
          </p:cNvSpPr>
          <p:nvPr>
            <p:ph idx="1"/>
          </p:nvPr>
        </p:nvSpPr>
        <p:spPr/>
        <p:txBody>
          <a:bodyPr/>
          <a:lstStyle/>
          <a:p>
            <a:r>
              <a:rPr lang="en-US" dirty="0"/>
              <a:t>Volatility is critical</a:t>
            </a:r>
          </a:p>
          <a:p>
            <a:endParaRPr lang="en-US" dirty="0"/>
          </a:p>
        </p:txBody>
      </p:sp>
    </p:spTree>
    <p:extLst>
      <p:ext uri="{BB962C8B-B14F-4D97-AF65-F5344CB8AC3E}">
        <p14:creationId xmlns:p14="http://schemas.microsoft.com/office/powerpoint/2010/main" val="2525916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C1975-4F78-B086-5DED-714EEA1EBEEF}"/>
              </a:ext>
            </a:extLst>
          </p:cNvPr>
          <p:cNvSpPr>
            <a:spLocks noGrp="1"/>
          </p:cNvSpPr>
          <p:nvPr>
            <p:ph type="title"/>
          </p:nvPr>
        </p:nvSpPr>
        <p:spPr/>
        <p:txBody>
          <a:bodyPr/>
          <a:lstStyle/>
          <a:p>
            <a:r>
              <a:rPr lang="en-US" dirty="0"/>
              <a:t>Traditional Models</a:t>
            </a:r>
          </a:p>
        </p:txBody>
      </p:sp>
      <p:sp>
        <p:nvSpPr>
          <p:cNvPr id="3" name="Content Placeholder 2">
            <a:extLst>
              <a:ext uri="{FF2B5EF4-FFF2-40B4-BE49-F238E27FC236}">
                <a16:creationId xmlns:a16="http://schemas.microsoft.com/office/drawing/2014/main" id="{62442C56-56AB-C7E0-C099-861C603A32AC}"/>
              </a:ext>
            </a:extLst>
          </p:cNvPr>
          <p:cNvSpPr>
            <a:spLocks noGrp="1"/>
          </p:cNvSpPr>
          <p:nvPr>
            <p:ph idx="1"/>
          </p:nvPr>
        </p:nvSpPr>
        <p:spPr/>
        <p:txBody>
          <a:bodyPr/>
          <a:lstStyle/>
          <a:p>
            <a:r>
              <a:rPr lang="en-US" dirty="0"/>
              <a:t>Deterministic</a:t>
            </a:r>
          </a:p>
          <a:p>
            <a:r>
              <a:rPr lang="en-US" dirty="0"/>
              <a:t>Classic Queueing </a:t>
            </a:r>
          </a:p>
        </p:txBody>
      </p:sp>
    </p:spTree>
    <p:extLst>
      <p:ext uri="{BB962C8B-B14F-4D97-AF65-F5344CB8AC3E}">
        <p14:creationId xmlns:p14="http://schemas.microsoft.com/office/powerpoint/2010/main" val="201825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B89F1-6306-131D-4AFD-8E58564E5666}"/>
              </a:ext>
            </a:extLst>
          </p:cNvPr>
          <p:cNvSpPr>
            <a:spLocks noGrp="1"/>
          </p:cNvSpPr>
          <p:nvPr>
            <p:ph type="title"/>
          </p:nvPr>
        </p:nvSpPr>
        <p:spPr/>
        <p:txBody>
          <a:bodyPr/>
          <a:lstStyle/>
          <a:p>
            <a:r>
              <a:rPr lang="en-US" dirty="0"/>
              <a:t>Shift to Micro Simulation</a:t>
            </a:r>
          </a:p>
        </p:txBody>
      </p:sp>
      <p:sp>
        <p:nvSpPr>
          <p:cNvPr id="3" name="Content Placeholder 2">
            <a:extLst>
              <a:ext uri="{FF2B5EF4-FFF2-40B4-BE49-F238E27FC236}">
                <a16:creationId xmlns:a16="http://schemas.microsoft.com/office/drawing/2014/main" id="{06BE8303-BFB5-F1A9-1894-ACF66385A6DC}"/>
              </a:ext>
            </a:extLst>
          </p:cNvPr>
          <p:cNvSpPr>
            <a:spLocks noGrp="1"/>
          </p:cNvSpPr>
          <p:nvPr>
            <p:ph idx="1"/>
          </p:nvPr>
        </p:nvSpPr>
        <p:spPr/>
        <p:txBody>
          <a:bodyPr/>
          <a:lstStyle/>
          <a:p>
            <a:r>
              <a:rPr lang="en-US" dirty="0"/>
              <a:t>Reason it is better</a:t>
            </a:r>
          </a:p>
          <a:p>
            <a:r>
              <a:rPr lang="en-US" dirty="0" err="1"/>
              <a:t>Shortcomngs</a:t>
            </a:r>
            <a:endParaRPr lang="en-US" dirty="0"/>
          </a:p>
        </p:txBody>
      </p:sp>
    </p:spTree>
    <p:extLst>
      <p:ext uri="{BB962C8B-B14F-4D97-AF65-F5344CB8AC3E}">
        <p14:creationId xmlns:p14="http://schemas.microsoft.com/office/powerpoint/2010/main" val="1148848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C9D86-5747-81E2-B8CB-53719101A812}"/>
              </a:ext>
            </a:extLst>
          </p:cNvPr>
          <p:cNvSpPr>
            <a:spLocks noGrp="1"/>
          </p:cNvSpPr>
          <p:nvPr>
            <p:ph type="title"/>
          </p:nvPr>
        </p:nvSpPr>
        <p:spPr/>
        <p:txBody>
          <a:bodyPr/>
          <a:lstStyle/>
          <a:p>
            <a:r>
              <a:rPr lang="en-US" dirty="0"/>
              <a:t>Shift to Advanced Predictive Models</a:t>
            </a:r>
          </a:p>
        </p:txBody>
      </p:sp>
      <p:sp>
        <p:nvSpPr>
          <p:cNvPr id="3" name="Content Placeholder 2">
            <a:extLst>
              <a:ext uri="{FF2B5EF4-FFF2-40B4-BE49-F238E27FC236}">
                <a16:creationId xmlns:a16="http://schemas.microsoft.com/office/drawing/2014/main" id="{09C9C81D-1105-BE16-3B45-91999A569776}"/>
              </a:ext>
            </a:extLst>
          </p:cNvPr>
          <p:cNvSpPr>
            <a:spLocks noGrp="1"/>
          </p:cNvSpPr>
          <p:nvPr>
            <p:ph idx="1"/>
          </p:nvPr>
        </p:nvSpPr>
        <p:spPr/>
        <p:txBody>
          <a:bodyPr/>
          <a:lstStyle/>
          <a:p>
            <a:r>
              <a:rPr lang="en-US" dirty="0"/>
              <a:t>Why it is better</a:t>
            </a:r>
          </a:p>
          <a:p>
            <a:r>
              <a:rPr lang="en-US" dirty="0"/>
              <a:t>Shortcomings</a:t>
            </a:r>
          </a:p>
          <a:p>
            <a:pPr marL="0" indent="0">
              <a:buNone/>
            </a:pPr>
            <a:endParaRPr lang="en-US" dirty="0"/>
          </a:p>
        </p:txBody>
      </p:sp>
    </p:spTree>
    <p:extLst>
      <p:ext uri="{BB962C8B-B14F-4D97-AF65-F5344CB8AC3E}">
        <p14:creationId xmlns:p14="http://schemas.microsoft.com/office/powerpoint/2010/main" val="3791169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F0069-0599-8D42-CF43-03A2BEEF8F63}"/>
              </a:ext>
            </a:extLst>
          </p:cNvPr>
          <p:cNvSpPr>
            <a:spLocks noGrp="1"/>
          </p:cNvSpPr>
          <p:nvPr>
            <p:ph type="title"/>
          </p:nvPr>
        </p:nvSpPr>
        <p:spPr/>
        <p:txBody>
          <a:bodyPr/>
          <a:lstStyle/>
          <a:p>
            <a:r>
              <a:rPr lang="en-US" dirty="0"/>
              <a:t>Hybrid Architectures</a:t>
            </a:r>
          </a:p>
        </p:txBody>
      </p:sp>
      <p:sp>
        <p:nvSpPr>
          <p:cNvPr id="3" name="Content Placeholder 2">
            <a:extLst>
              <a:ext uri="{FF2B5EF4-FFF2-40B4-BE49-F238E27FC236}">
                <a16:creationId xmlns:a16="http://schemas.microsoft.com/office/drawing/2014/main" id="{D36670FE-954A-F4F2-9289-A6AFD34A2ED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85559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C6A9-45A8-77EB-A7ED-FBCD40855AC4}"/>
              </a:ext>
            </a:extLst>
          </p:cNvPr>
          <p:cNvSpPr>
            <a:spLocks noGrp="1"/>
          </p:cNvSpPr>
          <p:nvPr>
            <p:ph type="title"/>
          </p:nvPr>
        </p:nvSpPr>
        <p:spPr/>
        <p:txBody>
          <a:bodyPr/>
          <a:lstStyle/>
          <a:p>
            <a:r>
              <a:rPr lang="en-US" dirty="0"/>
              <a:t>Impact of Covid &amp; Volatility</a:t>
            </a:r>
          </a:p>
        </p:txBody>
      </p:sp>
      <p:sp>
        <p:nvSpPr>
          <p:cNvPr id="3" name="Content Placeholder 2">
            <a:extLst>
              <a:ext uri="{FF2B5EF4-FFF2-40B4-BE49-F238E27FC236}">
                <a16:creationId xmlns:a16="http://schemas.microsoft.com/office/drawing/2014/main" id="{C210BE5C-36E4-F078-2C49-3027F08A16B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13001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4DDB4-0667-04A1-F213-4945E1C2CF27}"/>
              </a:ext>
            </a:extLst>
          </p:cNvPr>
          <p:cNvSpPr>
            <a:spLocks noGrp="1"/>
          </p:cNvSpPr>
          <p:nvPr>
            <p:ph type="title"/>
          </p:nvPr>
        </p:nvSpPr>
        <p:spPr/>
        <p:txBody>
          <a:bodyPr/>
          <a:lstStyle/>
          <a:p>
            <a:r>
              <a:rPr lang="en-US" dirty="0"/>
              <a:t>Importance of Dynamic Performance Measures</a:t>
            </a:r>
          </a:p>
        </p:txBody>
      </p:sp>
      <p:sp>
        <p:nvSpPr>
          <p:cNvPr id="3" name="Content Placeholder 2">
            <a:extLst>
              <a:ext uri="{FF2B5EF4-FFF2-40B4-BE49-F238E27FC236}">
                <a16:creationId xmlns:a16="http://schemas.microsoft.com/office/drawing/2014/main" id="{8D21C313-2D9C-561B-E388-E6DA0BCA444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25008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D0B92-2322-925B-1DF2-0AAF99D59AEF}"/>
              </a:ext>
            </a:extLst>
          </p:cNvPr>
          <p:cNvSpPr>
            <a:spLocks noGrp="1"/>
          </p:cNvSpPr>
          <p:nvPr>
            <p:ph type="title"/>
          </p:nvPr>
        </p:nvSpPr>
        <p:spPr/>
        <p:txBody>
          <a:bodyPr/>
          <a:lstStyle/>
          <a:p>
            <a:r>
              <a:rPr lang="en-US" dirty="0"/>
              <a:t>Methodology -Overview</a:t>
            </a:r>
          </a:p>
        </p:txBody>
      </p:sp>
      <p:sp>
        <p:nvSpPr>
          <p:cNvPr id="3" name="Content Placeholder 2">
            <a:extLst>
              <a:ext uri="{FF2B5EF4-FFF2-40B4-BE49-F238E27FC236}">
                <a16:creationId xmlns:a16="http://schemas.microsoft.com/office/drawing/2014/main" id="{4E35A2D3-D5B9-8B80-FE90-AB42006B5C27}"/>
              </a:ext>
            </a:extLst>
          </p:cNvPr>
          <p:cNvSpPr>
            <a:spLocks noGrp="1"/>
          </p:cNvSpPr>
          <p:nvPr>
            <p:ph idx="1"/>
          </p:nvPr>
        </p:nvSpPr>
        <p:spPr/>
        <p:txBody>
          <a:bodyPr/>
          <a:lstStyle/>
          <a:p>
            <a:r>
              <a:rPr lang="en-US" dirty="0"/>
              <a:t>Approach</a:t>
            </a:r>
          </a:p>
          <a:p>
            <a:r>
              <a:rPr lang="en-US" dirty="0"/>
              <a:t>Sample</a:t>
            </a:r>
          </a:p>
          <a:p>
            <a:r>
              <a:rPr lang="en-US" dirty="0"/>
              <a:t>Sources</a:t>
            </a:r>
          </a:p>
          <a:p>
            <a:r>
              <a:rPr lang="en-US" dirty="0"/>
              <a:t>Validity</a:t>
            </a:r>
          </a:p>
          <a:p>
            <a:r>
              <a:rPr lang="en-US" dirty="0"/>
              <a:t>Treatment</a:t>
            </a:r>
          </a:p>
        </p:txBody>
      </p:sp>
    </p:spTree>
    <p:extLst>
      <p:ext uri="{BB962C8B-B14F-4D97-AF65-F5344CB8AC3E}">
        <p14:creationId xmlns:p14="http://schemas.microsoft.com/office/powerpoint/2010/main" val="1820137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89481-853F-B5E1-68B0-5597166DD7AB}"/>
              </a:ext>
            </a:extLst>
          </p:cNvPr>
          <p:cNvSpPr>
            <a:spLocks noGrp="1"/>
          </p:cNvSpPr>
          <p:nvPr>
            <p:ph type="title"/>
          </p:nvPr>
        </p:nvSpPr>
        <p:spPr/>
        <p:txBody>
          <a:bodyPr/>
          <a:lstStyle/>
          <a:p>
            <a:r>
              <a:rPr lang="en-US" dirty="0"/>
              <a:t>Methodology - Approach</a:t>
            </a:r>
          </a:p>
        </p:txBody>
      </p:sp>
      <p:sp>
        <p:nvSpPr>
          <p:cNvPr id="3" name="Content Placeholder 2">
            <a:extLst>
              <a:ext uri="{FF2B5EF4-FFF2-40B4-BE49-F238E27FC236}">
                <a16:creationId xmlns:a16="http://schemas.microsoft.com/office/drawing/2014/main" id="{718E642E-C21B-6298-CC96-1564EC2DADB7}"/>
              </a:ext>
            </a:extLst>
          </p:cNvPr>
          <p:cNvSpPr>
            <a:spLocks noGrp="1"/>
          </p:cNvSpPr>
          <p:nvPr>
            <p:ph idx="1"/>
          </p:nvPr>
        </p:nvSpPr>
        <p:spPr/>
        <p:txBody>
          <a:bodyPr/>
          <a:lstStyle/>
          <a:p>
            <a:r>
              <a:rPr lang="en-US" dirty="0"/>
              <a:t>Types of Models</a:t>
            </a:r>
          </a:p>
          <a:p>
            <a:r>
              <a:rPr lang="en-US" dirty="0"/>
              <a:t>Performance Measures</a:t>
            </a:r>
          </a:p>
          <a:p>
            <a:r>
              <a:rPr lang="en-US" dirty="0"/>
              <a:t>Hypothesis</a:t>
            </a:r>
          </a:p>
        </p:txBody>
      </p:sp>
    </p:spTree>
    <p:extLst>
      <p:ext uri="{BB962C8B-B14F-4D97-AF65-F5344CB8AC3E}">
        <p14:creationId xmlns:p14="http://schemas.microsoft.com/office/powerpoint/2010/main" val="239563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6E1A0-564C-B206-8A1F-0D0F2EF1411B}"/>
              </a:ext>
            </a:extLst>
          </p:cNvPr>
          <p:cNvSpPr>
            <a:spLocks noGrp="1"/>
          </p:cNvSpPr>
          <p:nvPr>
            <p:ph type="title"/>
          </p:nvPr>
        </p:nvSpPr>
        <p:spPr/>
        <p:txBody>
          <a:bodyPr/>
          <a:lstStyle/>
          <a:p>
            <a:r>
              <a:rPr lang="en-US" dirty="0"/>
              <a:t>Methodology – Design and Procedures</a:t>
            </a:r>
          </a:p>
        </p:txBody>
      </p:sp>
      <p:sp>
        <p:nvSpPr>
          <p:cNvPr id="3" name="Content Placeholder 2">
            <a:extLst>
              <a:ext uri="{FF2B5EF4-FFF2-40B4-BE49-F238E27FC236}">
                <a16:creationId xmlns:a16="http://schemas.microsoft.com/office/drawing/2014/main" id="{F7B74A4E-8F0D-0535-3223-ED0AE29FA293}"/>
              </a:ext>
            </a:extLst>
          </p:cNvPr>
          <p:cNvSpPr>
            <a:spLocks noGrp="1"/>
          </p:cNvSpPr>
          <p:nvPr>
            <p:ph idx="1"/>
          </p:nvPr>
        </p:nvSpPr>
        <p:spPr/>
        <p:txBody>
          <a:bodyPr/>
          <a:lstStyle/>
          <a:p>
            <a:r>
              <a:rPr lang="en-US" dirty="0"/>
              <a:t>Data collection/ETL</a:t>
            </a:r>
          </a:p>
          <a:p>
            <a:r>
              <a:rPr lang="en-US" dirty="0"/>
              <a:t>Filtering and subset</a:t>
            </a:r>
          </a:p>
          <a:p>
            <a:r>
              <a:rPr lang="en-US" dirty="0"/>
              <a:t>Model Development and Execution</a:t>
            </a:r>
          </a:p>
          <a:p>
            <a:r>
              <a:rPr lang="en-US" dirty="0"/>
              <a:t>Model Results and Evaluation</a:t>
            </a:r>
          </a:p>
          <a:p>
            <a:endParaRPr lang="en-US" dirty="0"/>
          </a:p>
          <a:p>
            <a:r>
              <a:rPr lang="en-US" dirty="0"/>
              <a:t>4 tier filtering – here or methodology?</a:t>
            </a:r>
          </a:p>
        </p:txBody>
      </p:sp>
    </p:spTree>
    <p:extLst>
      <p:ext uri="{BB962C8B-B14F-4D97-AF65-F5344CB8AC3E}">
        <p14:creationId xmlns:p14="http://schemas.microsoft.com/office/powerpoint/2010/main" val="907568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7C34F-F7E2-A729-4A05-FDE783C0B190}"/>
              </a:ext>
            </a:extLst>
          </p:cNvPr>
          <p:cNvSpPr>
            <a:spLocks noGrp="1"/>
          </p:cNvSpPr>
          <p:nvPr>
            <p:ph type="title"/>
          </p:nvPr>
        </p:nvSpPr>
        <p:spPr/>
        <p:txBody>
          <a:bodyPr/>
          <a:lstStyle/>
          <a:p>
            <a:r>
              <a:rPr lang="en-US" dirty="0"/>
              <a:t>Methodology - details</a:t>
            </a:r>
          </a:p>
        </p:txBody>
      </p:sp>
      <p:sp>
        <p:nvSpPr>
          <p:cNvPr id="3" name="Content Placeholder 2">
            <a:extLst>
              <a:ext uri="{FF2B5EF4-FFF2-40B4-BE49-F238E27FC236}">
                <a16:creationId xmlns:a16="http://schemas.microsoft.com/office/drawing/2014/main" id="{F8F9B071-F5AB-B4A6-7D6C-55D7784BF7AD}"/>
              </a:ext>
            </a:extLst>
          </p:cNvPr>
          <p:cNvSpPr>
            <a:spLocks noGrp="1"/>
          </p:cNvSpPr>
          <p:nvPr>
            <p:ph idx="1"/>
          </p:nvPr>
        </p:nvSpPr>
        <p:spPr/>
        <p:txBody>
          <a:bodyPr/>
          <a:lstStyle/>
          <a:p>
            <a:r>
              <a:rPr lang="en-US" dirty="0"/>
              <a:t>Assumptions</a:t>
            </a:r>
          </a:p>
          <a:p>
            <a:r>
              <a:rPr lang="en-US" dirty="0"/>
              <a:t>Validity</a:t>
            </a:r>
          </a:p>
          <a:p>
            <a:r>
              <a:rPr lang="en-US" dirty="0"/>
              <a:t>Apparatus and Materials</a:t>
            </a:r>
          </a:p>
          <a:p>
            <a:r>
              <a:rPr lang="en-US" dirty="0"/>
              <a:t>Treatment of data</a:t>
            </a:r>
          </a:p>
          <a:p>
            <a:r>
              <a:rPr lang="en-US" dirty="0"/>
              <a:t>Sources of data</a:t>
            </a:r>
          </a:p>
        </p:txBody>
      </p:sp>
    </p:spTree>
    <p:extLst>
      <p:ext uri="{BB962C8B-B14F-4D97-AF65-F5344CB8AC3E}">
        <p14:creationId xmlns:p14="http://schemas.microsoft.com/office/powerpoint/2010/main" val="3116112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BC523-C988-3A8B-198C-B92C2CDA80AE}"/>
              </a:ext>
            </a:extLst>
          </p:cNvPr>
          <p:cNvSpPr>
            <a:spLocks noGrp="1"/>
          </p:cNvSpPr>
          <p:nvPr>
            <p:ph type="title"/>
          </p:nvPr>
        </p:nvSpPr>
        <p:spPr/>
        <p:txBody>
          <a:bodyPr/>
          <a:lstStyle/>
          <a:p>
            <a:r>
              <a:rPr lang="en-US" dirty="0"/>
              <a:t>Findings and discussion </a:t>
            </a:r>
          </a:p>
        </p:txBody>
      </p:sp>
      <p:sp>
        <p:nvSpPr>
          <p:cNvPr id="3" name="Content Placeholder 2">
            <a:extLst>
              <a:ext uri="{FF2B5EF4-FFF2-40B4-BE49-F238E27FC236}">
                <a16:creationId xmlns:a16="http://schemas.microsoft.com/office/drawing/2014/main" id="{CFD5F929-15CD-DFAB-3E2A-752068E18AF3}"/>
              </a:ext>
            </a:extLst>
          </p:cNvPr>
          <p:cNvSpPr>
            <a:spLocks noGrp="1"/>
          </p:cNvSpPr>
          <p:nvPr>
            <p:ph idx="1"/>
          </p:nvPr>
        </p:nvSpPr>
        <p:spPr/>
        <p:txBody>
          <a:bodyPr/>
          <a:lstStyle/>
          <a:p>
            <a:r>
              <a:rPr lang="en-US" dirty="0"/>
              <a:t>Data collection/ETL</a:t>
            </a:r>
          </a:p>
          <a:p>
            <a:r>
              <a:rPr lang="en-US" dirty="0"/>
              <a:t>Filtering and subset</a:t>
            </a:r>
          </a:p>
          <a:p>
            <a:r>
              <a:rPr lang="en-US" dirty="0"/>
              <a:t>Model Development and Execution</a:t>
            </a:r>
          </a:p>
          <a:p>
            <a:r>
              <a:rPr lang="en-US" dirty="0"/>
              <a:t>Model Results and Evaluation</a:t>
            </a:r>
          </a:p>
          <a:p>
            <a:endParaRPr lang="en-US" dirty="0"/>
          </a:p>
        </p:txBody>
      </p:sp>
      <p:pic>
        <p:nvPicPr>
          <p:cNvPr id="4" name="Picture 3">
            <a:extLst>
              <a:ext uri="{FF2B5EF4-FFF2-40B4-BE49-F238E27FC236}">
                <a16:creationId xmlns:a16="http://schemas.microsoft.com/office/drawing/2014/main" id="{F970792E-F0E9-3F4D-1DA8-68F750762A68}"/>
              </a:ext>
            </a:extLst>
          </p:cNvPr>
          <p:cNvPicPr>
            <a:picLocks noChangeAspect="1"/>
          </p:cNvPicPr>
          <p:nvPr/>
        </p:nvPicPr>
        <p:blipFill>
          <a:blip r:embed="rId2"/>
          <a:stretch>
            <a:fillRect/>
          </a:stretch>
        </p:blipFill>
        <p:spPr>
          <a:xfrm>
            <a:off x="1494382" y="5153434"/>
            <a:ext cx="6590665" cy="958215"/>
          </a:xfrm>
          <a:prstGeom prst="rect">
            <a:avLst/>
          </a:prstGeom>
        </p:spPr>
      </p:pic>
    </p:spTree>
    <p:extLst>
      <p:ext uri="{BB962C8B-B14F-4D97-AF65-F5344CB8AC3E}">
        <p14:creationId xmlns:p14="http://schemas.microsoft.com/office/powerpoint/2010/main" val="3652665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4EA4D-B528-B49B-614A-C695B9A46389}"/>
              </a:ext>
            </a:extLst>
          </p:cNvPr>
          <p:cNvSpPr>
            <a:spLocks noGrp="1"/>
          </p:cNvSpPr>
          <p:nvPr>
            <p:ph type="title"/>
          </p:nvPr>
        </p:nvSpPr>
        <p:spPr/>
        <p:txBody>
          <a:bodyPr/>
          <a:lstStyle/>
          <a:p>
            <a:r>
              <a:rPr lang="en-US" dirty="0"/>
              <a:t>Descriptive statistics for top 25</a:t>
            </a:r>
          </a:p>
        </p:txBody>
      </p:sp>
      <p:sp>
        <p:nvSpPr>
          <p:cNvPr id="3" name="Content Placeholder 2">
            <a:extLst>
              <a:ext uri="{FF2B5EF4-FFF2-40B4-BE49-F238E27FC236}">
                <a16:creationId xmlns:a16="http://schemas.microsoft.com/office/drawing/2014/main" id="{90104A9F-D52B-8472-CB49-0A4A44867C31}"/>
              </a:ext>
            </a:extLst>
          </p:cNvPr>
          <p:cNvSpPr>
            <a:spLocks noGrp="1"/>
          </p:cNvSpPr>
          <p:nvPr>
            <p:ph idx="1"/>
          </p:nvPr>
        </p:nvSpPr>
        <p:spPr/>
        <p:txBody>
          <a:bodyPr/>
          <a:lstStyle/>
          <a:p>
            <a:r>
              <a:rPr lang="en-US" dirty="0"/>
              <a:t>Chat and meaning</a:t>
            </a:r>
          </a:p>
          <a:p>
            <a:r>
              <a:rPr lang="en-US" dirty="0"/>
              <a:t>Temporal Boundaries</a:t>
            </a:r>
          </a:p>
          <a:p>
            <a:r>
              <a:rPr lang="en-US" dirty="0"/>
              <a:t>Seasonality</a:t>
            </a:r>
          </a:p>
          <a:p>
            <a:r>
              <a:rPr lang="en-US" dirty="0"/>
              <a:t>TSA &amp; OTP Throughput Data: hub disconnect and asynchronous delay propagation and checkpoint volatility coupling</a:t>
            </a:r>
          </a:p>
          <a:p>
            <a:r>
              <a:rPr lang="en-US" dirty="0"/>
              <a:t>Implications for subset filtering – need to use top 25 for some things, but top 9 is for the model. Highlight things with shared terminals</a:t>
            </a:r>
          </a:p>
        </p:txBody>
      </p:sp>
    </p:spTree>
    <p:extLst>
      <p:ext uri="{BB962C8B-B14F-4D97-AF65-F5344CB8AC3E}">
        <p14:creationId xmlns:p14="http://schemas.microsoft.com/office/powerpoint/2010/main" val="3217703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4809C-DE24-8C3A-A10E-1B78D8306C49}"/>
              </a:ext>
            </a:extLst>
          </p:cNvPr>
          <p:cNvSpPr>
            <a:spLocks noGrp="1"/>
          </p:cNvSpPr>
          <p:nvPr>
            <p:ph type="title"/>
          </p:nvPr>
        </p:nvSpPr>
        <p:spPr/>
        <p:txBody>
          <a:bodyPr/>
          <a:lstStyle/>
          <a:p>
            <a:r>
              <a:rPr lang="en-US" dirty="0"/>
              <a:t>Data filtering and subset</a:t>
            </a:r>
          </a:p>
        </p:txBody>
      </p:sp>
      <p:sp>
        <p:nvSpPr>
          <p:cNvPr id="3" name="Content Placeholder 2">
            <a:extLst>
              <a:ext uri="{FF2B5EF4-FFF2-40B4-BE49-F238E27FC236}">
                <a16:creationId xmlns:a16="http://schemas.microsoft.com/office/drawing/2014/main" id="{4862C8BE-854D-911E-B236-CEB32C7AA446}"/>
              </a:ext>
            </a:extLst>
          </p:cNvPr>
          <p:cNvSpPr>
            <a:spLocks noGrp="1"/>
          </p:cNvSpPr>
          <p:nvPr>
            <p:ph idx="1"/>
          </p:nvPr>
        </p:nvSpPr>
        <p:spPr/>
        <p:txBody>
          <a:bodyPr/>
          <a:lstStyle/>
          <a:p>
            <a:r>
              <a:rPr lang="en-US" dirty="0"/>
              <a:t>Four phase filtering pipeline</a:t>
            </a:r>
          </a:p>
          <a:p>
            <a:r>
              <a:rPr lang="en-US" dirty="0"/>
              <a:t>Macro</a:t>
            </a:r>
          </a:p>
          <a:p>
            <a:r>
              <a:rPr lang="en-US" dirty="0" err="1"/>
              <a:t>Meso</a:t>
            </a:r>
            <a:endParaRPr lang="en-US" dirty="0"/>
          </a:p>
          <a:p>
            <a:r>
              <a:rPr lang="en-US" dirty="0"/>
              <a:t>Micro</a:t>
            </a:r>
          </a:p>
          <a:p>
            <a:r>
              <a:rPr lang="en-US" dirty="0"/>
              <a:t>Cohort</a:t>
            </a:r>
          </a:p>
        </p:txBody>
      </p:sp>
      <p:pic>
        <p:nvPicPr>
          <p:cNvPr id="5" name="Picture 4">
            <a:extLst>
              <a:ext uri="{FF2B5EF4-FFF2-40B4-BE49-F238E27FC236}">
                <a16:creationId xmlns:a16="http://schemas.microsoft.com/office/drawing/2014/main" id="{263EF45E-668B-883A-817A-0CB1977298E8}"/>
              </a:ext>
            </a:extLst>
          </p:cNvPr>
          <p:cNvPicPr>
            <a:picLocks noChangeAspect="1"/>
          </p:cNvPicPr>
          <p:nvPr/>
        </p:nvPicPr>
        <p:blipFill>
          <a:blip r:embed="rId2"/>
          <a:stretch>
            <a:fillRect/>
          </a:stretch>
        </p:blipFill>
        <p:spPr>
          <a:xfrm>
            <a:off x="3987800" y="1670050"/>
            <a:ext cx="4216400" cy="3517900"/>
          </a:xfrm>
          <a:prstGeom prst="rect">
            <a:avLst/>
          </a:prstGeom>
        </p:spPr>
      </p:pic>
    </p:spTree>
    <p:extLst>
      <p:ext uri="{BB962C8B-B14F-4D97-AF65-F5344CB8AC3E}">
        <p14:creationId xmlns:p14="http://schemas.microsoft.com/office/powerpoint/2010/main" val="4047674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17226-8E04-E922-465F-3DBDCB541CD9}"/>
              </a:ext>
            </a:extLst>
          </p:cNvPr>
          <p:cNvSpPr>
            <a:spLocks noGrp="1"/>
          </p:cNvSpPr>
          <p:nvPr>
            <p:ph type="title"/>
          </p:nvPr>
        </p:nvSpPr>
        <p:spPr/>
        <p:txBody>
          <a:bodyPr/>
          <a:lstStyle/>
          <a:p>
            <a:r>
              <a:rPr lang="en-US" dirty="0"/>
              <a:t>Pipeline Results</a:t>
            </a:r>
          </a:p>
        </p:txBody>
      </p:sp>
      <p:sp>
        <p:nvSpPr>
          <p:cNvPr id="3" name="Content Placeholder 2">
            <a:extLst>
              <a:ext uri="{FF2B5EF4-FFF2-40B4-BE49-F238E27FC236}">
                <a16:creationId xmlns:a16="http://schemas.microsoft.com/office/drawing/2014/main" id="{DCC766F3-1520-3DBC-669C-7724A4D68F24}"/>
              </a:ext>
            </a:extLst>
          </p:cNvPr>
          <p:cNvSpPr>
            <a:spLocks noGrp="1"/>
          </p:cNvSpPr>
          <p:nvPr>
            <p:ph idx="1"/>
          </p:nvPr>
        </p:nvSpPr>
        <p:spPr/>
        <p:txBody>
          <a:bodyPr/>
          <a:lstStyle/>
          <a:p>
            <a:r>
              <a:rPr lang="en-US" dirty="0"/>
              <a:t>The filtering pipeline isolated 9 commercial airports representing 12 carrier-exclusive screening environments, achieving complete balance across legacy airlines and operational clusters</a:t>
            </a:r>
            <a:r>
              <a:rPr lang="en-US" dirty="0">
                <a:effectLst/>
              </a:rPr>
              <a:t> </a:t>
            </a:r>
          </a:p>
          <a:p>
            <a:pPr lvl="1"/>
            <a:r>
              <a:rPr lang="en-US" dirty="0"/>
              <a:t>Behavior differences</a:t>
            </a:r>
          </a:p>
          <a:p>
            <a:pPr lvl="2"/>
            <a:r>
              <a:rPr lang="en-US" dirty="0"/>
              <a:t>High flight movement density</a:t>
            </a:r>
          </a:p>
          <a:p>
            <a:pPr lvl="2"/>
            <a:r>
              <a:rPr lang="en-US" dirty="0"/>
              <a:t>Heightened operational disruption</a:t>
            </a:r>
          </a:p>
          <a:p>
            <a:pPr lvl="2"/>
            <a:r>
              <a:rPr lang="en-US" dirty="0"/>
              <a:t>Higher local originating passenger share and absolute local originating volume</a:t>
            </a:r>
          </a:p>
          <a:p>
            <a:pPr lvl="2"/>
            <a:r>
              <a:rPr lang="en-US" dirty="0"/>
              <a:t>This confirms screening queues across the cohort are governed by </a:t>
            </a:r>
            <a:r>
              <a:rPr lang="en-US" dirty="0" err="1"/>
              <a:t>landsire</a:t>
            </a:r>
            <a:r>
              <a:rPr lang="en-US" dirty="0"/>
              <a:t> passenger shop up curve </a:t>
            </a:r>
            <a:r>
              <a:rPr lang="en-US" dirty="0" err="1"/>
              <a:t>sinstead</a:t>
            </a:r>
            <a:r>
              <a:rPr lang="en-US" dirty="0"/>
              <a:t> of transfers</a:t>
            </a:r>
          </a:p>
          <a:p>
            <a:pPr lvl="1"/>
            <a:r>
              <a:rPr lang="en-US" dirty="0"/>
              <a:t>Seasonal and day of week differences</a:t>
            </a:r>
          </a:p>
        </p:txBody>
      </p:sp>
    </p:spTree>
    <p:extLst>
      <p:ext uri="{BB962C8B-B14F-4D97-AF65-F5344CB8AC3E}">
        <p14:creationId xmlns:p14="http://schemas.microsoft.com/office/powerpoint/2010/main" val="37826071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B4669-9FB3-8280-8F23-5E536CECD4F4}"/>
              </a:ext>
            </a:extLst>
          </p:cNvPr>
          <p:cNvSpPr>
            <a:spLocks noGrp="1"/>
          </p:cNvSpPr>
          <p:nvPr>
            <p:ph type="title"/>
          </p:nvPr>
        </p:nvSpPr>
        <p:spPr/>
        <p:txBody>
          <a:bodyPr/>
          <a:lstStyle/>
          <a:p>
            <a:r>
              <a:rPr lang="en-US" dirty="0"/>
              <a:t>Implications for model development</a:t>
            </a:r>
          </a:p>
        </p:txBody>
      </p:sp>
      <p:sp>
        <p:nvSpPr>
          <p:cNvPr id="3" name="Content Placeholder 2">
            <a:extLst>
              <a:ext uri="{FF2B5EF4-FFF2-40B4-BE49-F238E27FC236}">
                <a16:creationId xmlns:a16="http://schemas.microsoft.com/office/drawing/2014/main" id="{135BDFA9-C35F-CBA7-6360-EDD685BEDA3C}"/>
              </a:ext>
            </a:extLst>
          </p:cNvPr>
          <p:cNvSpPr>
            <a:spLocks noGrp="1"/>
          </p:cNvSpPr>
          <p:nvPr>
            <p:ph idx="1"/>
          </p:nvPr>
        </p:nvSpPr>
        <p:spPr/>
        <p:txBody>
          <a:bodyPr/>
          <a:lstStyle/>
          <a:p>
            <a:r>
              <a:rPr lang="en-US" dirty="0"/>
              <a:t>Single carrier screening complex isolation</a:t>
            </a:r>
          </a:p>
          <a:p>
            <a:r>
              <a:rPr lang="en-US" dirty="0"/>
              <a:t>Connecting passenger deflation</a:t>
            </a:r>
          </a:p>
          <a:p>
            <a:r>
              <a:rPr lang="en-US" dirty="0"/>
              <a:t>Strict prior hour info availability</a:t>
            </a:r>
          </a:p>
          <a:p>
            <a:r>
              <a:rPr lang="en-US" dirty="0"/>
              <a:t>Zero bounded and hurdle formulations</a:t>
            </a:r>
          </a:p>
        </p:txBody>
      </p:sp>
    </p:spTree>
    <p:extLst>
      <p:ext uri="{BB962C8B-B14F-4D97-AF65-F5344CB8AC3E}">
        <p14:creationId xmlns:p14="http://schemas.microsoft.com/office/powerpoint/2010/main" val="557082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6877E-F76C-462C-D602-FA0C7C76A851}"/>
              </a:ext>
            </a:extLst>
          </p:cNvPr>
          <p:cNvSpPr>
            <a:spLocks noGrp="1"/>
          </p:cNvSpPr>
          <p:nvPr>
            <p:ph type="title"/>
          </p:nvPr>
        </p:nvSpPr>
        <p:spPr/>
        <p:txBody>
          <a:bodyPr/>
          <a:lstStyle/>
          <a:p>
            <a:r>
              <a:rPr lang="en-US" dirty="0"/>
              <a:t>Model Execution and Performance</a:t>
            </a:r>
          </a:p>
        </p:txBody>
      </p:sp>
      <p:sp>
        <p:nvSpPr>
          <p:cNvPr id="3" name="Content Placeholder 2">
            <a:extLst>
              <a:ext uri="{FF2B5EF4-FFF2-40B4-BE49-F238E27FC236}">
                <a16:creationId xmlns:a16="http://schemas.microsoft.com/office/drawing/2014/main" id="{3B50A02B-D17B-F739-10FB-B286F4155526}"/>
              </a:ext>
            </a:extLst>
          </p:cNvPr>
          <p:cNvSpPr>
            <a:spLocks noGrp="1"/>
          </p:cNvSpPr>
          <p:nvPr>
            <p:ph idx="1"/>
          </p:nvPr>
        </p:nvSpPr>
        <p:spPr/>
        <p:txBody>
          <a:bodyPr/>
          <a:lstStyle/>
          <a:p>
            <a:r>
              <a:rPr lang="en-US" dirty="0"/>
              <a:t>Feature engineering</a:t>
            </a:r>
          </a:p>
          <a:p>
            <a:r>
              <a:rPr lang="en-US" dirty="0"/>
              <a:t>Training (description for each model)</a:t>
            </a:r>
          </a:p>
          <a:p>
            <a:r>
              <a:rPr lang="en-US" dirty="0"/>
              <a:t>Testing – evaluated against the primary thesis target of diurnal throughput volatility</a:t>
            </a:r>
          </a:p>
          <a:p>
            <a:endParaRPr lang="en-US" dirty="0"/>
          </a:p>
          <a:p>
            <a:endParaRPr lang="en-US" dirty="0"/>
          </a:p>
        </p:txBody>
      </p:sp>
    </p:spTree>
    <p:extLst>
      <p:ext uri="{BB962C8B-B14F-4D97-AF65-F5344CB8AC3E}">
        <p14:creationId xmlns:p14="http://schemas.microsoft.com/office/powerpoint/2010/main" val="1444488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7493D-5494-B93C-82C5-98CF9B0BEE77}"/>
              </a:ext>
            </a:extLst>
          </p:cNvPr>
          <p:cNvSpPr>
            <a:spLocks noGrp="1"/>
          </p:cNvSpPr>
          <p:nvPr>
            <p:ph type="title"/>
          </p:nvPr>
        </p:nvSpPr>
        <p:spPr/>
        <p:txBody>
          <a:bodyPr/>
          <a:lstStyle/>
          <a:p>
            <a:r>
              <a:rPr lang="en-US" dirty="0"/>
              <a:t>Model Development implications for how to interpret final results</a:t>
            </a:r>
          </a:p>
        </p:txBody>
      </p:sp>
      <p:sp>
        <p:nvSpPr>
          <p:cNvPr id="3" name="Content Placeholder 2">
            <a:extLst>
              <a:ext uri="{FF2B5EF4-FFF2-40B4-BE49-F238E27FC236}">
                <a16:creationId xmlns:a16="http://schemas.microsoft.com/office/drawing/2014/main" id="{0A093465-DA55-3476-82D3-031ABA11D345}"/>
              </a:ext>
            </a:extLst>
          </p:cNvPr>
          <p:cNvSpPr>
            <a:spLocks noGrp="1"/>
          </p:cNvSpPr>
          <p:nvPr>
            <p:ph idx="1"/>
          </p:nvPr>
        </p:nvSpPr>
        <p:spPr/>
        <p:txBody>
          <a:bodyPr/>
          <a:lstStyle/>
          <a:p>
            <a:r>
              <a:rPr lang="en-US" dirty="0"/>
              <a:t>Dispersion Scale vs. Volume Scale</a:t>
            </a:r>
            <a:r>
              <a:rPr lang="en-US" dirty="0">
                <a:effectLst/>
              </a:rPr>
              <a:t> </a:t>
            </a:r>
          </a:p>
          <a:p>
            <a:r>
              <a:rPr lang="en-US" dirty="0"/>
              <a:t>MASE as the Primary Standard for Volatility Forecasting</a:t>
            </a:r>
          </a:p>
          <a:p>
            <a:r>
              <a:rPr lang="en-US" dirty="0"/>
              <a:t>Conformal Staffing Buffers</a:t>
            </a:r>
          </a:p>
        </p:txBody>
      </p:sp>
    </p:spTree>
    <p:extLst>
      <p:ext uri="{BB962C8B-B14F-4D97-AF65-F5344CB8AC3E}">
        <p14:creationId xmlns:p14="http://schemas.microsoft.com/office/powerpoint/2010/main" val="867445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4D596-76D5-6660-8EDC-EF5289705BE5}"/>
              </a:ext>
            </a:extLst>
          </p:cNvPr>
          <p:cNvSpPr>
            <a:spLocks noGrp="1"/>
          </p:cNvSpPr>
          <p:nvPr>
            <p:ph type="title"/>
          </p:nvPr>
        </p:nvSpPr>
        <p:spPr/>
        <p:txBody>
          <a:bodyPr/>
          <a:lstStyle/>
          <a:p>
            <a:r>
              <a:rPr lang="en-US" dirty="0"/>
              <a:t>Model Performance</a:t>
            </a:r>
          </a:p>
        </p:txBody>
      </p:sp>
      <p:sp>
        <p:nvSpPr>
          <p:cNvPr id="3" name="Content Placeholder 2">
            <a:extLst>
              <a:ext uri="{FF2B5EF4-FFF2-40B4-BE49-F238E27FC236}">
                <a16:creationId xmlns:a16="http://schemas.microsoft.com/office/drawing/2014/main" id="{3905AB84-F78E-47FC-AB96-2ED3D2240E39}"/>
              </a:ext>
            </a:extLst>
          </p:cNvPr>
          <p:cNvSpPr>
            <a:spLocks noGrp="1"/>
          </p:cNvSpPr>
          <p:nvPr>
            <p:ph idx="1"/>
          </p:nvPr>
        </p:nvSpPr>
        <p:spPr/>
        <p:txBody>
          <a:bodyPr/>
          <a:lstStyle/>
          <a:p>
            <a:r>
              <a:rPr lang="en-US" dirty="0"/>
              <a:t>Model 1 is a starting point</a:t>
            </a:r>
          </a:p>
          <a:p>
            <a:r>
              <a:rPr lang="en-US" dirty="0"/>
              <a:t>Model 2 improves accuracy but incorporating flight disruptions and cutting forecast error </a:t>
            </a:r>
          </a:p>
          <a:p>
            <a:r>
              <a:rPr lang="en-US" dirty="0"/>
              <a:t>Model 3 incorporate live prior our error feedback has the highest overall holdout fit, helps for sever weather and delayed travelers in lobbies. </a:t>
            </a:r>
          </a:p>
        </p:txBody>
      </p:sp>
    </p:spTree>
    <p:extLst>
      <p:ext uri="{BB962C8B-B14F-4D97-AF65-F5344CB8AC3E}">
        <p14:creationId xmlns:p14="http://schemas.microsoft.com/office/powerpoint/2010/main" val="674787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E4125-3981-A2B5-C552-292CE19F5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26504-9043-750C-677B-6151E04EA8BE}"/>
              </a:ext>
            </a:extLst>
          </p:cNvPr>
          <p:cNvSpPr>
            <a:spLocks noGrp="1"/>
          </p:cNvSpPr>
          <p:nvPr>
            <p:ph type="title"/>
          </p:nvPr>
        </p:nvSpPr>
        <p:spPr/>
        <p:txBody>
          <a:bodyPr/>
          <a:lstStyle/>
          <a:p>
            <a:r>
              <a:rPr lang="en-US" dirty="0"/>
              <a:t>Model Results Evaluation - hypothesis</a:t>
            </a:r>
          </a:p>
        </p:txBody>
      </p:sp>
      <p:sp>
        <p:nvSpPr>
          <p:cNvPr id="3" name="Content Placeholder 2">
            <a:extLst>
              <a:ext uri="{FF2B5EF4-FFF2-40B4-BE49-F238E27FC236}">
                <a16:creationId xmlns:a16="http://schemas.microsoft.com/office/drawing/2014/main" id="{8FE02933-A329-511E-A975-D41A3F168D80}"/>
              </a:ext>
            </a:extLst>
          </p:cNvPr>
          <p:cNvSpPr>
            <a:spLocks noGrp="1"/>
          </p:cNvSpPr>
          <p:nvPr>
            <p:ph idx="1"/>
          </p:nvPr>
        </p:nvSpPr>
        <p:spPr/>
        <p:txBody>
          <a:bodyPr>
            <a:normAutofit lnSpcReduction="10000"/>
          </a:bodyPr>
          <a:lstStyle/>
          <a:p>
            <a:pPr lvl="0"/>
            <a:r>
              <a:rPr lang="en-US" dirty="0"/>
              <a:t>Robustness: Evaluates how accurately the model forecasts passenger flow during routine, normal operations when flights are on time (target: MASE &lt; 0.700, lowest RMSE).</a:t>
            </a:r>
          </a:p>
          <a:p>
            <a:pPr lvl="0"/>
            <a:r>
              <a:rPr lang="en-US" dirty="0"/>
              <a:t>Resilience: Evaluates how well the model maintains accuracy during severe flight disruptions, such as severe weather ground stops or de-icing halts (target: shock error ratio near 1.00, lowest shock RMSE, and recovery time under 3 hours).</a:t>
            </a:r>
          </a:p>
          <a:p>
            <a:pPr lvl="0"/>
            <a:r>
              <a:rPr lang="en-US" dirty="0"/>
              <a:t>Generalizability: Evaluates whether a model calibrated on source airports can be deployed to an unfamiliar target airport without retraining (target: transfer error degradation under 10%).</a:t>
            </a:r>
          </a:p>
          <a:p>
            <a:r>
              <a:rPr lang="en-US" dirty="0"/>
              <a:t>Table 4.7 presents the formal multi-pillar hypothesis evaluation </a:t>
            </a:r>
          </a:p>
        </p:txBody>
      </p:sp>
    </p:spTree>
    <p:extLst>
      <p:ext uri="{BB962C8B-B14F-4D97-AF65-F5344CB8AC3E}">
        <p14:creationId xmlns:p14="http://schemas.microsoft.com/office/powerpoint/2010/main" val="1759141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A2DE8-E9C9-25E3-3376-3FC70CC5C760}"/>
              </a:ext>
            </a:extLst>
          </p:cNvPr>
          <p:cNvSpPr>
            <a:spLocks noGrp="1"/>
          </p:cNvSpPr>
          <p:nvPr>
            <p:ph type="title"/>
          </p:nvPr>
        </p:nvSpPr>
        <p:spPr/>
        <p:txBody>
          <a:bodyPr/>
          <a:lstStyle/>
          <a:p>
            <a:r>
              <a:rPr lang="en-US" dirty="0"/>
              <a:t>Discussion and Analysis of Results</a:t>
            </a:r>
          </a:p>
        </p:txBody>
      </p:sp>
      <p:sp>
        <p:nvSpPr>
          <p:cNvPr id="3" name="Content Placeholder 2">
            <a:extLst>
              <a:ext uri="{FF2B5EF4-FFF2-40B4-BE49-F238E27FC236}">
                <a16:creationId xmlns:a16="http://schemas.microsoft.com/office/drawing/2014/main" id="{F1F2917A-9704-C7F0-0EEC-0032881FA566}"/>
              </a:ext>
            </a:extLst>
          </p:cNvPr>
          <p:cNvSpPr>
            <a:spLocks noGrp="1"/>
          </p:cNvSpPr>
          <p:nvPr>
            <p:ph idx="1"/>
          </p:nvPr>
        </p:nvSpPr>
        <p:spPr/>
        <p:txBody>
          <a:bodyPr/>
          <a:lstStyle/>
          <a:p>
            <a:r>
              <a:rPr lang="en-US" dirty="0"/>
              <a:t>Spatial architecture and passenger behavuor4al dynamics</a:t>
            </a:r>
          </a:p>
          <a:p>
            <a:r>
              <a:rPr lang="en-US" dirty="0"/>
              <a:t>Connecting passenger shielding</a:t>
            </a:r>
          </a:p>
          <a:p>
            <a:r>
              <a:rPr lang="en-US" dirty="0"/>
              <a:t>Terminal complex aggregation</a:t>
            </a:r>
          </a:p>
          <a:p>
            <a:r>
              <a:rPr lang="en-US" dirty="0"/>
              <a:t>Invariance across layouts</a:t>
            </a:r>
          </a:p>
          <a:p>
            <a:r>
              <a:rPr lang="en-US" dirty="0"/>
              <a:t>Training and </a:t>
            </a:r>
            <a:r>
              <a:rPr lang="en-US" dirty="0" err="1"/>
              <a:t>showup</a:t>
            </a:r>
            <a:r>
              <a:rPr lang="en-US" dirty="0"/>
              <a:t> dynamics</a:t>
            </a:r>
          </a:p>
          <a:p>
            <a:r>
              <a:rPr lang="en-US" dirty="0"/>
              <a:t>Empirical evaluation of each performance measure</a:t>
            </a:r>
          </a:p>
        </p:txBody>
      </p:sp>
    </p:spTree>
    <p:extLst>
      <p:ext uri="{BB962C8B-B14F-4D97-AF65-F5344CB8AC3E}">
        <p14:creationId xmlns:p14="http://schemas.microsoft.com/office/powerpoint/2010/main" val="27400697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84B09-B3F6-B8C4-A717-471D58EB9CB9}"/>
              </a:ext>
            </a:extLst>
          </p:cNvPr>
          <p:cNvSpPr>
            <a:spLocks noGrp="1"/>
          </p:cNvSpPr>
          <p:nvPr>
            <p:ph type="title"/>
          </p:nvPr>
        </p:nvSpPr>
        <p:spPr/>
        <p:txBody>
          <a:bodyPr/>
          <a:lstStyle/>
          <a:p>
            <a:r>
              <a:rPr lang="en-US" dirty="0"/>
              <a:t>Real World Application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E1CCE8B-49B1-ED41-76A0-5887BE37A1B9}"/>
                  </a:ext>
                </a:extLst>
              </p:cNvPr>
              <p:cNvSpPr>
                <a:spLocks noGrp="1"/>
              </p:cNvSpPr>
              <p:nvPr>
                <p:ph idx="1"/>
              </p:nvPr>
            </p:nvSpPr>
            <p:spPr/>
            <p:txBody>
              <a:bodyPr>
                <a:normAutofit fontScale="92500"/>
              </a:bodyPr>
              <a:lstStyle/>
              <a:p>
                <a:pPr lvl="0"/>
                <a:r>
                  <a:rPr lang="en-US" b="1" dirty="0"/>
                  <a:t>Dynamic Checkpoint Allocation</a:t>
                </a:r>
                <a:r>
                  <a:rPr lang="en-US" dirty="0"/>
                  <a:t>: Checkpoint staffing models should replace static time-of-day tables with empirical lead-lag passenger show-up schedules conditioned on flight bank volatility.</a:t>
                </a:r>
              </a:p>
              <a:p>
                <a:pPr lvl="0"/>
                <a:r>
                  <a:rPr lang="en-US" b="1" dirty="0"/>
                  <a:t>Connecting Ratio Integration</a:t>
                </a:r>
                <a:r>
                  <a:rPr lang="en-US" dirty="0"/>
                  <a:t>: Centralized security operations must dynamically scale demand using airline O&amp;D survey ratios to avoid over-allocating screening lanes at connecting hubs.</a:t>
                </a:r>
              </a:p>
              <a:p>
                <a:pPr lvl="0"/>
                <a:r>
                  <a:rPr lang="en-US" b="1" dirty="0"/>
                  <a:t>Deployment of Two-Stage Hybrid Estimators</a:t>
                </a:r>
                <a:r>
                  <a:rPr lang="en-US" dirty="0"/>
                  <a:t>: Airport operations centers should adopt the regime-switched framework that utilizes interpretable decision-tree models for routine staffing while incorporating live checkpoint throughput feedback (</a:t>
                </a:r>
                <a14:m>
                  <m:oMath xmlns:m="http://schemas.openxmlformats.org/officeDocument/2006/math">
                    <m:r>
                      <a:rPr lang="en-US" i="1"/>
                      <m:t>𝑡</m:t>
                    </m:r>
                    <m:r>
                      <a:rPr lang="en-US" i="1"/>
                      <m:t>−1</m:t>
                    </m:r>
                  </m:oMath>
                </a14:m>
                <a:r>
                  <a:rPr lang="en-US" dirty="0"/>
                  <a:t>) during severe convective ground stop disruptions.</a:t>
                </a:r>
              </a:p>
              <a:p>
                <a:endParaRPr lang="en-US" dirty="0"/>
              </a:p>
            </p:txBody>
          </p:sp>
        </mc:Choice>
        <mc:Fallback>
          <p:sp>
            <p:nvSpPr>
              <p:cNvPr id="3" name="Content Placeholder 2">
                <a:extLst>
                  <a:ext uri="{FF2B5EF4-FFF2-40B4-BE49-F238E27FC236}">
                    <a16:creationId xmlns:a16="http://schemas.microsoft.com/office/drawing/2014/main" id="{7E1CCE8B-49B1-ED41-76A0-5887BE37A1B9}"/>
                  </a:ext>
                </a:extLst>
              </p:cNvPr>
              <p:cNvSpPr>
                <a:spLocks noGrp="1" noRot="1" noChangeAspect="1" noMove="1" noResize="1" noEditPoints="1" noAdjustHandles="1" noChangeArrowheads="1" noChangeShapeType="1" noTextEdit="1"/>
              </p:cNvSpPr>
              <p:nvPr>
                <p:ph idx="1"/>
              </p:nvPr>
            </p:nvSpPr>
            <p:spPr>
              <a:blipFill>
                <a:blip r:embed="rId2"/>
                <a:stretch>
                  <a:fillRect l="-965" t="-2035" b="-1744"/>
                </a:stretch>
              </a:blipFill>
            </p:spPr>
            <p:txBody>
              <a:bodyPr/>
              <a:lstStyle/>
              <a:p>
                <a:r>
                  <a:rPr lang="en-US">
                    <a:noFill/>
                  </a:rPr>
                  <a:t> </a:t>
                </a:r>
              </a:p>
            </p:txBody>
          </p:sp>
        </mc:Fallback>
      </mc:AlternateContent>
    </p:spTree>
    <p:extLst>
      <p:ext uri="{BB962C8B-B14F-4D97-AF65-F5344CB8AC3E}">
        <p14:creationId xmlns:p14="http://schemas.microsoft.com/office/powerpoint/2010/main" val="927286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5C26F-F5A6-9D65-BF26-730732523A8F}"/>
              </a:ext>
            </a:extLst>
          </p:cNvPr>
          <p:cNvSpPr>
            <a:spLocks noGrp="1"/>
          </p:cNvSpPr>
          <p:nvPr>
            <p:ph type="title"/>
          </p:nvPr>
        </p:nvSpPr>
        <p:spPr/>
        <p:txBody>
          <a:bodyPr/>
          <a:lstStyle/>
          <a:p>
            <a:r>
              <a:rPr lang="en-US" dirty="0"/>
              <a:t>Recommendations for future research</a:t>
            </a:r>
          </a:p>
        </p:txBody>
      </p:sp>
      <p:sp>
        <p:nvSpPr>
          <p:cNvPr id="3" name="Content Placeholder 2">
            <a:extLst>
              <a:ext uri="{FF2B5EF4-FFF2-40B4-BE49-F238E27FC236}">
                <a16:creationId xmlns:a16="http://schemas.microsoft.com/office/drawing/2014/main" id="{7E5241A6-1084-C1F4-309E-B14C467DB15A}"/>
              </a:ext>
            </a:extLst>
          </p:cNvPr>
          <p:cNvSpPr>
            <a:spLocks noGrp="1"/>
          </p:cNvSpPr>
          <p:nvPr>
            <p:ph idx="1"/>
          </p:nvPr>
        </p:nvSpPr>
        <p:spPr/>
        <p:txBody>
          <a:bodyPr/>
          <a:lstStyle/>
          <a:p>
            <a:r>
              <a:rPr lang="en-US" dirty="0"/>
              <a:t>Airline or airport specific</a:t>
            </a:r>
          </a:p>
          <a:p>
            <a:r>
              <a:rPr lang="en-US" dirty="0"/>
              <a:t>Add variables such as online search</a:t>
            </a:r>
          </a:p>
          <a:p>
            <a:r>
              <a:rPr lang="en-US" dirty="0"/>
              <a:t>Get granular with lanes</a:t>
            </a:r>
          </a:p>
          <a:p>
            <a:r>
              <a:rPr lang="en-US" dirty="0"/>
              <a:t>Test multiple hybrid approaches</a:t>
            </a:r>
          </a:p>
          <a:p>
            <a:endParaRPr lang="en-US" dirty="0"/>
          </a:p>
        </p:txBody>
      </p:sp>
    </p:spTree>
    <p:extLst>
      <p:ext uri="{BB962C8B-B14F-4D97-AF65-F5344CB8AC3E}">
        <p14:creationId xmlns:p14="http://schemas.microsoft.com/office/powerpoint/2010/main" val="15636096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748F-BCDD-3132-479B-8059055D4D50}"/>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83133CB-65A3-2AE8-CB3E-DCB3CB1E75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93092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A2636C6-663F-3748-9BB0-183814BCD315}">
  <we:reference id="WA200007130" version="1.0.0.1" store="Omex"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712</TotalTime>
  <Words>2377</Words>
  <Application>Microsoft Macintosh PowerPoint</Application>
  <PresentationFormat>Widescreen</PresentationFormat>
  <Paragraphs>154</Paragraphs>
  <Slides>32</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Aptos Display</vt:lpstr>
      <vt:lpstr>Arial</vt:lpstr>
      <vt:lpstr>Times New Roman</vt:lpstr>
      <vt:lpstr>Office Theme</vt:lpstr>
      <vt:lpstr>AN EVALUATION OF PERFORMANCE MEASURES FOR PREDICTIVE APPROACHES TO MODEL TSA THROUGHPUT VOLATILITY</vt:lpstr>
      <vt:lpstr>Outline</vt:lpstr>
      <vt:lpstr>Research Problem</vt:lpstr>
      <vt:lpstr>Research Purpose</vt:lpstr>
      <vt:lpstr>Research Question</vt:lpstr>
      <vt:lpstr>Hypothesis</vt:lpstr>
      <vt:lpstr>Dynamic Performance Measures</vt:lpstr>
      <vt:lpstr>Existing Literature - Overview</vt:lpstr>
      <vt:lpstr>Lit – The situation/problem</vt:lpstr>
      <vt:lpstr>Traditional Models</vt:lpstr>
      <vt:lpstr>Shift to Micro Simulation</vt:lpstr>
      <vt:lpstr>Shift to Advanced Predictive Models</vt:lpstr>
      <vt:lpstr>Hybrid Architectures</vt:lpstr>
      <vt:lpstr>Impact of Covid &amp; Volatility</vt:lpstr>
      <vt:lpstr>Importance of Dynamic Performance Measures</vt:lpstr>
      <vt:lpstr>Methodology -Overview</vt:lpstr>
      <vt:lpstr>Methodology - Approach</vt:lpstr>
      <vt:lpstr>Methodology – Design and Procedures</vt:lpstr>
      <vt:lpstr>Methodology - details</vt:lpstr>
      <vt:lpstr>Findings and discussion </vt:lpstr>
      <vt:lpstr>Descriptive statistics for top 25</vt:lpstr>
      <vt:lpstr>Data filtering and subset</vt:lpstr>
      <vt:lpstr>Pipeline Results</vt:lpstr>
      <vt:lpstr>Implications for model development</vt:lpstr>
      <vt:lpstr>Model Execution and Performance</vt:lpstr>
      <vt:lpstr>Model Development implications for how to interpret final results</vt:lpstr>
      <vt:lpstr>Model Performance</vt:lpstr>
      <vt:lpstr>Model Results Evaluation - hypothesis</vt:lpstr>
      <vt:lpstr>Discussion and Analysis of Results</vt:lpstr>
      <vt:lpstr>Real World Application</vt:lpstr>
      <vt:lpstr>Recommendations for future research</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Gleich, Leila</dc:creator>
  <cp:lastModifiedBy>Gleich, Leila</cp:lastModifiedBy>
  <cp:revision>11</cp:revision>
  <dcterms:created xsi:type="dcterms:W3CDTF">2026-10-13T02:22:29Z</dcterms:created>
  <dcterms:modified xsi:type="dcterms:W3CDTF">2026-10-13T14:14:57Z</dcterms:modified>
</cp:coreProperties>
</file>