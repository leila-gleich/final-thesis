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523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ich, Leila" userId="59b27017-6fc6-4403-bb5c-429e2df4ed1b" providerId="ADAL" clId="{0FC391F2-7F15-5E52-A508-197EA8BE4FFC}"/>
    <pc:docChg chg="modSld">
      <pc:chgData name="Gleich, Leila" userId="59b27017-6fc6-4403-bb5c-429e2df4ed1b" providerId="ADAL" clId="{0FC391F2-7F15-5E52-A508-197EA8BE4FFC}" dt="2026-10-14T18:50:12.014" v="0" actId="2711"/>
      <pc:docMkLst>
        <pc:docMk/>
      </pc:docMkLst>
      <pc:sldChg chg="modSp mod">
        <pc:chgData name="Gleich, Leila" userId="59b27017-6fc6-4403-bb5c-429e2df4ed1b" providerId="ADAL" clId="{0FC391F2-7F15-5E52-A508-197EA8BE4FFC}" dt="2026-10-14T18:50:12.014" v="0" actId="2711"/>
        <pc:sldMkLst>
          <pc:docMk/>
          <pc:sldMk cId="0" sldId="261"/>
        </pc:sldMkLst>
        <pc:spChg chg="mod">
          <ac:chgData name="Gleich, Leila" userId="59b27017-6fc6-4403-bb5c-429e2df4ed1b" providerId="ADAL" clId="{0FC391F2-7F15-5E52-A508-197EA8BE4FFC}" dt="2026-10-14T18:50:12.014" v="0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Gleich, Leila" userId="59b27017-6fc6-4403-bb5c-429e2df4ed1b" providerId="ADAL" clId="{0FC391F2-7F15-5E52-A508-197EA8BE4FFC}" dt="2026-10-14T18:50:12.014" v="0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Gleich, Leila" userId="59b27017-6fc6-4403-bb5c-429e2df4ed1b" providerId="ADAL" clId="{0FC391F2-7F15-5E52-A508-197EA8BE4FFC}" dt="2026-10-14T18:50:12.014" v="0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Gleich, Leila" userId="59b27017-6fc6-4403-bb5c-429e2df4ed1b" providerId="ADAL" clId="{0FC391F2-7F15-5E52-A508-197EA8BE4FFC}" dt="2026-10-14T18:50:12.014" v="0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Gleich, Leila" userId="59b27017-6fc6-4403-bb5c-429e2df4ed1b" providerId="ADAL" clId="{0FC391F2-7F15-5E52-A508-197EA8BE4FFC}" dt="2026-10-14T18:50:12.014" v="0" actId="2711"/>
          <ac:spMkLst>
            <pc:docMk/>
            <pc:sldMk cId="0" sldId="26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EMBRY-RIDDLE AERONAUTICAL UNIVERSITY  |  GRADUATE THESIS DEFENSE</a:t>
            </a:r>
          </a:p>
          <a:p>
            <a:pPr>
              <a:spcBef>
                <a:spcPts val="1400"/>
              </a:spcBef>
              <a:spcAft>
                <a:spcPts val="1600"/>
              </a:spcAft>
              <a:defRPr sz="3800" b="1">
                <a:solidFill>
                  <a:srgbClr val="0A2240"/>
                </a:solidFill>
                <a:latin typeface="Calibri"/>
              </a:defRPr>
            </a:pPr>
            <a:r>
              <a:t>Evaluating Predictive Techniques to Model</a:t>
            </a:r>
            <a:br/>
            <a:r>
              <a:t>Stochastic Airport Passenger Flow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An Evaluation of Multi-Pillar Performance Measures for TSA Throughput Volatility</a:t>
            </a:r>
          </a:p>
          <a:p>
            <a:pPr>
              <a:spcBef>
                <a:spcPts val="36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Candidate: Leila Gleich  ·  Master of Science in Aeronautics (MSAA / Gleich 700B)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EXECUTIVE ROADMAP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Defense Presentation Roadmap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25-Minute Structured Oral Examination across Six Operational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Research Problem &amp; Hypotheses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Kingman queuing friction, volatility targeting, and Asymmetric Trade-Offs (H1)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Literature &amp; Theoretical Evolution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Evolution from deterministic schedules and simulation to ML and dynamic 2-stage hybrids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Econometric Data Pipeline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4-tier filtering funnel, DB1B connecting deflation, and carrier checkpoint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Empirical Volatility Findings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Values vs. Volatility coupling (R² = 19.1%), 4 annual seasons, and bimodal diurnal peaks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402336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Model Execution &amp; Benchmarks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Certified 2025 holdouts: Robustness, Resilience (IROPS shocks), and Generalizability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402336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Operational Implementation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Regime-switched gated inference playbook and dynamic checkpoint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THEORETICAL FOUNDATION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Terminal Queuing Problem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Why Static Volume Staffing Fails Under Stochastic Arrival Burstiness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KINGMAN'S HEAVY-TRAFFIC QUEUING APPROXIMATION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W_q  ≈  ( ρ / (1 - ρ) ) · ( (C_a² + C_s²) / 2 ) · ( 1 / μ )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Key Operational Implications:</a:t>
            </a:r>
            <a:br/>
            <a:br/>
            <a:r>
              <a:t>1. Delay scales quadratically with arrival volatility (C_a²), not volume.</a:t>
            </a:r>
            <a:br/>
            <a:br/>
            <a:r>
              <a:t>2. As lane utilization ρ approaches 1.0, variance bursts cause exponential delay spikes.</a:t>
            </a:r>
            <a:br/>
            <a:br/>
            <a:r>
              <a:t>3. Static hourly passenger counts completely mask heavy-traffic queuing friction.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120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OPERATIONAL REALITY</a:t>
            </a:r>
          </a:p>
          <a:p>
            <a:pPr>
              <a:spcBef>
                <a:spcPts val="3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Inflexible Security Infrastructure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Physical screening lanes (AIT body scanners, baggage X-ray, TSO staffing) cannot expand dynamically in real time. Static historical tables leave checkpoints chronically mismatched to flight bank surges.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069080"/>
            <a:ext cx="5212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THE STOCHASTIC MECHANISM</a:t>
            </a:r>
          </a:p>
          <a:p>
            <a:pPr>
              <a:spcBef>
                <a:spcPts val="3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Passenger Arrivals Lead, Flight Delays Lag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Passengers show up 2 hours ahead of scheduled flight departures. Downline aircraft delays accumulate in late afternoon banks. Modeling this temporal asynchrony requires capturing variance, not static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RESEARCH FORMULATION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Research Purpose &amp; Operational Objectives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Transforming Terminal Security from Static Accounting to Stochastic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OBJECTIVE 1</a:t>
            </a:r>
          </a:p>
          <a:p>
            <a:pPr>
              <a:spcBef>
                <a:spcPts val="800"/>
              </a:spcBef>
              <a:defRPr sz="1800" b="1">
                <a:solidFill>
                  <a:srgbClr val="0A2240"/>
                </a:solidFill>
                <a:latin typeface="Calibri"/>
              </a:defRPr>
            </a:pPr>
            <a:r>
              <a:t>Target Throughput Volatility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Pivot from static volume (y_t) to volatility targets: diurnal dispersion (σ_TSA) and scale-free burstiness (CV_TSA = σ/μ).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OBJECTIVE 2</a:t>
            </a:r>
          </a:p>
          <a:p>
            <a:pPr>
              <a:spcBef>
                <a:spcPts val="800"/>
              </a:spcBef>
              <a:defRPr sz="1800" b="1">
                <a:solidFill>
                  <a:srgbClr val="0A2240"/>
                </a:solidFill>
                <a:latin typeface="Calibri"/>
              </a:defRPr>
            </a:pPr>
            <a:r>
              <a:t>Comparative Model Suite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Empirically evaluate three distinct paradigms—deterministic schedules, supervised ML, and 2-stage dynamic hybrids—against a persistence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OBJECTIVE 3</a:t>
            </a:r>
          </a:p>
          <a:p>
            <a:pPr>
              <a:spcBef>
                <a:spcPts val="800"/>
              </a:spcBef>
              <a:defRPr sz="1800" b="1">
                <a:solidFill>
                  <a:srgbClr val="0A2240"/>
                </a:solidFill>
                <a:latin typeface="Calibri"/>
              </a:defRPr>
            </a:pPr>
            <a:r>
              <a:t>Context-Aware Optimization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Prove that predictive superiority is contingent upon operational regime: routine flow vs. severe convective disruptions vs. spatial facility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CORE INQUIRY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Primary Research Question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Evaluating Predictive Paradigms Across Competing Operational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RESEARCH QUESTION (RQ₁)</a:t>
            </a:r>
          </a:p>
          <a:p>
            <a:pPr algn="ctr">
              <a:spcBef>
                <a:spcPts val="600"/>
              </a:spcBef>
              <a:defRPr sz="1500">
                <a:solidFill>
                  <a:srgbClr val="0A2240"/>
                </a:solidFill>
                <a:latin typeface="Georgia"/>
              </a:defRPr>
            </a:pPr>
            <a:r>
              <a:t>“Which predictive modeling frameworks—spanning deterministic persistence controls, deterministic schedule baselines, machine learning, and dynamic two-stage hybrids—are most effective for forecasting airport passenger security screening throughput volatility when prioritizing robustness, resilience, or generalizability as the primary operational evaluation metric?”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3017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ROBUSTNESS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Routine Accuracy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Lowest RMSE &amp; MASE &lt; 0.700 under nominal on-time operations (delay &lt; 15m, 0 cancels).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RESILIENCE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Disruption Stability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Multiplier R_MASE ≈ 1.00 &amp; recovery TTR &lt; 4.0h during severe convective IROPS.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19" y="3931920"/>
            <a:ext cx="30175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GENERALIZABILITY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Spatial Portability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Zero-shot transfer error penalty ΔMASE ≤ 10% deployed to new terminal layouts.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2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FORMULATION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Hypothesis: The Asymmetric Trade-Off (H₁)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 Single Predictive Technique is Universally Dominant Across All Operating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MASTER HYPOTHESIS (H₁)</a:t>
            </a:r>
          </a:p>
          <a:p>
            <a:pPr>
              <a:spcBef>
                <a:spcPts val="2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Across the candidate modeling paradigms evaluated, no individual approach will prove superior across all three performance measures (robustness, resilience, and generalizability).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H₁ₐ  ·  Robustness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ACCURACY WINNER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2 (Machine Learning) &amp; Model 3 (Hybrid) achieve MASE &lt; 0.700 under nominal rhythms.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baselines fail due to schedule rigidity.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92608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H₁ᵦ  ·  Resilience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DISRUPTION SHOCK WINNER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Model 3 (Dynamic Hybrid) is the sole model satisfying resilience (R_MASE ≈ 1.05).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Model 2 collapses (R = 2.14) due to the Empty Checkpoint Fallacy.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92608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H₁꜀  ·  Generalizability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ZERO-SHOT TRANSFER WINNER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Model 1 (Deterministic) satisfies transfer targets (RTR = 1.04, ΔMASE = +4.0%).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Model 3 fails (RTR = 1.19, ΔMASE = +21.5%) due to terminal layout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EVALUATIVE TRIO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Multi-Pillar Performance Framework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Evaluating Models Beyond Single-Metric Annual Global Minimization</a:t>
            </a:r>
          </a:p>
        </p:txBody>
      </p:sp>
      <p:pic>
        <p:nvPicPr>
          <p:cNvPr id="3" name="Picture 2" descr="figure_5_1_asymmetric_trade_off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2654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Dimension 1: Robustness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NOMINAL ACCURACY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Lowest RMSE &amp; MASE &lt; 0.700 under on-time baseline operations (delay &lt; 15 min, 0 cancellations). Ensures reliable day-to-day base staffing rosters.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2004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Dimension 2: Resilience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DISRUPTION RECOVERY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Recovery multiplier R_MASE ≈ 1.00 &amp; TTR &lt; 4.0h during severe convective disruptions (delay ≥ 45 min, cancels ≥ 5). Prevents lobby gridlock.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75488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1300" b="1">
                <a:solidFill>
                  <a:srgbClr val="0A2240"/>
                </a:solidFill>
                <a:latin typeface="Calibri"/>
              </a:defRPr>
            </a:pPr>
            <a:r>
              <a:t>Dimension 3: Generalizability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Calibri"/>
              </a:defRPr>
            </a:pPr>
            <a:r>
              <a:t>SPATIAL PORTABILITY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Zero-shot transfer ratio RTR ≤ 1.05 &amp; error penalty ΔMASE ≤ 10% deployed to new airports without local retraining.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THEORETICAL EVOLUTION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Evolution of Terminal Flow Literature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Bridging the Historical Divide Between Airside Operations and Landside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5374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1990s  ·  Deterministic Schedules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Flight bank seat convolution; assumes 100% on-time departures.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1860" y="1645920"/>
            <a:ext cx="25374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2000s  ·  Micro-Simulation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Agent-based passenger paths; detailed layout but high latency.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645920"/>
            <a:ext cx="25374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2015+  ·  Supervised ML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Decision trees with delay covariates; low routine error, brittle in shocks.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2540" y="1645920"/>
            <a:ext cx="2537460" cy="10058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Today  ·  Two-Stage Hybrids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Schedule baseline + live floor feedback; resilient to disruptions.</a:t>
            </a:r>
          </a:p>
        </p:txBody>
      </p:sp>
      <p:pic>
        <p:nvPicPr>
          <p:cNvPr id="7" name="Picture 6" descr="models and 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926080"/>
            <a:ext cx="4828426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LITERATURE GAP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Static Fallacy in Terminal Modeling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Why Aggregate Passenger Headcounts Fail to Capture Heavy-Traffic Congestion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SCALE-FREE VOLATILITY METRIC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CV_TSA  =  σ_TSA / μ_TSA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Scale-Free Arrival Burstiness:</a:t>
            </a:r>
            <a:br/>
            <a:br/>
            <a:r>
              <a:t>• Normalizes arrival volatility across mega-hubs and regional terminals.</a:t>
            </a:r>
            <a:br/>
            <a:br/>
            <a:r>
              <a:t>• Static volume (y_t) correlates negligibly with flight delays (R² = 2.5%).</a:t>
            </a:r>
            <a:br/>
            <a:br/>
            <a:r>
              <a:t>• Volatility metrics correlate tightly with delay dispersion (R² = 19.1%, r = +0.4373).</a:t>
            </a:r>
          </a:p>
        </p:txBody>
      </p:sp>
      <p:pic>
        <p:nvPicPr>
          <p:cNvPr id="4" name="Picture 3" descr="OTP 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0347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LITERATURE BREAKDOWN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Deterministic Flight Schedules &amp; Classical Queueing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The Operational Baseline: Convolving Scheduled Flight Banks (Model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DETERMINISTIC SCHEDULE CONVOLUTION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Ŷ_t  =  ∑ [Seats_i · (1 - S_connect) · P(t - DEP_i)]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Empirical Passenger Show-Up Dynamics:</a:t>
            </a:r>
            <a:br/>
            <a:br/>
            <a:r>
              <a:t>• Convolves scheduled departure times DEP_i over empirical show-up curves P(τ).</a:t>
            </a:r>
            <a:br/>
            <a:br/>
            <a:r>
              <a:t>• Strengths: 100% transparent, zero calibration compute, highly interpretable.</a:t>
            </a:r>
            <a:br/>
            <a:br/>
            <a:r>
              <a:t>• Fatal Flaw: Rigid schedule assumptions leave models blind to downline delay ripples.</a:t>
            </a:r>
          </a:p>
        </p:txBody>
      </p:sp>
      <p:pic>
        <p:nvPicPr>
          <p:cNvPr id="4" name="Picture 3" descr="pax stochastic arr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256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LITERATURE BREAKDOWN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Shift to Micro-Simulation Modeling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High Terminal Architectural Fidelity vs. Real-Time Operational Latency Barriers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166534"/>
                </a:solidFill>
                <a:latin typeface="Calibri"/>
              </a:defRPr>
            </a:pPr>
            <a:r>
              <a:t>ADVANTAGES OF MICRO-SIMULATION</a:t>
            </a:r>
          </a:p>
          <a:p>
            <a:pPr>
              <a:spcBef>
                <a:spcPts val="400"/>
              </a:spcBef>
              <a:defRPr sz="1800" b="1">
                <a:solidFill>
                  <a:srgbClr val="0A2240"/>
                </a:solidFill>
                <a:latin typeface="Calibri"/>
              </a:defRPr>
            </a:pPr>
            <a:r>
              <a:t>Granular Physical Fidelity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Models individual passenger walking paths, baggage check, and screening queues.</a:t>
            </a:r>
            <a:br/>
            <a:br/>
            <a:r>
              <a:t>• Resolves complex multi-checkpoint concourse layouts (Simio, CAST, ARENA).</a:t>
            </a:r>
            <a:br/>
            <a:br/>
            <a:r>
              <a:t>• Captures split processing between TSA PreCheck, standard screening, and CLEAR biometric lanes.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OPERATIONAL LIMITATIONS</a:t>
            </a:r>
          </a:p>
          <a:p>
            <a:pPr>
              <a:spcBef>
                <a:spcPts val="400"/>
              </a:spcBef>
              <a:defRPr sz="1800" b="1">
                <a:solidFill>
                  <a:srgbClr val="0A2240"/>
                </a:solidFill>
                <a:latin typeface="Calibri"/>
              </a:defRPr>
            </a:pPr>
            <a:r>
              <a:t>The Dispatch Latency Barrier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Heavy Calibration Overhead: Hundreds of micro-parameters become obsolete during severe weather.</a:t>
            </a:r>
            <a:br/>
            <a:br/>
            <a:r>
              <a:t>• Computational Latency: 20–45 minute runtimes prohibit real-time dynamic checkpoint lane rebalancing.</a:t>
            </a:r>
            <a:br/>
            <a:br/>
            <a:r>
              <a:t>• Airside Isolation: Fails to integrate live FAA air traffic management and taxiway queue buildup.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LITERATURE BREAKDOWN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Supervised Machine Learning (Model 2)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Capturing Multi-Variable Operational Interactions vs. Regimes of Severe Brittleness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defRPr sz="5400" b="1">
                <a:solidFill>
                  <a:srgbClr val="0A2240"/>
                </a:solidFill>
                <a:latin typeface="Calibri"/>
              </a:defRPr>
            </a:pPr>
            <a:r>
              <a:t>24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2563EB"/>
                </a:solidFill>
                <a:latin typeface="Calibri"/>
              </a:defRPr>
            </a:pPr>
            <a:r>
              <a:t>BTS OTP &amp; Schedule Features</a:t>
            </a:r>
          </a:p>
          <a:p>
            <a:pPr algn="ctr"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Taxi-out duration, cancellations, cause decompositions, aircraft gauge tiers, and flight bank dispersion metrics.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70408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defRPr sz="1100" b="1">
                <a:solidFill>
                  <a:srgbClr val="166534"/>
                </a:solidFill>
                <a:latin typeface="Calibri"/>
              </a:defRPr>
            </a:pPr>
            <a:r>
              <a:t>ROUTINE OPERATIONS STRENGTH</a:t>
            </a:r>
          </a:p>
          <a:p>
            <a:pPr>
              <a:spcBef>
                <a:spcPts val="2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Pareto Optimal Nominal Accuracy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Gradient-boosted decision trees capture complex airside-landside interactions, delivering exceptional routine accuracy (MASE = 0.680–0.700) with zero feedback compute latency.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4069080"/>
            <a:ext cx="7040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DISRUPTION BRITTLENESS FLAW</a:t>
            </a:r>
          </a:p>
          <a:p>
            <a:pPr>
              <a:spcBef>
                <a:spcPts val="2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The Empty Checkpoint Fallacy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During convective ground stops, scheduled flights vanish from electronic airline feeds. The ML model falsely predicts zero checkpoint demand, while thousands of passengers remain stranded in lobbies.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LITERATURE BREAKDOWN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Sequential Two-Stage Hybrid Architectures (Model 3)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Coupling Base Flight Schedules with Real-Time Dynamic Error Innovation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TWO-STAGE SEQUENTIAL HYBRID FORMULATION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Ŷ_t  =  M_base(Schedule_t, Features_t)  +  α · ( Y_{t-1} - Ŷ_{t-1} )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Stage 1: Base machine learning model captures cyclical flight schedules and operational covariates.</a:t>
            </a:r>
            <a:br/>
            <a:r>
              <a:t>Stage 2: Real-time 1-step error innovation feedback (e_{t-1}) injects live floor telemetry, dynamically correcting lobby backlog.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51206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100" b="1">
                <a:solidFill>
                  <a:srgbClr val="166534"/>
                </a:solidFill>
                <a:latin typeface="Calibri"/>
              </a:defRPr>
            </a:pPr>
            <a:r>
              <a:t>STAGE 2 SHOCK RESCUE</a:t>
            </a:r>
          </a:p>
          <a:p>
            <a:pPr>
              <a:spcBef>
                <a:spcPts val="3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Overcoming Schedule Blindness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When storms ground flights, Stage 1 falsely predicts near-zero arrivals. The prior-hour floor observation Y_{t-1} detects massive queue backlogs, instantly lifting forecasts.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THE ASYMMETRIC TRADE-OFF PENALTY</a:t>
            </a:r>
          </a:p>
          <a:p>
            <a:pPr>
              <a:spcBef>
                <a:spcPts val="3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Spatial Overfitting Penalty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Requires active, low-latency API floor feeds. Furthermore, decision trees overfit to specific source terminal geometry, causing Model 3 to fail spatial generalizability.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EMPIRICAL DEMARCATION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Structural Impact of COVID-19 Demarcation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Establishing Post-Pandemic Behavioral Stability (May 1, 2022 – December 31, 2025)</a:t>
            </a:r>
          </a:p>
        </p:txBody>
      </p:sp>
      <p:pic>
        <p:nvPicPr>
          <p:cNvPr id="3" name="Picture 2" descr="post-pandemic jus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8065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1645920"/>
            <a:ext cx="4663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2000" b="1">
                <a:solidFill>
                  <a:srgbClr val="0A2240"/>
                </a:solidFill>
                <a:latin typeface="Calibri"/>
              </a:defRPr>
            </a:pPr>
            <a:r>
              <a:t>May 1, 2022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DEMARCATION CUTOFF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Federal mask mandate dissolved; marks return to normal passenger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3200400"/>
            <a:ext cx="4663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2000" b="1">
                <a:solidFill>
                  <a:srgbClr val="0A2240"/>
                </a:solidFill>
                <a:latin typeface="Calibri"/>
              </a:defRPr>
            </a:pPr>
            <a:r>
              <a:t>F = 1.42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CHOW STABILITY TEST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p = 0.18 (fails to reject null of structural stability across 44 months).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4754880"/>
            <a:ext cx="4663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2000" b="1">
                <a:solidFill>
                  <a:srgbClr val="0A2240"/>
                </a:solidFill>
                <a:latin typeface="Calibri"/>
              </a:defRPr>
            </a:pPr>
            <a:r>
              <a:t>84.7%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Calibri"/>
              </a:defRPr>
            </a:pPr>
            <a:r>
              <a:t>LOAD FACTOR RECOVERY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Systemwide passenger load factors fully recovered to pre-pandemic baselines.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EVALUATIVE SYNTHESIS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Why Aviation Demands Dynamic Performance Measures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The Fatal Pitfall of Single-Metric Global Minimization in Airport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PILLAR 1</a:t>
            </a:r>
          </a:p>
          <a:p>
            <a:pPr>
              <a:spcBef>
                <a:spcPts val="8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Nominal Rhythms (Robustness)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 model optimized purely for annual RMSE minimizes routine errors during sunny days. However, routine operations are computationally cheap and tolerant of minor variance.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PILLAR 2</a:t>
            </a:r>
          </a:p>
          <a:p>
            <a:pPr>
              <a:spcBef>
                <a:spcPts val="8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Disruption Shocks (Resilience)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Airport crises occur during convective storm fronts. If a model collapses during IROPS (like Model 2's 2.14x error surge), it endangers terminal operations when accuracy matters most.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100" b="1">
                <a:solidFill>
                  <a:srgbClr val="166534"/>
                </a:solidFill>
                <a:latin typeface="Calibri"/>
              </a:defRPr>
            </a:pPr>
            <a:r>
              <a:t>PILLAR 3</a:t>
            </a:r>
          </a:p>
          <a:p>
            <a:pPr>
              <a:spcBef>
                <a:spcPts val="800"/>
              </a:spcBef>
              <a:defRPr sz="1600" b="1">
                <a:solidFill>
                  <a:srgbClr val="0A2240"/>
                </a:solidFill>
                <a:latin typeface="Calibri"/>
              </a:defRPr>
            </a:pPr>
            <a:r>
              <a:t>Facility Transfer (Generalizability)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Airports cannot afford 12 months of local calibration data for newly built concourses. Models must possess zero-shot transferability across physical terminal layouts.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METHODOLOGICAL ARCHITECTURE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Research Methodology Overview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Structured 5-Part Graduate Methodology Architecture (ERAU Standards)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99339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3.1  ·  Approach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Comparative evaluation of 4 paradigms across 3 pillars.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7792" y="1645920"/>
            <a:ext cx="199339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3.2  ·  Sample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4-tier filtering isolating 9 airports &amp; 12 complexes.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4064" y="1645920"/>
            <a:ext cx="199339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3.3  ·  Data Sources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67.2M raw → 42.1M conformed federal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0336" y="1645920"/>
            <a:ext cx="199339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3.4  ·  Validity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DB1B connecting deflator &amp; carrier lane isolation.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6608" y="1645920"/>
            <a:ext cx="1993392" cy="10058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3.5  ·  Treatment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Star Schema warehouse &amp; 168-hr purge buffer.</a:t>
            </a:r>
          </a:p>
        </p:txBody>
      </p:sp>
      <p:pic>
        <p:nvPicPr>
          <p:cNvPr id="8" name="Picture 7" descr="Combined_Data_Pipeline_and_Funnel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834640"/>
            <a:ext cx="409651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METHODOLOGY APPROACH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Forecasting Model Families &amp; Taxonomy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3.1: Comparative Architectural Taxonomy of Evaluated Predictive Paradigms</a:t>
            </a:r>
          </a:p>
        </p:txBody>
      </p:sp>
      <p:pic>
        <p:nvPicPr>
          <p:cNvPr id="3" name="Picture 2" descr="figure_3_1_forecasting_model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2895" cy="37607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4937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Baseline Control</a:t>
            </a:r>
          </a:p>
          <a:p>
            <a:pPr>
              <a:spcBef>
                <a:spcPts val="200"/>
              </a:spcBef>
              <a:defRPr sz="1300" b="1">
                <a:solidFill>
                  <a:srgbClr val="0A2240"/>
                </a:solidFill>
                <a:latin typeface="Calibri"/>
              </a:defRPr>
            </a:pPr>
            <a:r>
              <a:t>Daily Persistence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Non-parametric diurnal persistence control; establishes MASE ≡ 1.000.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4937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Model 1</a:t>
            </a:r>
          </a:p>
          <a:p>
            <a:pPr>
              <a:spcBef>
                <a:spcPts val="200"/>
              </a:spcBef>
              <a:defRPr sz="1300" b="1">
                <a:solidFill>
                  <a:srgbClr val="0A2240"/>
                </a:solidFill>
                <a:latin typeface="Calibri"/>
              </a:defRPr>
            </a:pPr>
            <a:r>
              <a:t>Deterministic Schedule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ACRP Report 40 lognormal show-up convolution across flight banks.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937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Model 2</a:t>
            </a:r>
          </a:p>
          <a:p>
            <a:pPr>
              <a:spcBef>
                <a:spcPts val="200"/>
              </a:spcBef>
              <a:defRPr sz="1300" b="1">
                <a:solidFill>
                  <a:srgbClr val="0A2240"/>
                </a:solidFill>
                <a:latin typeface="Calibri"/>
              </a:defRPr>
            </a:pPr>
            <a:r>
              <a:t>Supervised ML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Gradient-boosted decision trees incorporating 24 BTS operational features.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4937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Model 3</a:t>
            </a:r>
          </a:p>
          <a:p>
            <a:pPr>
              <a:spcBef>
                <a:spcPts val="200"/>
              </a:spcBef>
              <a:defRPr sz="1300" b="1">
                <a:solidFill>
                  <a:srgbClr val="0A2240"/>
                </a:solidFill>
                <a:latin typeface="Calibri"/>
              </a:defRPr>
            </a:pPr>
            <a:r>
              <a:t>Dynamic Two-Stage Hybrid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Coupling flight schedules with live prior-hour error feedback (e_{t-1}).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DESIGN &amp; PROCEDURE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Four-Phase Research Execution Lifecycle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3.1: Systematic Progression from Federal Ingestion to Hypothesis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Multi-Source Data Ingestion &amp; ETL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TSA FOIA, BTS OTP, T-100, DB1B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Extract 67.2M raw records; conform into Star Schema warehouse (42.1M records). Preserved structural night zeros.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Econometric Funnel &amp; Cohort Isolation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4-Tier Purposive Filtering Funnel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Filtered 450+ airports to Top 25, screened legacy carrier presence, isolated dedicated carrier terminals (9 airfields, 12 complexes).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Model Calibration &amp; Feature Engineering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Feature Pipeline &amp; 84-Cell Grid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Constructed 24 OTP features; convolved ACRP 40 curves; verified 98.8% sample sufficiency across 84-cell interaction grid.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Multi-Pillar Hypothesis Evaluation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Out-of-Time 2025 Holdout Benchmark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Tested models across Robustness (nominal), Resilience (convective storms), and Generalizability using Diebold-Mariano tests.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VALIDITY SAFEGUARDS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Methodological Safeguards &amp; Data Integrity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Strict Prevention of Autoregressive Data Leakage and Unconfounded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500" b="1">
                <a:solidFill>
                  <a:srgbClr val="0A2240"/>
                </a:solidFill>
                <a:latin typeface="Calibri"/>
              </a:defRPr>
            </a:pPr>
            <a:r>
              <a:t>The 7-Day Purge Buffer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TABLE 4.8 / REC-06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168-hour zero-training purge buffer established between training (2022–2024) and test holdout (2025). Completely prevents autoregressive memory leakage across dataset boundaries.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500" b="1">
                <a:solidFill>
                  <a:srgbClr val="0A2240"/>
                </a:solidFill>
                <a:latin typeface="Calibri"/>
              </a:defRPr>
            </a:pPr>
            <a:r>
              <a:t>Connecting Passenger Deflator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DB1B COUPON DEFLATION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Deflates departing aircraft seats by true connecting ratios (S_connect up to 66.3% at DFW). Solves the Hub Disconnect where airside connections bypass TSA.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500" b="1">
                <a:solidFill>
                  <a:srgbClr val="0A2240"/>
                </a:solidFill>
                <a:latin typeface="Calibri"/>
              </a:defRPr>
            </a:pPr>
            <a:r>
              <a:t>Carrier Checkpoint Isolation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DEDICATED CARRIER COMPLEXES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Isolates screening checkpoints operated exclusively by American, Delta, or United, eliminating multi-carrier unidentifiable passenger mixing.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11480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500" b="1">
                <a:solidFill>
                  <a:srgbClr val="0A2240"/>
                </a:solidFill>
                <a:latin typeface="Calibri"/>
              </a:defRPr>
            </a:pPr>
            <a:r>
              <a:t>Strict Information Causality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T-1 REALIZED TELEMETRY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Models only ingest strictly prior-hour features (t-1) available in real-time operations, ensuring zero forward-looking lookahead bias.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RESULTS ROADMAP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Chapter IV Empirical Results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Four Sequential Analyses Supporting Multi-Pillar Hypothesis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4.1 EXPLORATORY ANALYSIS</a:t>
            </a:r>
          </a:p>
          <a:p>
            <a:pPr>
              <a:spcBef>
                <a:spcPts val="2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Top 25 Census &amp; The Values vs. Volatility Discovery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Analyzing 42.1M records; proving static volumes mask queuing while volatility metrics correlate tightly with flight delays.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4.2 DATA FILTERING &amp; COHORT</a:t>
            </a:r>
          </a:p>
          <a:p>
            <a:pPr>
              <a:spcBef>
                <a:spcPts val="2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Four-Tier Purposive Filtering Pipeline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Progression from 450+ airports to the 9-airport factorial cohort across 12 carrier-exclusive screening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4.3 MODEL EXECUTION</a:t>
            </a:r>
          </a:p>
          <a:p>
            <a:pPr>
              <a:spcBef>
                <a:spcPts val="2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Holdout Benchmark Matrix Across 4 Paradigms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2025 out-of-time evaluation across Baseline Control, Model 1, Model 2, and Model 3; certified RMSE, MASE, and Bias.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4.4 MULTI-PILLAR HYPOTHESIS</a:t>
            </a:r>
          </a:p>
          <a:p>
            <a:pPr>
              <a:spcBef>
                <a:spcPts val="200"/>
              </a:spcBef>
              <a:defRPr sz="1400" b="1">
                <a:solidFill>
                  <a:srgbClr val="0A2240"/>
                </a:solidFill>
                <a:latin typeface="Calibri"/>
              </a:defRPr>
            </a:pPr>
            <a:r>
              <a:t>Testing H₁ Across Robustness, Resilience, Transfer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Deep-dive evaluations under nominal operations, convective IROPS shocks, and zero-shot cross-facility portability.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DESCRIPTIVE STATISTICS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Empirical Baseline: 9-Airport Cohort vs. Top 25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4.7: Proving the Experimental Cohort Represents the Operational Stress 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800" b="1">
                <a:solidFill>
                  <a:srgbClr val="0A2240"/>
                </a:solidFill>
                <a:latin typeface="Calibri"/>
              </a:defRPr>
            </a:pPr>
            <a:r>
              <a:t>+16.9%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Flight Movement Density</a:t>
            </a:r>
          </a:p>
          <a:p>
            <a:pPr algn="ctr"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224,576 annual flights vs. 192,160 national Top 25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6459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800" b="1">
                <a:solidFill>
                  <a:srgbClr val="0A2240"/>
                </a:solidFill>
                <a:latin typeface="Calibri"/>
              </a:defRPr>
            </a:pPr>
            <a:r>
              <a:t>+14.1%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Higher Cancellation Rate</a:t>
            </a:r>
          </a:p>
          <a:p>
            <a:pPr algn="ctr"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1.63% flight cancellation rate vs. 1.43% national Top 25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800" b="1">
                <a:solidFill>
                  <a:srgbClr val="0A2240"/>
                </a:solidFill>
                <a:latin typeface="Calibri"/>
              </a:defRPr>
            </a:pPr>
            <a:r>
              <a:t>+25.0%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Local Originating Demand</a:t>
            </a:r>
          </a:p>
          <a:p>
            <a:pPr algn="ctr"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16.4M true originating passengers vs. 13.1M national Top 25 average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64592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800" b="1">
                <a:solidFill>
                  <a:srgbClr val="0A2240"/>
                </a:solidFill>
                <a:latin typeface="Calibri"/>
              </a:defRPr>
            </a:pPr>
            <a:r>
              <a:t>+5.8%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Elevated Arrival Volatility</a:t>
            </a:r>
          </a:p>
          <a:p>
            <a:pPr algn="ctr"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CV_TSA = 0.8728 vs. 0.8250 national Top 25 baseline average</a:t>
            </a:r>
          </a:p>
        </p:txBody>
      </p:sp>
      <p:pic>
        <p:nvPicPr>
          <p:cNvPr id="7" name="Picture 6" descr="Power of 9 air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023360"/>
            <a:ext cx="2733463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COHORT SELECTION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Four-Tier Purposive Filtering Pipeline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3.2: Progressive Filtering from 450+ Commercial Airfields to 9 Balanced Hubs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MACRO TIER</a:t>
            </a:r>
          </a:p>
          <a:p>
            <a:pPr>
              <a:spcBef>
                <a:spcPts val="3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Commercial Scale</a:t>
            </a:r>
          </a:p>
          <a:p>
            <a:pPr>
              <a:spcBef>
                <a:spcPts val="600"/>
              </a:spcBef>
              <a:defRPr sz="1100" b="1">
                <a:solidFill>
                  <a:srgbClr val="166534"/>
                </a:solidFill>
                <a:latin typeface="Calibri"/>
              </a:defRPr>
            </a:pPr>
            <a:r>
              <a:t>450+  →  Top 25 Hubs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Filtered commercial airfields to the Top 25 large hubs representing 68% of commercial traffic.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MESO TIER</a:t>
            </a:r>
          </a:p>
          <a:p>
            <a:pPr>
              <a:spcBef>
                <a:spcPts val="3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Carrier Presence</a:t>
            </a:r>
          </a:p>
          <a:p>
            <a:pPr>
              <a:spcBef>
                <a:spcPts val="600"/>
              </a:spcBef>
              <a:defRPr sz="1100" b="1">
                <a:solidFill>
                  <a:srgbClr val="166534"/>
                </a:solidFill>
                <a:latin typeface="Calibri"/>
              </a:defRPr>
            </a:pPr>
            <a:r>
              <a:t>Top 25  →  14 Core Hubs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Enforced continuous operations by American, Delta, United. Eliminated JFK due to United's exit.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MICRO TIER</a:t>
            </a:r>
          </a:p>
          <a:p>
            <a:pPr>
              <a:spcBef>
                <a:spcPts val="3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Checkpoint Isolation</a:t>
            </a:r>
          </a:p>
          <a:p>
            <a:pPr>
              <a:spcBef>
                <a:spcPts val="600"/>
              </a:spcBef>
              <a:defRPr sz="1100" b="1">
                <a:solidFill>
                  <a:srgbClr val="166534"/>
                </a:solidFill>
                <a:latin typeface="Calibri"/>
              </a:defRPr>
            </a:pPr>
            <a:r>
              <a:t>14  →  10 Airfields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Screened for dedicated carrier checkpoints. Eliminated consolidated checkpoints (e.g. Salt Lake City).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828800"/>
            <a:ext cx="2560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COHORT TIER</a:t>
            </a:r>
          </a:p>
          <a:p>
            <a:pPr>
              <a:spcBef>
                <a:spcPts val="300"/>
              </a:spcBef>
              <a:defRPr sz="1500" b="1">
                <a:solidFill>
                  <a:srgbClr val="0A2240"/>
                </a:solidFill>
                <a:latin typeface="Calibri"/>
              </a:defRPr>
            </a:pPr>
            <a:r>
              <a:t>Operational Balance</a:t>
            </a:r>
          </a:p>
          <a:p>
            <a:pPr>
              <a:spcBef>
                <a:spcPts val="600"/>
              </a:spcBef>
              <a:defRPr sz="1100" b="1">
                <a:solidFill>
                  <a:srgbClr val="166534"/>
                </a:solidFill>
                <a:latin typeface="Calibri"/>
              </a:defRPr>
            </a:pPr>
            <a:r>
              <a:t>10  →  9 Final Airfields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Balanced across 4 operational clusters and 12 dedicated carrier-exclusive screening complexes.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COHORT SPECIFICATION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The 9-Airport Experimental Cohort Specification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4.6: Factorial Representation Across 12 Carrier-Exclusive Terminal Complexes</a:t>
            </a:r>
          </a:p>
        </p:txBody>
      </p:sp>
      <p:pic>
        <p:nvPicPr>
          <p:cNvPr id="3" name="Picture 2" descr="airport 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379135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6459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ATL  ·  Atlanta Hartsfield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Delta Domestic South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59" y="16459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BOS  ·  Boston Logan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Delta A / American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5603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DFW  ·  Dallas/Fort Worth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American A, B, C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59" y="25603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DTW  ·  Detroit Metro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Delta McNamara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34747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EWR  ·  Newark Liberty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United Terminal C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34747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LAX  ·  Los Angeles Intl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Delta 3 / AA 4 / United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3891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LGA  ·  New York LaGuardia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Delta Terminal C (New)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59" y="43891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ORD  ·  Chicago O'Hare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United T1 / American T3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530352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100" b="1">
                <a:solidFill>
                  <a:srgbClr val="0A2240"/>
                </a:solidFill>
                <a:latin typeface="Calibri"/>
              </a:defRPr>
            </a:pPr>
            <a:r>
              <a:t>PHL  ·  Philadelphia Intl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American Terminals B/C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MACRO REGIMES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Annual Seasonal Volatility Regimes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4.2: Macro Seasonality Clustering Across the 52 Calendar Weeks</a:t>
            </a:r>
          </a:p>
        </p:txBody>
      </p:sp>
      <p:pic>
        <p:nvPicPr>
          <p:cNvPr id="3" name="Picture 2" descr="figure_4_2_annual_volatility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0119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DIURNAL &amp; DOW CYCLES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Day-of-Week Volatility &amp; Bimodal Diurnal Peaks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4.3 &amp; 4.4: Monday Business Outbound vs. Sunday Inbound Delays</a:t>
            </a:r>
          </a:p>
        </p:txBody>
      </p:sp>
      <p:pic>
        <p:nvPicPr>
          <p:cNvPr id="3" name="Picture 2" descr="figure_4_3_day_of_week_volatility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1920240"/>
          </a:xfrm>
          <a:prstGeom prst="rect">
            <a:avLst/>
          </a:prstGeom>
        </p:spPr>
      </p:pic>
      <p:pic>
        <p:nvPicPr>
          <p:cNvPr id="4" name="Picture 3" descr="figure_4_4_diurnal_hourly_volatility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LEAD-LAG DYNAMICS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Empirical Passenger Show-Up Curve Convolution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4.5: Why Lead-2 (t+2) Captures 53.5% of Arrival Variance vs. Contemporaneous Failure</a:t>
            </a:r>
          </a:p>
        </p:txBody>
      </p:sp>
      <p:pic>
        <p:nvPicPr>
          <p:cNvPr id="3" name="Picture 2" descr="figure_4_5_lead_lag_convolu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6304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1645920"/>
            <a:ext cx="4663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LEAD-LAG ASYNCHRONY PROOF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R²(t+2) = 0.5347  vs.  R²(t) = 0.1982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Key Empirical Findings:</a:t>
            </a:r>
            <a:br/>
            <a:br/>
            <a:r>
              <a:t>• Contemporaneous flight schedules (t) fail to predict screening arrivals (R² = 19.8%).</a:t>
            </a:r>
            <a:br/>
            <a:br/>
            <a:r>
              <a:t>• Passenger arrivals peak precisely at t+2 hours ahead of scheduled gate departure (R² = 53.5%).</a:t>
            </a:r>
            <a:br/>
            <a:br/>
            <a:r>
              <a:t>• Model 1 convolving empirical show-up curves over t+2 bridges this physical gap.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MODEL BENCHMARKS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Certified 2025 Out-of-Time Holdout Benchmarks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4.10: Performance Hierarchy Across Candidate Modeling Paradigms</a:t>
            </a:r>
          </a:p>
        </p:txBody>
      </p:sp>
      <p:pic>
        <p:nvPicPr>
          <p:cNvPr id="3" name="Picture 2" descr="figure_4_6_master_model_benchmar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5389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HYPOTHESIS TESTING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Multi-Pillar Hypothesis Evaluation: The Asymmetric Trade-Off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Table 4.11: Proving H₁ Across Robustness, Resilience, and Generalizability</a:t>
            </a:r>
          </a:p>
        </p:txBody>
      </p:sp>
      <p:pic>
        <p:nvPicPr>
          <p:cNvPr id="3" name="Picture 2" descr="figure_5_4_master_hypothesis_trade_off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35331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DEEP-DIVE RESILIENCE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Dimension 2: Disruption Resilience &amp; Shock Recovery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5.2: Overcoming the Empty Checkpoint Fallacy During Severe Convective Storms</a:t>
            </a:r>
          </a:p>
        </p:txBody>
      </p:sp>
      <p:pic>
        <p:nvPicPr>
          <p:cNvPr id="3" name="Picture 2" descr="figure_5_2_disruption_resilience_and_shock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3882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1645920"/>
            <a:ext cx="4663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RESILIENCE DISRUPTION MULTIPLIER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R_MASE  =  MASE_shock / MASE_routine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Disruption Performance:</a:t>
            </a:r>
            <a:br/>
            <a:br/>
            <a:r>
              <a:t>• Model 3 (Dynamic Hybrid): R_MASE = 1.05 (Resilient Winner; TTR = 2.8 hours).</a:t>
            </a:r>
            <a:br/>
            <a:br/>
            <a:r>
              <a:t>• Model 2 (Supervised ML): R_MASE = 2.14 (Fragile Collapse due to Empty Checkpoint Fallacy).</a:t>
            </a:r>
            <a:br/>
            <a:br/>
            <a:r>
              <a:t>• Model 1 (Deterministic): R_MASE = 1.32 (Blind to delays; TTR = 7.8 hours).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DEEP-DIVE GENERALIZABILITY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Dimension 3: Generalizability &amp; Spatial Transfer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Figure 5.3: Zero-Shot Transferability from Newark (EWR) to LaGuardia (LGA)</a:t>
            </a:r>
          </a:p>
        </p:txBody>
      </p:sp>
      <p:pic>
        <p:nvPicPr>
          <p:cNvPr id="3" name="Picture 2" descr="figure_5_3_generalizability_and_spatial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4142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1645920"/>
            <a:ext cx="4663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RELATIVE TRANSFER RATIO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0A2240"/>
                </a:solidFill>
                <a:latin typeface="Georgia"/>
              </a:defRPr>
            </a:pPr>
            <a:r>
              <a:t>RTR  =  RMSE_transfer / RMSE_in-sample</a:t>
            </a:r>
          </a:p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Spatial Transfer Performance:</a:t>
            </a:r>
            <a:br/>
            <a:br/>
            <a:r>
              <a:t>• Model 1 (Deterministic): RTR = 1.04, ΔMASE = +4.0% (Target Met; Transfer Winner).</a:t>
            </a:r>
            <a:br/>
            <a:br/>
            <a:r>
              <a:t>• Model 2 (Supervised ML): RTR = 1.08, ΔMASE = +8.3% (Passes Target).</a:t>
            </a:r>
            <a:br/>
            <a:br/>
            <a:r>
              <a:t>• Model 3 (Dynamic Hybrid): RTR = 1.19, ΔMASE = +21.5% (Fails Target due to layout overfitting).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OPERATIONAL IMPLEMENTATION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2240"/>
                </a:solidFill>
                <a:latin typeface="Calibri"/>
              </a:defRPr>
            </a:pPr>
            <a:r>
              <a:t>Real-World Aviation Application: The Operator's Playbook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Three Actionable Policy Recommendations for TSA and Airport Operations Centers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400" b="1">
                <a:solidFill>
                  <a:srgbClr val="0A2240"/>
                </a:solidFill>
                <a:latin typeface="Calibri"/>
              </a:defRPr>
            </a:pPr>
            <a:r>
              <a:t>Dynamic Checkpoint Rostering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REPLACE STATIC TABLES WITH 2-HR LEAD CONVOLUTIONS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TSA Federal Security Directors should abandon static time-of-day tables. Deploy dynamic staffing rosters driven by t+2 scheduled flight bank convolutions convolved with conformal safety buffers.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5468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400" b="1">
                <a:solidFill>
                  <a:srgbClr val="0A2240"/>
                </a:solidFill>
                <a:latin typeface="Calibri"/>
              </a:defRPr>
            </a:pPr>
            <a:r>
              <a:t>Connecting Ratio Deflation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INTEGRATE BUREAU OF TRANSPORTATION STATISTICS O&amp;D DATA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Centralized security scheduling systems must dynamically deflate scheduled flight seats using airline O&amp;D transfer ratios, preventing chronic over-staffing at connecting hub complexes.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400" b="1">
                <a:solidFill>
                  <a:srgbClr val="0A2240"/>
                </a:solidFill>
                <a:latin typeface="Calibri"/>
              </a:defRPr>
            </a:pPr>
            <a:r>
              <a:t>The Regime-Switched Gated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alibri"/>
              </a:defRPr>
            </a:pPr>
            <a:r>
              <a:t>AUTOMATED OPERATIONAL MODEL SWITCHING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Deploy Model 2 (Supervised ML) during nominal on-time operations for zero-latency interpretable dispatch. Instantly switch to Model 3 (Dynamic Hybrid) when ground stop delays exceed 45 minutes.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9966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RESEARCH SYNTHESIS &amp; CONCLUDING TAKEAWAY</a:t>
            </a:r>
          </a:p>
          <a:p>
            <a:pPr algn="ctr">
              <a:spcBef>
                <a:spcPts val="800"/>
              </a:spcBef>
              <a:spcAft>
                <a:spcPts val="1400"/>
              </a:spcAft>
              <a:defRPr sz="2600" b="1">
                <a:solidFill>
                  <a:srgbClr val="0A2240"/>
                </a:solidFill>
                <a:latin typeface="Calibri"/>
              </a:defRPr>
            </a:pPr>
            <a:r>
              <a:t>Transforming Airport Security from Reactive Firefighting</a:t>
            </a:r>
            <a:br/>
            <a:r>
              <a:t>to Resilient Stochastic Synchronization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1. Volatility Governs Heavy Traffic: Under Kingman's law, arrival burstiness (Ca²) causes queue delay explosions, proving static headcounts are fundamentally insufficient.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2. The Asymmetric Trade-Off (H1): Model 1 wins zero-shot transferability; Model 2 wins routine Pareto efficiency; Model 3 wins shock resilience during severe convective storms.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3. Defeating the Empty Checkpoint Fallacy: Dynamic error innovation feedback rescues machine learning from storm-induced lobby under-staffing.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4. Operational Viability: Implementing the Regime-Switched Gated Engine delivers mathematically proven resilience without sacrificing routine operational efficiency.</a:t>
            </a:r>
          </a:p>
          <a:p>
            <a:pPr algn="ctr">
              <a:spcBef>
                <a:spcPts val="1800"/>
              </a:spcBef>
              <a:defRPr sz="1300" b="1">
                <a:solidFill>
                  <a:srgbClr val="2563EB"/>
                </a:solidFill>
                <a:latin typeface="Calibri"/>
              </a:defRPr>
            </a:pPr>
            <a:r>
              <a:t>Thank you for your guidance, mentorship, and support throughout this graduate 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3287</Words>
  <Application>Microsoft Macintosh PowerPoint</Application>
  <PresentationFormat>Widescreen</PresentationFormat>
  <Paragraphs>350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Gleich, Leila</cp:lastModifiedBy>
  <cp:revision>1</cp:revision>
  <dcterms:created xsi:type="dcterms:W3CDTF">2013-01-27T09:14:16Z</dcterms:created>
  <dcterms:modified xsi:type="dcterms:W3CDTF">2026-10-14T18:50:22Z</dcterms:modified>
  <cp:category/>
</cp:coreProperties>
</file>