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0A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9966960" cy="4114800"/>
          </a:xfrm>
          <a:prstGeom prst="rect">
            <a:avLst/>
          </a:prstGeom>
          <a:noFill/>
        </p:spPr>
        <p:txBody>
          <a:bodyPr wrap="square">
            <a:spAutoFit/>
          </a:bodyPr>
          <a:lstStyle/>
          <a:p>
            <a:pPr>
              <a:defRPr sz="1300" b="1">
                <a:solidFill>
                  <a:srgbClr val="2563EB"/>
                </a:solidFill>
                <a:latin typeface="Calibri"/>
              </a:defRPr>
            </a:pPr>
            <a:r>
              <a:t>GRADUATE THESIS DEFENSE  |  MSAA / GLEICH 700B</a:t>
            </a:r>
          </a:p>
          <a:p>
            <a:pPr>
              <a:spcBef>
                <a:spcPts val="1400"/>
              </a:spcBef>
              <a:spcAft>
                <a:spcPts val="2000"/>
              </a:spcAft>
              <a:defRPr sz="3600" b="1">
                <a:solidFill>
                  <a:srgbClr val="0A2240"/>
                </a:solidFill>
                <a:latin typeface="Calibri"/>
              </a:defRPr>
            </a:pPr>
            <a:r>
              <a:t>Evaluating Predictive Techniques to Model</a:t>
            </a:r>
            <a:br/>
            <a:r>
              <a:t>Stochastic Airport Passenger Flow</a:t>
            </a:r>
          </a:p>
          <a:p>
            <a:pPr>
              <a:defRPr sz="1600">
                <a:solidFill>
                  <a:srgbClr val="475569"/>
                </a:solidFill>
                <a:latin typeface="Calibri"/>
              </a:defRPr>
            </a:pPr>
            <a:r>
              <a:t>An Evaluation of Multi-Pillar Performance Measures for TSA Throughput Volatility</a:t>
            </a:r>
          </a:p>
          <a:p>
            <a:pPr>
              <a:spcBef>
                <a:spcPts val="2800"/>
              </a:spcBef>
              <a:defRPr sz="1300">
                <a:solidFill>
                  <a:srgbClr val="64748B"/>
                </a:solidFill>
                <a:latin typeface="Calibri"/>
              </a:defRPr>
            </a:pPr>
            <a:r>
              <a:t>Candidate: Leila Gleich</a:t>
            </a:r>
            <a:br/>
            <a:r>
              <a:t>Embry-Riddle Aeronautical University  ·  Worldwide Campus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EXECUTIVE ROADMAP</a:t>
            </a:r>
          </a:p>
          <a:p>
            <a:pPr>
              <a:spcBef>
                <a:spcPts val="300"/>
              </a:spcBef>
              <a:defRPr sz="2400" b="1">
                <a:solidFill>
                  <a:srgbClr val="0A2240"/>
                </a:solidFill>
                <a:latin typeface="Calibri"/>
              </a:defRPr>
            </a:pPr>
            <a:r>
              <a:t>Defense Presentation Structure</a:t>
            </a:r>
          </a:p>
          <a:p>
            <a:pPr>
              <a:spcBef>
                <a:spcPts val="300"/>
              </a:spcBef>
              <a:defRPr sz="1300">
                <a:solidFill>
                  <a:srgbClr val="475569"/>
                </a:solidFill>
                <a:latin typeface="Calibri"/>
              </a:defRPr>
            </a:pPr>
            <a:r>
              <a:t>Paced 25-Minute Defense Architecture across Six Operational Segments</a:t>
            </a:r>
          </a:p>
        </p:txBody>
      </p:sp>
      <p:sp>
        <p:nvSpPr>
          <p:cNvPr id="3" name="Rounded Rectangle 2"/>
          <p:cNvSpPr/>
          <p:nvPr/>
        </p:nvSpPr>
        <p:spPr>
          <a:xfrm>
            <a:off x="731520" y="1920240"/>
            <a:ext cx="3383280"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2000" b="1">
                <a:solidFill>
                  <a:srgbClr val="2563EB"/>
                </a:solidFill>
                <a:latin typeface="Calibri"/>
              </a:defRPr>
            </a:pPr>
            <a:r>
              <a:t>01</a:t>
            </a:r>
          </a:p>
          <a:p>
            <a:pPr>
              <a:spcBef>
                <a:spcPts val="400"/>
              </a:spcBef>
              <a:defRPr sz="1400" b="1">
                <a:solidFill>
                  <a:srgbClr val="0A2240"/>
                </a:solidFill>
                <a:latin typeface="Calibri"/>
              </a:defRPr>
            </a:pPr>
            <a:r>
              <a:t>Research Problem &amp; Hypotheses</a:t>
            </a:r>
          </a:p>
          <a:p>
            <a:pPr>
              <a:spcBef>
                <a:spcPts val="400"/>
              </a:spcBef>
              <a:defRPr sz="1100">
                <a:solidFill>
                  <a:srgbClr val="475569"/>
                </a:solidFill>
                <a:latin typeface="Calibri"/>
              </a:defRPr>
            </a:pPr>
            <a:r>
              <a:t>Stochastic arrivals, Kingman's heavy-traffic queuing law, and Asymmetric Trade-Offs (H1)</a:t>
            </a:r>
          </a:p>
        </p:txBody>
      </p:sp>
      <p:sp>
        <p:nvSpPr>
          <p:cNvPr id="4" name="Rounded Rectangle 3"/>
          <p:cNvSpPr/>
          <p:nvPr/>
        </p:nvSpPr>
        <p:spPr>
          <a:xfrm>
            <a:off x="4389120" y="1920240"/>
            <a:ext cx="3383280"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2000" b="1">
                <a:solidFill>
                  <a:srgbClr val="2563EB"/>
                </a:solidFill>
                <a:latin typeface="Calibri"/>
              </a:defRPr>
            </a:pPr>
            <a:r>
              <a:t>02</a:t>
            </a:r>
          </a:p>
          <a:p>
            <a:pPr>
              <a:spcBef>
                <a:spcPts val="400"/>
              </a:spcBef>
              <a:defRPr sz="1400" b="1">
                <a:solidFill>
                  <a:srgbClr val="0A2240"/>
                </a:solidFill>
                <a:latin typeface="Calibri"/>
              </a:defRPr>
            </a:pPr>
            <a:r>
              <a:t>Literature &amp; Theoretical Gaps</a:t>
            </a:r>
          </a:p>
          <a:p>
            <a:pPr>
              <a:spcBef>
                <a:spcPts val="400"/>
              </a:spcBef>
              <a:defRPr sz="1100">
                <a:solidFill>
                  <a:srgbClr val="475569"/>
                </a:solidFill>
                <a:latin typeface="Calibri"/>
              </a:defRPr>
            </a:pPr>
            <a:r>
              <a:t>Evolution from deterministic schedules and micro-simulation to ML and 2-stage dynamic hybrids</a:t>
            </a:r>
          </a:p>
        </p:txBody>
      </p:sp>
      <p:sp>
        <p:nvSpPr>
          <p:cNvPr id="5" name="Rounded Rectangle 4"/>
          <p:cNvSpPr/>
          <p:nvPr/>
        </p:nvSpPr>
        <p:spPr>
          <a:xfrm>
            <a:off x="8046720" y="1920240"/>
            <a:ext cx="3383280"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2000" b="1">
                <a:solidFill>
                  <a:srgbClr val="2563EB"/>
                </a:solidFill>
                <a:latin typeface="Calibri"/>
              </a:defRPr>
            </a:pPr>
            <a:r>
              <a:t>03</a:t>
            </a:r>
          </a:p>
          <a:p>
            <a:pPr>
              <a:spcBef>
                <a:spcPts val="400"/>
              </a:spcBef>
              <a:defRPr sz="1400" b="1">
                <a:solidFill>
                  <a:srgbClr val="0A2240"/>
                </a:solidFill>
                <a:latin typeface="Calibri"/>
              </a:defRPr>
            </a:pPr>
            <a:r>
              <a:t>Econometric Data Pipeline</a:t>
            </a:r>
          </a:p>
          <a:p>
            <a:pPr>
              <a:spcBef>
                <a:spcPts val="400"/>
              </a:spcBef>
              <a:defRPr sz="1100">
                <a:solidFill>
                  <a:srgbClr val="475569"/>
                </a:solidFill>
                <a:latin typeface="Calibri"/>
              </a:defRPr>
            </a:pPr>
            <a:r>
              <a:t>4-phase pipeline, 4-tier filtering funnel, DB1B connecting deflation, and carrier isolation</a:t>
            </a:r>
          </a:p>
        </p:txBody>
      </p:sp>
      <p:sp>
        <p:nvSpPr>
          <p:cNvPr id="6" name="Rounded Rectangle 5"/>
          <p:cNvSpPr/>
          <p:nvPr/>
        </p:nvSpPr>
        <p:spPr>
          <a:xfrm>
            <a:off x="731520" y="4206240"/>
            <a:ext cx="3383280"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2000" b="1">
                <a:solidFill>
                  <a:srgbClr val="2563EB"/>
                </a:solidFill>
                <a:latin typeface="Calibri"/>
              </a:defRPr>
            </a:pPr>
            <a:r>
              <a:t>04</a:t>
            </a:r>
          </a:p>
          <a:p>
            <a:pPr>
              <a:spcBef>
                <a:spcPts val="400"/>
              </a:spcBef>
              <a:defRPr sz="1400" b="1">
                <a:solidFill>
                  <a:srgbClr val="0A2240"/>
                </a:solidFill>
                <a:latin typeface="Calibri"/>
              </a:defRPr>
            </a:pPr>
            <a:r>
              <a:t>Empirical Findings &amp; Regimes</a:t>
            </a:r>
          </a:p>
          <a:p>
            <a:pPr>
              <a:spcBef>
                <a:spcPts val="400"/>
              </a:spcBef>
              <a:defRPr sz="1100">
                <a:solidFill>
                  <a:srgbClr val="475569"/>
                </a:solidFill>
                <a:latin typeface="Calibri"/>
              </a:defRPr>
            </a:pPr>
            <a:r>
              <a:t>Values vs. Volatility coupling (R² = 19.1%), 4 annual seasons, and bimodal diurnal peaks</a:t>
            </a:r>
          </a:p>
        </p:txBody>
      </p:sp>
      <p:sp>
        <p:nvSpPr>
          <p:cNvPr id="7" name="Rounded Rectangle 6"/>
          <p:cNvSpPr/>
          <p:nvPr/>
        </p:nvSpPr>
        <p:spPr>
          <a:xfrm>
            <a:off x="4389120" y="4206240"/>
            <a:ext cx="3383280"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2000" b="1">
                <a:solidFill>
                  <a:srgbClr val="2563EB"/>
                </a:solidFill>
                <a:latin typeface="Calibri"/>
              </a:defRPr>
            </a:pPr>
            <a:r>
              <a:t>05</a:t>
            </a:r>
          </a:p>
          <a:p>
            <a:pPr>
              <a:spcBef>
                <a:spcPts val="400"/>
              </a:spcBef>
              <a:defRPr sz="1400" b="1">
                <a:solidFill>
                  <a:srgbClr val="0A2240"/>
                </a:solidFill>
                <a:latin typeface="Calibri"/>
              </a:defRPr>
            </a:pPr>
            <a:r>
              <a:t>Model Execution &amp; Benchmarks</a:t>
            </a:r>
          </a:p>
          <a:p>
            <a:pPr>
              <a:spcBef>
                <a:spcPts val="400"/>
              </a:spcBef>
              <a:defRPr sz="1100">
                <a:solidFill>
                  <a:srgbClr val="475569"/>
                </a:solidFill>
                <a:latin typeface="Calibri"/>
              </a:defRPr>
            </a:pPr>
            <a:r>
              <a:t>Evaluating 4 paradigms across Robustness (nominal), Resilience (IROPS), and Generalizability</a:t>
            </a:r>
          </a:p>
        </p:txBody>
      </p:sp>
      <p:sp>
        <p:nvSpPr>
          <p:cNvPr id="8" name="Rounded Rectangle 7"/>
          <p:cNvSpPr/>
          <p:nvPr/>
        </p:nvSpPr>
        <p:spPr>
          <a:xfrm>
            <a:off x="8046720" y="4206240"/>
            <a:ext cx="3383280"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2000" b="1">
                <a:solidFill>
                  <a:srgbClr val="2563EB"/>
                </a:solidFill>
                <a:latin typeface="Calibri"/>
              </a:defRPr>
            </a:pPr>
            <a:r>
              <a:t>06</a:t>
            </a:r>
          </a:p>
          <a:p>
            <a:pPr>
              <a:spcBef>
                <a:spcPts val="400"/>
              </a:spcBef>
              <a:defRPr sz="1400" b="1">
                <a:solidFill>
                  <a:srgbClr val="0A2240"/>
                </a:solidFill>
                <a:latin typeface="Calibri"/>
              </a:defRPr>
            </a:pPr>
            <a:r>
              <a:t>Operational Implementation</a:t>
            </a:r>
          </a:p>
          <a:p>
            <a:pPr>
              <a:spcBef>
                <a:spcPts val="400"/>
              </a:spcBef>
              <a:defRPr sz="1100">
                <a:solidFill>
                  <a:srgbClr val="475569"/>
                </a:solidFill>
                <a:latin typeface="Calibri"/>
              </a:defRPr>
            </a:pPr>
            <a:r>
              <a:t>Regime-switched gated inference engine, dynamic checkpoint rostering, and 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THEORETICAL FOUNDATION</a:t>
            </a:r>
          </a:p>
          <a:p>
            <a:pPr>
              <a:spcBef>
                <a:spcPts val="300"/>
              </a:spcBef>
              <a:defRPr sz="2400" b="1">
                <a:solidFill>
                  <a:srgbClr val="0A2240"/>
                </a:solidFill>
                <a:latin typeface="Calibri"/>
              </a:defRPr>
            </a:pPr>
            <a:r>
              <a:t>The Terminal Queuing Friction Problem</a:t>
            </a:r>
          </a:p>
          <a:p>
            <a:pPr>
              <a:spcBef>
                <a:spcPts val="300"/>
              </a:spcBef>
              <a:defRPr sz="1300">
                <a:solidFill>
                  <a:srgbClr val="475569"/>
                </a:solidFill>
                <a:latin typeface="Calibri"/>
              </a:defRPr>
            </a:pPr>
            <a:r>
              <a:t>Why Static Volume Staffing Fails Under Arrival Burstiness</a:t>
            </a:r>
          </a:p>
        </p:txBody>
      </p:sp>
      <p:sp>
        <p:nvSpPr>
          <p:cNvPr id="3" name="Rounded Rectangle 2"/>
          <p:cNvSpPr/>
          <p:nvPr/>
        </p:nvSpPr>
        <p:spPr>
          <a:xfrm>
            <a:off x="731520" y="1920240"/>
            <a:ext cx="5120640" cy="4297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200" b="1">
                <a:solidFill>
                  <a:srgbClr val="2563EB"/>
                </a:solidFill>
                <a:latin typeface="Calibri"/>
              </a:defRPr>
            </a:pPr>
            <a:r>
              <a:t>THE ASYMMETRIC QUEUING DILEMMA</a:t>
            </a:r>
          </a:p>
          <a:p>
            <a:pPr>
              <a:spcBef>
                <a:spcPts val="800"/>
              </a:spcBef>
              <a:defRPr sz="1300">
                <a:solidFill>
                  <a:srgbClr val="0F172A"/>
                </a:solidFill>
                <a:latin typeface="Calibri"/>
              </a:defRPr>
            </a:pPr>
            <a:r>
              <a:t>Commercial airport passenger flow is fundamentally stochastic, governed by independent upstream passenger show-up decisions and downstream flight bank delays.</a:t>
            </a:r>
          </a:p>
          <a:p>
            <a:pPr>
              <a:spcBef>
                <a:spcPts val="1200"/>
              </a:spcBef>
              <a:defRPr sz="1300" b="1">
                <a:solidFill>
                  <a:srgbClr val="0A2240"/>
                </a:solidFill>
                <a:latin typeface="Calibri"/>
              </a:defRPr>
            </a:pPr>
            <a:r>
              <a:t>Rigid Physical Infrastructure:</a:t>
            </a:r>
          </a:p>
          <a:p>
            <a:pPr>
              <a:spcBef>
                <a:spcPts val="200"/>
              </a:spcBef>
              <a:defRPr sz="1200">
                <a:solidFill>
                  <a:srgbClr val="475569"/>
                </a:solidFill>
                <a:latin typeface="Calibri"/>
              </a:defRPr>
            </a:pPr>
            <a:r>
              <a:t>Security screening lanes (AIT scanners, baggage belts, TSO rosters) cannot expand dynamically in response to sudden surges. Checkpoint lane utilization approaches capacity (ρ → 1.0).</a:t>
            </a:r>
          </a:p>
          <a:p>
            <a:pPr>
              <a:spcBef>
                <a:spcPts val="1200"/>
              </a:spcBef>
              <a:defRPr sz="1300" b="1">
                <a:solidFill>
                  <a:srgbClr val="0A2240"/>
                </a:solidFill>
                <a:latin typeface="Calibri"/>
              </a:defRPr>
            </a:pPr>
            <a:r>
              <a:t>The Operational Failure Mode:</a:t>
            </a:r>
          </a:p>
          <a:p>
            <a:pPr>
              <a:spcBef>
                <a:spcPts val="200"/>
              </a:spcBef>
              <a:defRPr sz="1200">
                <a:solidFill>
                  <a:srgbClr val="475569"/>
                </a:solidFill>
                <a:latin typeface="Calibri"/>
              </a:defRPr>
            </a:pPr>
            <a:r>
              <a:t>Static historical staffing tables leave terminals either critically over-staffed during minimal volume or severely under-staffed during delay cascades.</a:t>
            </a:r>
          </a:p>
        </p:txBody>
      </p:sp>
      <p:sp>
        <p:nvSpPr>
          <p:cNvPr id="4" name="Rounded Rectangle 3"/>
          <p:cNvSpPr/>
          <p:nvPr/>
        </p:nvSpPr>
        <p:spPr>
          <a:xfrm>
            <a:off x="6217920" y="1920240"/>
            <a:ext cx="5212080" cy="4297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defRPr sz="1100" b="1">
                <a:solidFill>
                  <a:srgbClr val="2563EB"/>
                </a:solidFill>
                <a:latin typeface="Calibri"/>
              </a:defRPr>
            </a:pPr>
            <a:r>
              <a:t>MATHEMATICAL GROUNDING: KINGMAN'S HEAVY-TRAFFIC LAW</a:t>
            </a:r>
          </a:p>
          <a:p>
            <a:pPr algn="ctr">
              <a:spcBef>
                <a:spcPts val="800"/>
              </a:spcBef>
              <a:spcAft>
                <a:spcPts val="800"/>
              </a:spcAft>
              <a:defRPr sz="1800" b="1">
                <a:solidFill>
                  <a:srgbClr val="0A2240"/>
                </a:solidFill>
                <a:latin typeface="Georgia"/>
              </a:defRPr>
            </a:pPr>
            <a:r>
              <a:t>W_q  ≈  ( ρ / (1 - ρ) ) · ( (C_a² + C_s²) / 2 ) · ( 1 / μ )</a:t>
            </a:r>
          </a:p>
          <a:p>
            <a:pPr algn="ctr">
              <a:defRPr sz="1200">
                <a:solidFill>
                  <a:srgbClr val="475569"/>
                </a:solidFill>
                <a:latin typeface="Calibri"/>
              </a:defRPr>
            </a:pPr>
            <a:r>
              <a:t>Key Operational Takeaway:</a:t>
            </a:r>
            <a:br/>
            <a:br/>
            <a:r>
              <a:t>1. Delay scales quadratically with arrival volatility (C_a²), NOT static passenger counts.</a:t>
            </a:r>
            <a:br/>
            <a:br/>
            <a:r>
              <a:t>2. As lane utilization ρ approaches 1.0, any marginal burst in passenger dispersion causes non-linear queue explosions.</a:t>
            </a:r>
            <a:br/>
            <a:br/>
            <a:r>
              <a:t>3. Accurately modeling and forecasting volatility (σ_TSA and CV_TSA) is paramount to preventing checkpoint gridlock.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RESEARCH FORMULATION</a:t>
            </a:r>
          </a:p>
          <a:p>
            <a:pPr>
              <a:spcBef>
                <a:spcPts val="300"/>
              </a:spcBef>
              <a:defRPr sz="2400" b="1">
                <a:solidFill>
                  <a:srgbClr val="0A2240"/>
                </a:solidFill>
                <a:latin typeface="Calibri"/>
              </a:defRPr>
            </a:pPr>
            <a:r>
              <a:t>Research Purpose &amp; Operational Objectives</a:t>
            </a:r>
          </a:p>
          <a:p>
            <a:pPr>
              <a:spcBef>
                <a:spcPts val="300"/>
              </a:spcBef>
              <a:defRPr sz="1300">
                <a:solidFill>
                  <a:srgbClr val="475569"/>
                </a:solidFill>
                <a:latin typeface="Calibri"/>
              </a:defRPr>
            </a:pPr>
            <a:r>
              <a:t>Transforming Terminal Security from Static Accounting to Stochastic Forecasting</a:t>
            </a:r>
          </a:p>
        </p:txBody>
      </p:sp>
      <p:sp>
        <p:nvSpPr>
          <p:cNvPr id="3" name="Rounded Rectangle 2"/>
          <p:cNvSpPr/>
          <p:nvPr/>
        </p:nvSpPr>
        <p:spPr>
          <a:xfrm>
            <a:off x="731520" y="2011680"/>
            <a:ext cx="338328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100" b="1">
                <a:solidFill>
                  <a:srgbClr val="2563EB"/>
                </a:solidFill>
                <a:latin typeface="Calibri"/>
              </a:defRPr>
            </a:pPr>
            <a:r>
              <a:t>OBJECTIVE 1</a:t>
            </a:r>
          </a:p>
          <a:p>
            <a:pPr>
              <a:spcBef>
                <a:spcPts val="800"/>
              </a:spcBef>
              <a:defRPr sz="1600" b="1">
                <a:solidFill>
                  <a:srgbClr val="0A2240"/>
                </a:solidFill>
                <a:latin typeface="Calibri"/>
              </a:defRPr>
            </a:pPr>
            <a:r>
              <a:t>Pivot from Volume to Volatility</a:t>
            </a:r>
          </a:p>
          <a:p>
            <a:pPr>
              <a:spcBef>
                <a:spcPts val="1200"/>
              </a:spcBef>
              <a:defRPr sz="1200">
                <a:solidFill>
                  <a:srgbClr val="475569"/>
                </a:solidFill>
                <a:latin typeface="Calibri"/>
              </a:defRPr>
            </a:pPr>
            <a:r>
              <a:t>Shift the core predictive target from raw static passenger headcounts (y_t) to true throughput volatility (σ_TSA, CV_TSA), capturing the arrival burstiness that directly governs queuing delays under heavy utilization.</a:t>
            </a:r>
          </a:p>
        </p:txBody>
      </p:sp>
      <p:sp>
        <p:nvSpPr>
          <p:cNvPr id="4" name="Rounded Rectangle 3"/>
          <p:cNvSpPr/>
          <p:nvPr/>
        </p:nvSpPr>
        <p:spPr>
          <a:xfrm>
            <a:off x="4389120" y="2011680"/>
            <a:ext cx="338328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100" b="1">
                <a:solidFill>
                  <a:srgbClr val="2563EB"/>
                </a:solidFill>
                <a:latin typeface="Calibri"/>
              </a:defRPr>
            </a:pPr>
            <a:r>
              <a:t>OBJECTIVE 2</a:t>
            </a:r>
          </a:p>
          <a:p>
            <a:pPr>
              <a:spcBef>
                <a:spcPts val="800"/>
              </a:spcBef>
              <a:defRPr sz="1600" b="1">
                <a:solidFill>
                  <a:srgbClr val="0A2240"/>
                </a:solidFill>
                <a:latin typeface="Calibri"/>
              </a:defRPr>
            </a:pPr>
            <a:r>
              <a:t>Multi-Paradigm Comparative Evaluation</a:t>
            </a:r>
          </a:p>
          <a:p>
            <a:pPr>
              <a:spcBef>
                <a:spcPts val="1200"/>
              </a:spcBef>
              <a:defRPr sz="1200">
                <a:solidFill>
                  <a:srgbClr val="475569"/>
                </a:solidFill>
                <a:latin typeface="Calibri"/>
              </a:defRPr>
            </a:pPr>
            <a:r>
              <a:t>Empirically evaluate three candidate modeling families—deterministic flight schedules, supervised machine learning, and dynamic 2-stage hybrids—benchmarked against a non-parametric naive persistence control.</a:t>
            </a:r>
          </a:p>
        </p:txBody>
      </p:sp>
      <p:sp>
        <p:nvSpPr>
          <p:cNvPr id="5" name="Rounded Rectangle 4"/>
          <p:cNvSpPr/>
          <p:nvPr/>
        </p:nvSpPr>
        <p:spPr>
          <a:xfrm>
            <a:off x="8046720" y="2011680"/>
            <a:ext cx="338328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100" b="1">
                <a:solidFill>
                  <a:srgbClr val="2563EB"/>
                </a:solidFill>
                <a:latin typeface="Calibri"/>
              </a:defRPr>
            </a:pPr>
            <a:r>
              <a:t>OBJECTIVE 3</a:t>
            </a:r>
          </a:p>
          <a:p>
            <a:pPr>
              <a:spcBef>
                <a:spcPts val="800"/>
              </a:spcBef>
              <a:defRPr sz="1600" b="1">
                <a:solidFill>
                  <a:srgbClr val="0A2240"/>
                </a:solidFill>
                <a:latin typeface="Calibri"/>
              </a:defRPr>
            </a:pPr>
            <a:r>
              <a:t>Circumstance-Conditioned Model Selection</a:t>
            </a:r>
          </a:p>
          <a:p>
            <a:pPr>
              <a:spcBef>
                <a:spcPts val="1200"/>
              </a:spcBef>
              <a:defRPr sz="1200">
                <a:solidFill>
                  <a:srgbClr val="475569"/>
                </a:solidFill>
                <a:latin typeface="Calibri"/>
              </a:defRPr>
            </a:pPr>
            <a:r>
              <a:t>Formalize a multi-pillar evaluative architecture proving that model optimality is contingent upon operational priorities (routine accuracy vs. disruption resilience vs. zero-shot facility portability).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CORE INQUIRY</a:t>
            </a:r>
          </a:p>
          <a:p>
            <a:pPr>
              <a:spcBef>
                <a:spcPts val="300"/>
              </a:spcBef>
              <a:defRPr sz="2400" b="1">
                <a:solidFill>
                  <a:srgbClr val="0A2240"/>
                </a:solidFill>
                <a:latin typeface="Calibri"/>
              </a:defRPr>
            </a:pPr>
            <a:r>
              <a:t>Primary Research Question</a:t>
            </a:r>
          </a:p>
          <a:p>
            <a:pPr>
              <a:spcBef>
                <a:spcPts val="300"/>
              </a:spcBef>
              <a:defRPr sz="1300">
                <a:solidFill>
                  <a:srgbClr val="475569"/>
                </a:solidFill>
                <a:latin typeface="Calibri"/>
              </a:defRPr>
            </a:pPr>
            <a:r>
              <a:t>Evaluating Predictive Paradigms Across Competing Operational Trade-Offs</a:t>
            </a:r>
          </a:p>
        </p:txBody>
      </p:sp>
      <p:sp>
        <p:nvSpPr>
          <p:cNvPr id="3" name="Rounded Rectangle 2"/>
          <p:cNvSpPr/>
          <p:nvPr/>
        </p:nvSpPr>
        <p:spPr>
          <a:xfrm>
            <a:off x="1371600" y="1828800"/>
            <a:ext cx="9418320" cy="210312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274320"/>
          <a:lstStyle/>
          <a:p>
            <a:pPr algn="ctr">
              <a:defRPr sz="1200" b="1">
                <a:solidFill>
                  <a:srgbClr val="2563EB"/>
                </a:solidFill>
                <a:latin typeface="Calibri"/>
              </a:defRPr>
            </a:pPr>
            <a:r>
              <a:t>RESEARCH QUESTION (RQ₁)</a:t>
            </a:r>
          </a:p>
          <a:p>
            <a:pPr algn="ctr">
              <a:spcBef>
                <a:spcPts val="800"/>
              </a:spcBef>
              <a:defRPr sz="1500">
                <a:solidFill>
                  <a:srgbClr val="0A2240"/>
                </a:solidFill>
                <a:latin typeface="Georgia"/>
              </a:defRPr>
            </a:pPr>
            <a:r>
              <a:t>“Which predictive modeling frameworks—spanning deterministic persistence controls, deterministic schedule baselines, machine learning, and dynamic two-stage hybrids—are most effective for forecasting airport passenger security screening throughput volatility when prioritizing robustness, resilience, or generalizability as the primary operational evaluation metric?”</a:t>
            </a:r>
          </a:p>
        </p:txBody>
      </p:sp>
      <p:sp>
        <p:nvSpPr>
          <p:cNvPr id="4" name="Rounded Rectangle 3"/>
          <p:cNvSpPr/>
          <p:nvPr/>
        </p:nvSpPr>
        <p:spPr>
          <a:xfrm>
            <a:off x="1371600" y="4297680"/>
            <a:ext cx="2926080" cy="1920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200" b="1">
                <a:solidFill>
                  <a:srgbClr val="0A2240"/>
                </a:solidFill>
                <a:latin typeface="Calibri"/>
              </a:defRPr>
            </a:pPr>
            <a:r>
              <a:t>ROBUSTNESS</a:t>
            </a:r>
          </a:p>
          <a:p>
            <a:pPr>
              <a:spcBef>
                <a:spcPts val="200"/>
              </a:spcBef>
              <a:defRPr sz="1100" b="1">
                <a:solidFill>
                  <a:srgbClr val="2563EB"/>
                </a:solidFill>
                <a:latin typeface="Calibri"/>
              </a:defRPr>
            </a:pPr>
            <a:r>
              <a:t>Routine Operational Accuracy</a:t>
            </a:r>
          </a:p>
          <a:p>
            <a:pPr>
              <a:spcBef>
                <a:spcPts val="400"/>
              </a:spcBef>
              <a:defRPr sz="1050">
                <a:solidFill>
                  <a:srgbClr val="475569"/>
                </a:solidFill>
                <a:latin typeface="Calibri"/>
              </a:defRPr>
            </a:pPr>
            <a:r>
              <a:t>Lowest RMSE &amp; MASE &lt; 0.700 under nominal on-time operations (delay &lt; 15m, 0 cancels).</a:t>
            </a:r>
          </a:p>
        </p:txBody>
      </p:sp>
      <p:sp>
        <p:nvSpPr>
          <p:cNvPr id="5" name="Rounded Rectangle 4"/>
          <p:cNvSpPr/>
          <p:nvPr/>
        </p:nvSpPr>
        <p:spPr>
          <a:xfrm>
            <a:off x="4663440" y="4297680"/>
            <a:ext cx="2926080" cy="1920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200" b="1">
                <a:solidFill>
                  <a:srgbClr val="0A2240"/>
                </a:solidFill>
                <a:latin typeface="Calibri"/>
              </a:defRPr>
            </a:pPr>
            <a:r>
              <a:t>RESILIENCE</a:t>
            </a:r>
          </a:p>
          <a:p>
            <a:pPr>
              <a:spcBef>
                <a:spcPts val="200"/>
              </a:spcBef>
              <a:defRPr sz="1100" b="1">
                <a:solidFill>
                  <a:srgbClr val="2563EB"/>
                </a:solidFill>
                <a:latin typeface="Calibri"/>
              </a:defRPr>
            </a:pPr>
            <a:r>
              <a:t>Disruption Shock Stability</a:t>
            </a:r>
          </a:p>
          <a:p>
            <a:pPr>
              <a:spcBef>
                <a:spcPts val="400"/>
              </a:spcBef>
              <a:defRPr sz="1050">
                <a:solidFill>
                  <a:srgbClr val="475569"/>
                </a:solidFill>
                <a:latin typeface="Calibri"/>
              </a:defRPr>
            </a:pPr>
            <a:r>
              <a:t>Disruption multiplier R_MASE ≈ 1.00, lowest shock error, and recovery time TTR &lt; 4.0h during IROPS.</a:t>
            </a:r>
          </a:p>
        </p:txBody>
      </p:sp>
      <p:sp>
        <p:nvSpPr>
          <p:cNvPr id="6" name="Rounded Rectangle 5"/>
          <p:cNvSpPr/>
          <p:nvPr/>
        </p:nvSpPr>
        <p:spPr>
          <a:xfrm>
            <a:off x="7955279" y="4297680"/>
            <a:ext cx="2926080" cy="1920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200" b="1">
                <a:solidFill>
                  <a:srgbClr val="0A2240"/>
                </a:solidFill>
                <a:latin typeface="Calibri"/>
              </a:defRPr>
            </a:pPr>
            <a:r>
              <a:t>GENERALIZABILITY</a:t>
            </a:r>
          </a:p>
          <a:p>
            <a:pPr>
              <a:spcBef>
                <a:spcPts val="200"/>
              </a:spcBef>
              <a:defRPr sz="1100" b="1">
                <a:solidFill>
                  <a:srgbClr val="2563EB"/>
                </a:solidFill>
                <a:latin typeface="Calibri"/>
              </a:defRPr>
            </a:pPr>
            <a:r>
              <a:t>Zero-Shot Facility Portability</a:t>
            </a:r>
          </a:p>
          <a:p>
            <a:pPr>
              <a:spcBef>
                <a:spcPts val="400"/>
              </a:spcBef>
              <a:defRPr sz="1050">
                <a:solidFill>
                  <a:srgbClr val="475569"/>
                </a:solidFill>
                <a:latin typeface="Calibri"/>
              </a:defRPr>
            </a:pPr>
            <a:r>
              <a:t>Relative transfer ratio RTR ≈ 1.00 and error penalty ΔMASE ≤ 10% deployed to new terminals without retraining.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THEORETICAL FORMULATION</a:t>
            </a:r>
          </a:p>
          <a:p>
            <a:pPr>
              <a:spcBef>
                <a:spcPts val="300"/>
              </a:spcBef>
              <a:defRPr sz="2400" b="1">
                <a:solidFill>
                  <a:srgbClr val="0A2240"/>
                </a:solidFill>
                <a:latin typeface="Calibri"/>
              </a:defRPr>
            </a:pPr>
            <a:r>
              <a:t>Hypothesis: The Asymmetric Trade-Off (H₁)</a:t>
            </a:r>
          </a:p>
          <a:p>
            <a:pPr>
              <a:spcBef>
                <a:spcPts val="300"/>
              </a:spcBef>
              <a:defRPr sz="1300">
                <a:solidFill>
                  <a:srgbClr val="475569"/>
                </a:solidFill>
                <a:latin typeface="Calibri"/>
              </a:defRPr>
            </a:pPr>
            <a:r>
              <a:t>No Single Predictive Technique is Universally Dominant Across All Operating Regimes</a:t>
            </a:r>
          </a:p>
        </p:txBody>
      </p:sp>
      <p:sp>
        <p:nvSpPr>
          <p:cNvPr id="3" name="Rounded Rectangle 2"/>
          <p:cNvSpPr/>
          <p:nvPr/>
        </p:nvSpPr>
        <p:spPr>
          <a:xfrm>
            <a:off x="731520" y="1828800"/>
            <a:ext cx="10698480" cy="1005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tIns="137160"/>
          <a:lstStyle/>
          <a:p>
            <a:pPr algn="ctr">
              <a:defRPr sz="1100" b="1">
                <a:solidFill>
                  <a:srgbClr val="2563EB"/>
                </a:solidFill>
                <a:latin typeface="Calibri"/>
              </a:defRPr>
            </a:pPr>
            <a:r>
              <a:t>MASTER HYPOTHESIS H₁:</a:t>
            </a:r>
          </a:p>
          <a:p>
            <a:pPr>
              <a:spcBef>
                <a:spcPts val="200"/>
              </a:spcBef>
              <a:defRPr sz="1400" b="1">
                <a:solidFill>
                  <a:srgbClr val="0A2240"/>
                </a:solidFill>
                <a:latin typeface="Calibri"/>
              </a:defRPr>
            </a:pPr>
            <a:r>
              <a:t>Across the candidate modeling paradigms evaluated, no individual approach will prove superior across all three performance measures (robustness, resilience, and generalizability).</a:t>
            </a:r>
          </a:p>
        </p:txBody>
      </p:sp>
      <p:sp>
        <p:nvSpPr>
          <p:cNvPr id="4" name="Rounded Rectangle 3"/>
          <p:cNvSpPr/>
          <p:nvPr/>
        </p:nvSpPr>
        <p:spPr>
          <a:xfrm>
            <a:off x="731520" y="3017520"/>
            <a:ext cx="3383280" cy="3200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defRPr sz="1300" b="1">
                <a:solidFill>
                  <a:srgbClr val="0A2240"/>
                </a:solidFill>
                <a:latin typeface="Calibri"/>
              </a:defRPr>
            </a:pPr>
            <a:r>
              <a:t>H₁ₐ  ·  Robustness</a:t>
            </a:r>
          </a:p>
          <a:p>
            <a:pPr>
              <a:spcBef>
                <a:spcPts val="300"/>
              </a:spcBef>
              <a:defRPr sz="1100" b="1">
                <a:solidFill>
                  <a:srgbClr val="2563EB"/>
                </a:solidFill>
                <a:latin typeface="Calibri"/>
              </a:defRPr>
            </a:pPr>
            <a:r>
              <a:t>ROUTINE ACCURACY WINNER</a:t>
            </a:r>
          </a:p>
          <a:p>
            <a:pPr>
              <a:spcBef>
                <a:spcPts val="800"/>
              </a:spcBef>
              <a:defRPr sz="1150">
                <a:solidFill>
                  <a:srgbClr val="475569"/>
                </a:solidFill>
                <a:latin typeface="Calibri"/>
              </a:defRPr>
            </a:pPr>
            <a:r>
              <a:t>Model 2 (Machine Learning) &amp; Model 3 (Hybrid) achieve MASE &lt; 0.700 under nominal rhythms.</a:t>
            </a:r>
            <a:br/>
            <a:br/>
            <a:r>
              <a:t>Deterministic baselines fail due to schedule rigidity.</a:t>
            </a:r>
          </a:p>
        </p:txBody>
      </p:sp>
      <p:sp>
        <p:nvSpPr>
          <p:cNvPr id="5" name="Rounded Rectangle 4"/>
          <p:cNvSpPr/>
          <p:nvPr/>
        </p:nvSpPr>
        <p:spPr>
          <a:xfrm>
            <a:off x="4389120" y="3017520"/>
            <a:ext cx="3383280" cy="3200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defRPr sz="1300" b="1">
                <a:solidFill>
                  <a:srgbClr val="0A2240"/>
                </a:solidFill>
                <a:latin typeface="Calibri"/>
              </a:defRPr>
            </a:pPr>
            <a:r>
              <a:t>H₁ᵦ  ·  Resilience</a:t>
            </a:r>
          </a:p>
          <a:p>
            <a:pPr>
              <a:spcBef>
                <a:spcPts val="300"/>
              </a:spcBef>
              <a:defRPr sz="1100" b="1">
                <a:solidFill>
                  <a:srgbClr val="2563EB"/>
                </a:solidFill>
                <a:latin typeface="Calibri"/>
              </a:defRPr>
            </a:pPr>
            <a:r>
              <a:t>DISRUPTION SHOCK WINNER</a:t>
            </a:r>
          </a:p>
          <a:p>
            <a:pPr>
              <a:spcBef>
                <a:spcPts val="800"/>
              </a:spcBef>
              <a:defRPr sz="1150">
                <a:solidFill>
                  <a:srgbClr val="475569"/>
                </a:solidFill>
                <a:latin typeface="Calibri"/>
              </a:defRPr>
            </a:pPr>
            <a:r>
              <a:t>Model 3 (Dynamic Hybrid) is the sole model satisfying resilience (R_MASE ≈ 1.05).</a:t>
            </a:r>
            <a:br/>
            <a:br/>
            <a:r>
              <a:t>Model 2 collapses (R = 2.14) due to the Empty Checkpoint Fallacy.</a:t>
            </a:r>
          </a:p>
        </p:txBody>
      </p:sp>
      <p:sp>
        <p:nvSpPr>
          <p:cNvPr id="6" name="Rounded Rectangle 5"/>
          <p:cNvSpPr/>
          <p:nvPr/>
        </p:nvSpPr>
        <p:spPr>
          <a:xfrm>
            <a:off x="8046720" y="3017520"/>
            <a:ext cx="3383280" cy="3200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defRPr sz="1300" b="1">
                <a:solidFill>
                  <a:srgbClr val="0A2240"/>
                </a:solidFill>
                <a:latin typeface="Calibri"/>
              </a:defRPr>
            </a:pPr>
            <a:r>
              <a:t>H₁꜀  ·  Generalizability</a:t>
            </a:r>
          </a:p>
          <a:p>
            <a:pPr>
              <a:spcBef>
                <a:spcPts val="300"/>
              </a:spcBef>
              <a:defRPr sz="1100" b="1">
                <a:solidFill>
                  <a:srgbClr val="2563EB"/>
                </a:solidFill>
                <a:latin typeface="Calibri"/>
              </a:defRPr>
            </a:pPr>
            <a:r>
              <a:t>ZERO-SHOT TRANSFER WINNER</a:t>
            </a:r>
          </a:p>
          <a:p>
            <a:pPr>
              <a:spcBef>
                <a:spcPts val="800"/>
              </a:spcBef>
              <a:defRPr sz="1150">
                <a:solidFill>
                  <a:srgbClr val="475569"/>
                </a:solidFill>
                <a:latin typeface="Calibri"/>
              </a:defRPr>
            </a:pPr>
            <a:r>
              <a:t>Model 1 (Deterministic) satisfies transfer targets (RTR = 1.04, ΔMASE = +4.0%).</a:t>
            </a:r>
            <a:br/>
            <a:br/>
            <a:r>
              <a:t>Model 3 fails (RTR = 1.19, ΔMASE = +21.5%) due to terminal geometry overfitting.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EVALUATIVE TRIO</a:t>
            </a:r>
          </a:p>
          <a:p>
            <a:pPr>
              <a:spcBef>
                <a:spcPts val="300"/>
              </a:spcBef>
              <a:defRPr sz="2400" b="1">
                <a:solidFill>
                  <a:srgbClr val="0A2240"/>
                </a:solidFill>
                <a:latin typeface="Calibri"/>
              </a:defRPr>
            </a:pPr>
            <a:r>
              <a:t>The Multi-Pillar Performance Framework</a:t>
            </a:r>
          </a:p>
          <a:p>
            <a:pPr>
              <a:spcBef>
                <a:spcPts val="300"/>
              </a:spcBef>
              <a:defRPr sz="1300">
                <a:solidFill>
                  <a:srgbClr val="475569"/>
                </a:solidFill>
                <a:latin typeface="Calibri"/>
              </a:defRPr>
            </a:pPr>
            <a:r>
              <a:t>Replacing Single-Metric Bias with a Context-Aware Operational Evaluation Trio</a:t>
            </a:r>
          </a:p>
        </p:txBody>
      </p:sp>
      <p:sp>
        <p:nvSpPr>
          <p:cNvPr id="3" name="Rounded Rectangle 2"/>
          <p:cNvSpPr/>
          <p:nvPr/>
        </p:nvSpPr>
        <p:spPr>
          <a:xfrm>
            <a:off x="731520" y="2011680"/>
            <a:ext cx="338328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100" b="1">
                <a:solidFill>
                  <a:srgbClr val="2563EB"/>
                </a:solidFill>
                <a:latin typeface="Calibri"/>
              </a:defRPr>
            </a:pPr>
            <a:r>
              <a:t>DIMENSION 1</a:t>
            </a:r>
          </a:p>
          <a:p>
            <a:pPr>
              <a:spcBef>
                <a:spcPts val="200"/>
              </a:spcBef>
              <a:defRPr sz="2000" b="1">
                <a:solidFill>
                  <a:srgbClr val="0A2240"/>
                </a:solidFill>
                <a:latin typeface="Calibri"/>
              </a:defRPr>
            </a:pPr>
            <a:r>
              <a:t>ROBUSTNESS</a:t>
            </a:r>
          </a:p>
          <a:p>
            <a:pPr>
              <a:spcBef>
                <a:spcPts val="400"/>
              </a:spcBef>
              <a:defRPr sz="1200">
                <a:solidFill>
                  <a:srgbClr val="0F172A"/>
                </a:solidFill>
                <a:latin typeface="Calibri"/>
              </a:defRPr>
            </a:pPr>
            <a:r>
              <a:t>Routine Baseline Accuracy</a:t>
            </a:r>
          </a:p>
          <a:p>
            <a:pPr>
              <a:spcBef>
                <a:spcPts val="1200"/>
              </a:spcBef>
              <a:defRPr sz="1100" b="1">
                <a:solidFill>
                  <a:srgbClr val="15803D"/>
                </a:solidFill>
                <a:latin typeface="Calibri"/>
              </a:defRPr>
            </a:pPr>
            <a:r>
              <a:t>Target: Lowest RMSE &amp; MASE &lt; 0.700</a:t>
            </a:r>
          </a:p>
          <a:p>
            <a:pPr>
              <a:spcBef>
                <a:spcPts val="800"/>
              </a:spcBef>
              <a:defRPr sz="1150">
                <a:solidFill>
                  <a:srgbClr val="475569"/>
                </a:solidFill>
                <a:latin typeface="Calibri"/>
              </a:defRPr>
            </a:pPr>
            <a:r>
              <a:t>Measures forecasting accuracy under nominal, on-time baseline operations (delays &lt; 15 min, 0 cancellations). Ensures reliable day-to-day base staffing rosters.</a:t>
            </a:r>
          </a:p>
        </p:txBody>
      </p:sp>
      <p:sp>
        <p:nvSpPr>
          <p:cNvPr id="4" name="Rounded Rectangle 3"/>
          <p:cNvSpPr/>
          <p:nvPr/>
        </p:nvSpPr>
        <p:spPr>
          <a:xfrm>
            <a:off x="4389120" y="2011680"/>
            <a:ext cx="338328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100" b="1">
                <a:solidFill>
                  <a:srgbClr val="2563EB"/>
                </a:solidFill>
                <a:latin typeface="Calibri"/>
              </a:defRPr>
            </a:pPr>
            <a:r>
              <a:t>DIMENSION 2</a:t>
            </a:r>
          </a:p>
          <a:p>
            <a:pPr>
              <a:spcBef>
                <a:spcPts val="200"/>
              </a:spcBef>
              <a:defRPr sz="2000" b="1">
                <a:solidFill>
                  <a:srgbClr val="0A2240"/>
                </a:solidFill>
                <a:latin typeface="Calibri"/>
              </a:defRPr>
            </a:pPr>
            <a:r>
              <a:t>RESILIENCE</a:t>
            </a:r>
          </a:p>
          <a:p>
            <a:pPr>
              <a:spcBef>
                <a:spcPts val="400"/>
              </a:spcBef>
              <a:defRPr sz="1200">
                <a:solidFill>
                  <a:srgbClr val="0F172A"/>
                </a:solidFill>
                <a:latin typeface="Calibri"/>
              </a:defRPr>
            </a:pPr>
            <a:r>
              <a:t>Disruption Shock Recovery</a:t>
            </a:r>
          </a:p>
          <a:p>
            <a:pPr>
              <a:spcBef>
                <a:spcPts val="1200"/>
              </a:spcBef>
              <a:defRPr sz="1100" b="1">
                <a:solidFill>
                  <a:srgbClr val="15803D"/>
                </a:solidFill>
                <a:latin typeface="Calibri"/>
              </a:defRPr>
            </a:pPr>
            <a:r>
              <a:t>Target: R_MASE ≈ 1.00 &amp; TTR &lt; 4.0h</a:t>
            </a:r>
          </a:p>
          <a:p>
            <a:pPr>
              <a:spcBef>
                <a:spcPts val="800"/>
              </a:spcBef>
              <a:defRPr sz="1150">
                <a:solidFill>
                  <a:srgbClr val="475569"/>
                </a:solidFill>
                <a:latin typeface="Calibri"/>
              </a:defRPr>
            </a:pPr>
            <a:r>
              <a:t>Measures stability and recovery rate under acute convective flight ground stops and severe delays (≥ 45 min, cancels ≥ 5). Prevents checkpoint under-staffing during IROPS.</a:t>
            </a:r>
          </a:p>
        </p:txBody>
      </p:sp>
      <p:sp>
        <p:nvSpPr>
          <p:cNvPr id="5" name="Rounded Rectangle 4"/>
          <p:cNvSpPr/>
          <p:nvPr/>
        </p:nvSpPr>
        <p:spPr>
          <a:xfrm>
            <a:off x="8046720" y="2011680"/>
            <a:ext cx="338328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100" b="1">
                <a:solidFill>
                  <a:srgbClr val="2563EB"/>
                </a:solidFill>
                <a:latin typeface="Calibri"/>
              </a:defRPr>
            </a:pPr>
            <a:r>
              <a:t>DIMENSION 3</a:t>
            </a:r>
          </a:p>
          <a:p>
            <a:pPr>
              <a:spcBef>
                <a:spcPts val="200"/>
              </a:spcBef>
              <a:defRPr sz="2000" b="1">
                <a:solidFill>
                  <a:srgbClr val="0A2240"/>
                </a:solidFill>
                <a:latin typeface="Calibri"/>
              </a:defRPr>
            </a:pPr>
            <a:r>
              <a:t>GENERALIZABILITY</a:t>
            </a:r>
          </a:p>
          <a:p>
            <a:pPr>
              <a:spcBef>
                <a:spcPts val="400"/>
              </a:spcBef>
              <a:defRPr sz="1200">
                <a:solidFill>
                  <a:srgbClr val="0F172A"/>
                </a:solidFill>
                <a:latin typeface="Calibri"/>
              </a:defRPr>
            </a:pPr>
            <a:r>
              <a:t>Zero-Shot Facility Transfer</a:t>
            </a:r>
          </a:p>
          <a:p>
            <a:pPr>
              <a:spcBef>
                <a:spcPts val="1200"/>
              </a:spcBef>
              <a:defRPr sz="1100" b="1">
                <a:solidFill>
                  <a:srgbClr val="15803D"/>
                </a:solidFill>
                <a:latin typeface="Calibri"/>
              </a:defRPr>
            </a:pPr>
            <a:r>
              <a:t>Target: RTR ≤ 1.05 &amp; ΔMASE ≤ 10%</a:t>
            </a:r>
          </a:p>
          <a:p>
            <a:pPr>
              <a:spcBef>
                <a:spcPts val="800"/>
              </a:spcBef>
              <a:defRPr sz="1150">
                <a:solidFill>
                  <a:srgbClr val="475569"/>
                </a:solidFill>
                <a:latin typeface="Calibri"/>
              </a:defRPr>
            </a:pPr>
            <a:r>
              <a:t>Measures transferability of source-calibrated models (EWR) to unfamiliar target terminals (LGA) without local retraining. Tests structural independence from local physical geometry.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THEORETICAL EVOLUTION</a:t>
            </a:r>
          </a:p>
          <a:p>
            <a:pPr>
              <a:spcBef>
                <a:spcPts val="300"/>
              </a:spcBef>
              <a:defRPr sz="2400" b="1">
                <a:solidFill>
                  <a:srgbClr val="0A2240"/>
                </a:solidFill>
                <a:latin typeface="Calibri"/>
              </a:defRPr>
            </a:pPr>
            <a:r>
              <a:t>Chronological Evolution of Terminal Flow Literature</a:t>
            </a:r>
          </a:p>
          <a:p>
            <a:pPr>
              <a:spcBef>
                <a:spcPts val="300"/>
              </a:spcBef>
              <a:defRPr sz="1300">
                <a:solidFill>
                  <a:srgbClr val="475569"/>
                </a:solidFill>
                <a:latin typeface="Calibri"/>
              </a:defRPr>
            </a:pPr>
            <a:r>
              <a:t>Bridging the Historical Divide Between Airside Operations and Landside Security</a:t>
            </a:r>
          </a:p>
        </p:txBody>
      </p:sp>
      <p:sp>
        <p:nvSpPr>
          <p:cNvPr id="3" name="Rounded Rectangle 2"/>
          <p:cNvSpPr/>
          <p:nvPr/>
        </p:nvSpPr>
        <p:spPr>
          <a:xfrm>
            <a:off x="731520" y="2011680"/>
            <a:ext cx="256032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100" b="1">
                <a:solidFill>
                  <a:srgbClr val="2563EB"/>
                </a:solidFill>
                <a:latin typeface="Calibri"/>
              </a:defRPr>
            </a:pPr>
            <a:r>
              <a:t>Phase I: 1990s–2000s</a:t>
            </a:r>
          </a:p>
          <a:p>
            <a:pPr>
              <a:spcBef>
                <a:spcPts val="400"/>
              </a:spcBef>
              <a:defRPr sz="1500" b="1">
                <a:solidFill>
                  <a:srgbClr val="0A2240"/>
                </a:solidFill>
                <a:latin typeface="Calibri"/>
              </a:defRPr>
            </a:pPr>
            <a:r>
              <a:t>Deterministic Airline Scheduling</a:t>
            </a:r>
          </a:p>
          <a:p>
            <a:pPr>
              <a:spcBef>
                <a:spcPts val="1000"/>
              </a:spcBef>
              <a:defRPr sz="1100">
                <a:solidFill>
                  <a:srgbClr val="475569"/>
                </a:solidFill>
                <a:latin typeface="Calibri"/>
              </a:defRPr>
            </a:pPr>
            <a:r>
              <a:t>Convolving flight seat banks across static ACRP Report 40 passenger arrival distributions.</a:t>
            </a:r>
            <a:br/>
            <a:br/>
            <a:r>
              <a:t>Assumes 100% on-time flight departures; blind to delay cascades.</a:t>
            </a:r>
          </a:p>
        </p:txBody>
      </p:sp>
      <p:sp>
        <p:nvSpPr>
          <p:cNvPr id="4" name="Rounded Rectangle 3"/>
          <p:cNvSpPr/>
          <p:nvPr/>
        </p:nvSpPr>
        <p:spPr>
          <a:xfrm>
            <a:off x="3474720" y="2011680"/>
            <a:ext cx="256032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100" b="1">
                <a:solidFill>
                  <a:srgbClr val="2563EB"/>
                </a:solidFill>
                <a:latin typeface="Calibri"/>
              </a:defRPr>
            </a:pPr>
            <a:r>
              <a:t>Phase II: 2000s–2010s</a:t>
            </a:r>
          </a:p>
          <a:p>
            <a:pPr>
              <a:spcBef>
                <a:spcPts val="400"/>
              </a:spcBef>
              <a:defRPr sz="1500" b="1">
                <a:solidFill>
                  <a:srgbClr val="0A2240"/>
                </a:solidFill>
                <a:latin typeface="Calibri"/>
              </a:defRPr>
            </a:pPr>
            <a:r>
              <a:t>Discrete-Event Simulation</a:t>
            </a:r>
          </a:p>
          <a:p>
            <a:pPr>
              <a:spcBef>
                <a:spcPts val="1000"/>
              </a:spcBef>
              <a:defRPr sz="1100">
                <a:solidFill>
                  <a:srgbClr val="475569"/>
                </a:solidFill>
                <a:latin typeface="Calibri"/>
              </a:defRPr>
            </a:pPr>
            <a:r>
              <a:t>Micro-simulation modeling individual passenger paths (Simio, CAST, ARENA).</a:t>
            </a:r>
            <a:br/>
            <a:br/>
            <a:r>
              <a:t>Detailed terminal layout fidelity, but extreme computational latency prohibits live dispatch.</a:t>
            </a:r>
          </a:p>
        </p:txBody>
      </p:sp>
      <p:sp>
        <p:nvSpPr>
          <p:cNvPr id="5" name="Rounded Rectangle 4"/>
          <p:cNvSpPr/>
          <p:nvPr/>
        </p:nvSpPr>
        <p:spPr>
          <a:xfrm>
            <a:off x="6217920" y="2011680"/>
            <a:ext cx="256032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100" b="1">
                <a:solidFill>
                  <a:srgbClr val="2563EB"/>
                </a:solidFill>
                <a:latin typeface="Calibri"/>
              </a:defRPr>
            </a:pPr>
            <a:r>
              <a:t>Phase III: 2015–2020s</a:t>
            </a:r>
          </a:p>
          <a:p>
            <a:pPr>
              <a:spcBef>
                <a:spcPts val="400"/>
              </a:spcBef>
              <a:defRPr sz="1500" b="1">
                <a:solidFill>
                  <a:srgbClr val="0A2240"/>
                </a:solidFill>
                <a:latin typeface="Calibri"/>
              </a:defRPr>
            </a:pPr>
            <a:r>
              <a:t>Supervised Machine Learning</a:t>
            </a:r>
          </a:p>
          <a:p>
            <a:pPr>
              <a:spcBef>
                <a:spcPts val="1000"/>
              </a:spcBef>
              <a:defRPr sz="1100">
                <a:solidFill>
                  <a:srgbClr val="475569"/>
                </a:solidFill>
                <a:latin typeface="Calibri"/>
              </a:defRPr>
            </a:pPr>
            <a:r>
              <a:t>Gradient-boosted decision trees incorporating flight delays and weather covariates.</a:t>
            </a:r>
            <a:br/>
            <a:br/>
            <a:r>
              <a:t>Optimizes routine nominal error, but exhibits severe brittleness during severe convective disruptions.</a:t>
            </a:r>
          </a:p>
        </p:txBody>
      </p:sp>
      <p:sp>
        <p:nvSpPr>
          <p:cNvPr id="6" name="Rounded Rectangle 5"/>
          <p:cNvSpPr/>
          <p:nvPr/>
        </p:nvSpPr>
        <p:spPr>
          <a:xfrm>
            <a:off x="8961120" y="2011680"/>
            <a:ext cx="256032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100" b="1">
                <a:solidFill>
                  <a:srgbClr val="2563EB"/>
                </a:solidFill>
                <a:latin typeface="Calibri"/>
              </a:defRPr>
            </a:pPr>
            <a:r>
              <a:t>Phase IV: Contemporary</a:t>
            </a:r>
          </a:p>
          <a:p>
            <a:pPr>
              <a:spcBef>
                <a:spcPts val="400"/>
              </a:spcBef>
              <a:defRPr sz="1500" b="1">
                <a:solidFill>
                  <a:srgbClr val="0A2240"/>
                </a:solidFill>
                <a:latin typeface="Calibri"/>
              </a:defRPr>
            </a:pPr>
            <a:r>
              <a:t>Two-Stage Dynamic Hybrids</a:t>
            </a:r>
          </a:p>
          <a:p>
            <a:pPr>
              <a:spcBef>
                <a:spcPts val="1000"/>
              </a:spcBef>
              <a:defRPr sz="1100">
                <a:solidFill>
                  <a:srgbClr val="475569"/>
                </a:solidFill>
                <a:latin typeface="Calibri"/>
              </a:defRPr>
            </a:pPr>
            <a:r>
              <a:t>Coupling deterministic schedule foundations with live checkpoint floor feedback (e_t-1).</a:t>
            </a:r>
            <a:br/>
            <a:br/>
            <a:r>
              <a:t>Provides real-time adaptability while preserving physical mass balance principles.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LITERATURE GAP</a:t>
            </a:r>
          </a:p>
          <a:p>
            <a:pPr>
              <a:spcBef>
                <a:spcPts val="300"/>
              </a:spcBef>
              <a:defRPr sz="2400" b="1">
                <a:solidFill>
                  <a:srgbClr val="0A2240"/>
                </a:solidFill>
                <a:latin typeface="Calibri"/>
              </a:defRPr>
            </a:pPr>
            <a:r>
              <a:t>The Static Fallacy in Existing Literature</a:t>
            </a:r>
          </a:p>
          <a:p>
            <a:pPr>
              <a:spcBef>
                <a:spcPts val="300"/>
              </a:spcBef>
              <a:defRPr sz="1300">
                <a:solidFill>
                  <a:srgbClr val="475569"/>
                </a:solidFill>
                <a:latin typeface="Calibri"/>
              </a:defRPr>
            </a:pPr>
            <a:r>
              <a:t>Why Historical Gravity and Static Headcount Models Fail Terminal Queuing</a:t>
            </a:r>
          </a:p>
        </p:txBody>
      </p:sp>
      <p:sp>
        <p:nvSpPr>
          <p:cNvPr id="3" name="Rounded Rectangle 2"/>
          <p:cNvSpPr/>
          <p:nvPr/>
        </p:nvSpPr>
        <p:spPr>
          <a:xfrm>
            <a:off x="731520" y="1920240"/>
            <a:ext cx="5120640" cy="4206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200" b="1">
                <a:solidFill>
                  <a:srgbClr val="2563EB"/>
                </a:solidFill>
                <a:latin typeface="Calibri"/>
              </a:defRPr>
            </a:pPr>
            <a:r>
              <a:t>THE FLAW IN TRADITIONAL AIRPORT RESEARCH</a:t>
            </a:r>
          </a:p>
          <a:p>
            <a:pPr>
              <a:spcBef>
                <a:spcPts val="800"/>
              </a:spcBef>
              <a:defRPr sz="1300">
                <a:solidFill>
                  <a:srgbClr val="0F172A"/>
                </a:solidFill>
                <a:latin typeface="Calibri"/>
              </a:defRPr>
            </a:pPr>
            <a:r>
              <a:t>Existing airport operations literature overwhelmingly evaluates forecasting success using static passenger headcounts (y_t) and aggregate daily totals.</a:t>
            </a:r>
          </a:p>
          <a:p>
            <a:pPr>
              <a:spcBef>
                <a:spcPts val="1200"/>
              </a:spcBef>
              <a:defRPr sz="1300" b="1">
                <a:solidFill>
                  <a:srgbClr val="0A2240"/>
                </a:solidFill>
                <a:latin typeface="Calibri"/>
              </a:defRPr>
            </a:pPr>
            <a:r>
              <a:t>Why Static Aggregates Mislead:</a:t>
            </a:r>
          </a:p>
          <a:p>
            <a:pPr>
              <a:spcBef>
                <a:spcPts val="400"/>
              </a:spcBef>
              <a:defRPr sz="1200">
                <a:solidFill>
                  <a:srgbClr val="475569"/>
                </a:solidFill>
                <a:latin typeface="Calibri"/>
              </a:defRPr>
            </a:pPr>
            <a:r>
              <a:t>Two days with identical 50,000 daily passenger volumes can experience radically different queue delays: an evenly distributed flow produces zero delays, whereas clustered bank arrivals overwhelm checkpoint queues.</a:t>
            </a:r>
          </a:p>
        </p:txBody>
      </p:sp>
      <p:sp>
        <p:nvSpPr>
          <p:cNvPr id="4" name="Rounded Rectangle 3"/>
          <p:cNvSpPr/>
          <p:nvPr/>
        </p:nvSpPr>
        <p:spPr>
          <a:xfrm>
            <a:off x="6217920" y="1920240"/>
            <a:ext cx="5212080" cy="4206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200" b="1">
                <a:solidFill>
                  <a:srgbClr val="15803D"/>
                </a:solidFill>
                <a:latin typeface="Calibri"/>
              </a:defRPr>
            </a:pPr>
            <a:r>
              <a:t>THE VOLATILITY ADVANTAGE</a:t>
            </a:r>
          </a:p>
          <a:p>
            <a:pPr>
              <a:spcBef>
                <a:spcPts val="600"/>
              </a:spcBef>
              <a:defRPr sz="1600" b="1">
                <a:solidFill>
                  <a:srgbClr val="0A2240"/>
                </a:solidFill>
                <a:latin typeface="Calibri"/>
              </a:defRPr>
            </a:pPr>
            <a:r>
              <a:t>Arrival Burstiness Governs Heavy-Traffic Queues</a:t>
            </a:r>
          </a:p>
          <a:p>
            <a:pPr>
              <a:spcBef>
                <a:spcPts val="800"/>
              </a:spcBef>
              <a:defRPr sz="1250">
                <a:solidFill>
                  <a:srgbClr val="475569"/>
                </a:solidFill>
                <a:latin typeface="Calibri"/>
              </a:defRPr>
            </a:pPr>
            <a:r>
              <a:t>Under heavy utilization (ρ → 1.0), variance mismatch is the primary source of operational friction. Forecasting the diurnal standard deviation (σ_TSA) and the scale-free coefficient of variation (CV_TSA = σ/μ) provides direct actionable intelligence for security lane dispatching.</a:t>
            </a:r>
          </a:p>
          <a:p>
            <a:pPr algn="ctr">
              <a:spcBef>
                <a:spcPts val="1400"/>
              </a:spcBef>
              <a:spcAft>
                <a:spcPts val="1400"/>
              </a:spcAft>
              <a:defRPr sz="1400" b="1">
                <a:solidFill>
                  <a:srgbClr val="0A2240"/>
                </a:solidFill>
                <a:latin typeface="Georgia"/>
              </a:defRPr>
            </a:pPr>
            <a:r>
              <a:t>CV_TSA = σ_TSA / μ_TSA  (Dimensionless Arrival Burstiness)</a:t>
            </a:r>
          </a:p>
          <a:p>
            <a:pPr>
              <a:defRPr sz="1150">
                <a:solidFill>
                  <a:srgbClr val="475569"/>
                </a:solidFill>
                <a:latin typeface="Calibri"/>
              </a:defRPr>
            </a:pPr>
            <a:r>
              <a:t>Normalizes arrival turbulence across mega hub terminals and medium hubs, establishing a scale-free benchmark for queuing risk.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LITERATURE BREAKDOWN</a:t>
            </a:r>
          </a:p>
          <a:p>
            <a:pPr>
              <a:spcBef>
                <a:spcPts val="300"/>
              </a:spcBef>
              <a:defRPr sz="2400" b="1">
                <a:solidFill>
                  <a:srgbClr val="0A2240"/>
                </a:solidFill>
                <a:latin typeface="Calibri"/>
              </a:defRPr>
            </a:pPr>
            <a:r>
              <a:t>Deterministic Flight Schedules &amp; Classical Queueing</a:t>
            </a:r>
          </a:p>
          <a:p>
            <a:pPr>
              <a:spcBef>
                <a:spcPts val="300"/>
              </a:spcBef>
              <a:defRPr sz="1300">
                <a:solidFill>
                  <a:srgbClr val="475569"/>
                </a:solidFill>
                <a:latin typeface="Calibri"/>
              </a:defRPr>
            </a:pPr>
            <a:r>
              <a:t>The Historical Foundation: Flight Bank Convolutions (Model 1 Baseline)</a:t>
            </a:r>
          </a:p>
        </p:txBody>
      </p:sp>
      <p:sp>
        <p:nvSpPr>
          <p:cNvPr id="3" name="Rounded Rectangle 2"/>
          <p:cNvSpPr/>
          <p:nvPr/>
        </p:nvSpPr>
        <p:spPr>
          <a:xfrm>
            <a:off x="731520" y="1920240"/>
            <a:ext cx="5120640" cy="4206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defRPr sz="1100" b="1">
                <a:solidFill>
                  <a:srgbClr val="2563EB"/>
                </a:solidFill>
                <a:latin typeface="Calibri"/>
              </a:defRPr>
            </a:pPr>
            <a:r>
              <a:t>DETERMINISTIC SCHEDULE CONVOLUTION</a:t>
            </a:r>
          </a:p>
          <a:p>
            <a:pPr algn="ctr">
              <a:spcBef>
                <a:spcPts val="800"/>
              </a:spcBef>
              <a:spcAft>
                <a:spcPts val="800"/>
              </a:spcAft>
              <a:defRPr sz="1800" b="1">
                <a:solidFill>
                  <a:srgbClr val="0A2240"/>
                </a:solidFill>
                <a:latin typeface="Georgia"/>
              </a:defRPr>
            </a:pPr>
            <a:r>
              <a:t>Ŷ_t  =  ∑ [Seats_i · (1 - S_connect) · P(t - DEP_i)]</a:t>
            </a:r>
          </a:p>
          <a:p>
            <a:pPr algn="ctr">
              <a:defRPr sz="1200">
                <a:solidFill>
                  <a:srgbClr val="475569"/>
                </a:solidFill>
                <a:latin typeface="Calibri"/>
              </a:defRPr>
            </a:pPr>
            <a:r>
              <a:t>Convolving scheduled flight departures DEP_i with ACRP Report 40 lognormal passenger show-up curves P(τ).</a:t>
            </a:r>
            <a:br/>
            <a:br/>
            <a:r>
              <a:t>Strengths: 100% transparent, zero calibration compute, fully interpretable.</a:t>
            </a:r>
            <a:br/>
            <a:br/>
            <a:r>
              <a:t>Fatal Operational Defect: Completely blind to downstream flight delays, cancellations, and airside ground stops.</a:t>
            </a:r>
          </a:p>
        </p:txBody>
      </p:sp>
      <p:sp>
        <p:nvSpPr>
          <p:cNvPr id="4" name="Rounded Rectangle 3"/>
          <p:cNvSpPr/>
          <p:nvPr/>
        </p:nvSpPr>
        <p:spPr>
          <a:xfrm>
            <a:off x="6217920" y="1920240"/>
            <a:ext cx="5212080" cy="4206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200" b="1">
                <a:solidFill>
                  <a:srgbClr val="2563EB"/>
                </a:solidFill>
                <a:latin typeface="Calibri"/>
              </a:defRPr>
            </a:pPr>
            <a:r>
              <a:t>CLASSICAL QUEUING FORMULATIONS</a:t>
            </a:r>
          </a:p>
          <a:p>
            <a:pPr>
              <a:spcBef>
                <a:spcPts val="600"/>
              </a:spcBef>
              <a:defRPr sz="1600" b="1">
                <a:solidFill>
                  <a:srgbClr val="0A2240"/>
                </a:solidFill>
                <a:latin typeface="Calibri"/>
              </a:defRPr>
            </a:pPr>
            <a:r>
              <a:t>Erlang-C &amp; Poisson Arrival Limits</a:t>
            </a:r>
          </a:p>
          <a:p>
            <a:pPr>
              <a:spcBef>
                <a:spcPts val="800"/>
              </a:spcBef>
              <a:defRPr sz="1200">
                <a:solidFill>
                  <a:srgbClr val="475569"/>
                </a:solidFill>
                <a:latin typeface="Calibri"/>
              </a:defRPr>
            </a:pPr>
            <a:r>
              <a:t>Classical M/M/s and Erlang-C models assume memoryless Poisson arrivals (variance = mean, C_a² = 1.0). In real airport screening, arrival variance is significantly overdispersed (C_a² &gt;&gt; 1.0) due to flight bank synchronizations and party clustering.</a:t>
            </a:r>
          </a:p>
          <a:p>
            <a:pPr>
              <a:spcBef>
                <a:spcPts val="1000"/>
              </a:spcBef>
              <a:defRPr sz="1200" b="1">
                <a:solidFill>
                  <a:srgbClr val="0F172A"/>
                </a:solidFill>
                <a:latin typeface="Calibri"/>
              </a:defRPr>
            </a:pPr>
            <a:r>
              <a:t>Empirical Reality in 9-Airport Cohort:</a:t>
            </a:r>
          </a:p>
          <a:p>
            <a:pPr>
              <a:spcBef>
                <a:spcPts val="400"/>
              </a:spcBef>
              <a:defRPr sz="1150">
                <a:solidFill>
                  <a:srgbClr val="475569"/>
                </a:solidFill>
                <a:latin typeface="Calibri"/>
              </a:defRPr>
            </a:pPr>
            <a:r>
              <a:t>Average CV_TSA across our cohort is 0.8728, reaching 1.1240 at LGA. Treating passenger arrival rates as stationary Poisson processes underestimates checkpoint queues by up to 300%.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LITERATURE BREAKDOWN</a:t>
            </a:r>
          </a:p>
          <a:p>
            <a:pPr>
              <a:spcBef>
                <a:spcPts val="300"/>
              </a:spcBef>
              <a:defRPr sz="2400" b="1">
                <a:solidFill>
                  <a:srgbClr val="0A2240"/>
                </a:solidFill>
                <a:latin typeface="Calibri"/>
              </a:defRPr>
            </a:pPr>
            <a:r>
              <a:t>The Shift to Micro-Simulation Modeling</a:t>
            </a:r>
          </a:p>
          <a:p>
            <a:pPr>
              <a:spcBef>
                <a:spcPts val="300"/>
              </a:spcBef>
              <a:defRPr sz="1300">
                <a:solidFill>
                  <a:srgbClr val="475569"/>
                </a:solidFill>
                <a:latin typeface="Calibri"/>
              </a:defRPr>
            </a:pPr>
            <a:r>
              <a:t>Granular Architectural Fidelity vs. Real-Time Operational Latency Barriers</a:t>
            </a:r>
          </a:p>
        </p:txBody>
      </p:sp>
      <p:sp>
        <p:nvSpPr>
          <p:cNvPr id="3" name="Rounded Rectangle 2"/>
          <p:cNvSpPr/>
          <p:nvPr/>
        </p:nvSpPr>
        <p:spPr>
          <a:xfrm>
            <a:off x="731520" y="1920240"/>
            <a:ext cx="5120640" cy="4206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200" b="1">
                <a:solidFill>
                  <a:srgbClr val="15803D"/>
                </a:solidFill>
                <a:latin typeface="Calibri"/>
              </a:defRPr>
            </a:pPr>
            <a:r>
              <a:t>ADVANTAGES OF MICRO-SIMULATION</a:t>
            </a:r>
          </a:p>
          <a:p>
            <a:pPr>
              <a:spcBef>
                <a:spcPts val="600"/>
              </a:spcBef>
              <a:defRPr sz="1600" b="1">
                <a:solidFill>
                  <a:srgbClr val="0A2240"/>
                </a:solidFill>
                <a:latin typeface="Calibri"/>
              </a:defRPr>
            </a:pPr>
            <a:r>
              <a:t>High Physical &amp; Spatial Resolution</a:t>
            </a:r>
          </a:p>
          <a:p>
            <a:pPr>
              <a:spcBef>
                <a:spcPts val="800"/>
              </a:spcBef>
              <a:defRPr sz="1200">
                <a:solidFill>
                  <a:srgbClr val="475569"/>
                </a:solidFill>
                <a:latin typeface="Calibri"/>
              </a:defRPr>
            </a:pPr>
            <a:r>
              <a:t>•  Models discrete passenger trajectories, bag drop queuing, and individual screening lanes.</a:t>
            </a:r>
          </a:p>
          <a:p>
            <a:pPr>
              <a:spcBef>
                <a:spcPts val="800"/>
              </a:spcBef>
              <a:defRPr sz="1200">
                <a:solidFill>
                  <a:srgbClr val="475569"/>
                </a:solidFill>
                <a:latin typeface="Calibri"/>
              </a:defRPr>
            </a:pPr>
            <a:r>
              <a:t>•  Accurately maps complex terminal geometries, security lane layouts, and passenger walking paths.</a:t>
            </a:r>
          </a:p>
          <a:p>
            <a:pPr>
              <a:spcBef>
                <a:spcPts val="800"/>
              </a:spcBef>
              <a:defRPr sz="1200">
                <a:solidFill>
                  <a:srgbClr val="475569"/>
                </a:solidFill>
                <a:latin typeface="Calibri"/>
              </a:defRPr>
            </a:pPr>
            <a:r>
              <a:t>•  Captures interaction between TSA PreCheck, standard screening lanes, and CLEAR kiosks.</a:t>
            </a:r>
          </a:p>
        </p:txBody>
      </p:sp>
      <p:sp>
        <p:nvSpPr>
          <p:cNvPr id="4" name="Rounded Rectangle 3"/>
          <p:cNvSpPr/>
          <p:nvPr/>
        </p:nvSpPr>
        <p:spPr>
          <a:xfrm>
            <a:off x="6217920" y="1920240"/>
            <a:ext cx="5212080" cy="4206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200" b="1">
                <a:solidFill>
                  <a:srgbClr val="B45309"/>
                </a:solidFill>
                <a:latin typeface="Calibri"/>
              </a:defRPr>
            </a:pPr>
            <a:r>
              <a:t>THREE OPERATIONAL SHORTCOMINGS</a:t>
            </a:r>
          </a:p>
          <a:p>
            <a:pPr>
              <a:spcBef>
                <a:spcPts val="600"/>
              </a:spcBef>
              <a:defRPr sz="1600" b="1">
                <a:solidFill>
                  <a:srgbClr val="0A2240"/>
                </a:solidFill>
                <a:latin typeface="Calibri"/>
              </a:defRPr>
            </a:pPr>
            <a:r>
              <a:t>Why Simulation Fails Live Tactical Dispatch</a:t>
            </a:r>
          </a:p>
          <a:p>
            <a:pPr>
              <a:spcBef>
                <a:spcPts val="600"/>
              </a:spcBef>
              <a:defRPr sz="1150">
                <a:solidFill>
                  <a:srgbClr val="475569"/>
                </a:solidFill>
                <a:latin typeface="Calibri"/>
              </a:defRPr>
            </a:pPr>
            <a:r>
              <a:t>•  Calibration Overhead: Requires hundreds of manual parameters (boarding pass scanner times, bin loading rates) that become obsolete during weather shocks.</a:t>
            </a:r>
          </a:p>
          <a:p>
            <a:pPr>
              <a:spcBef>
                <a:spcPts val="600"/>
              </a:spcBef>
              <a:defRPr sz="1150">
                <a:solidFill>
                  <a:srgbClr val="475569"/>
                </a:solidFill>
                <a:latin typeface="Calibri"/>
              </a:defRPr>
            </a:pPr>
            <a:r>
              <a:t>•  Computational Latency: Re-running Monte Carlo iterations takes 20–45 minutes—far too slow for real-time TSA checkpoint lane rebalancing.</a:t>
            </a:r>
          </a:p>
          <a:p>
            <a:pPr>
              <a:spcBef>
                <a:spcPts val="600"/>
              </a:spcBef>
              <a:defRPr sz="1150">
                <a:solidFill>
                  <a:srgbClr val="475569"/>
                </a:solidFill>
                <a:latin typeface="Calibri"/>
              </a:defRPr>
            </a:pPr>
            <a:r>
              <a:t>•  Lack of Airside Coupling: Rarely incorporates live FAA air traffic management programs, taxiway queue buildup, or downline delay cascades.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LITERATURE BREAKDOWN</a:t>
            </a:r>
          </a:p>
          <a:p>
            <a:pPr>
              <a:spcBef>
                <a:spcPts val="300"/>
              </a:spcBef>
              <a:defRPr sz="2400" b="1">
                <a:solidFill>
                  <a:srgbClr val="0A2240"/>
                </a:solidFill>
                <a:latin typeface="Calibri"/>
              </a:defRPr>
            </a:pPr>
            <a:r>
              <a:t>Supervised Machine Learning (Model 2)</a:t>
            </a:r>
          </a:p>
          <a:p>
            <a:pPr>
              <a:spcBef>
                <a:spcPts val="300"/>
              </a:spcBef>
              <a:defRPr sz="1300">
                <a:solidFill>
                  <a:srgbClr val="475569"/>
                </a:solidFill>
                <a:latin typeface="Calibri"/>
              </a:defRPr>
            </a:pPr>
            <a:r>
              <a:t>Nonlinear Feature Exploration vs. Regimes of Severe Brittleness</a:t>
            </a:r>
          </a:p>
        </p:txBody>
      </p:sp>
      <p:sp>
        <p:nvSpPr>
          <p:cNvPr id="3" name="Rounded Rectangle 2"/>
          <p:cNvSpPr/>
          <p:nvPr/>
        </p:nvSpPr>
        <p:spPr>
          <a:xfrm>
            <a:off x="731520" y="1920240"/>
            <a:ext cx="3291840" cy="4206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2800" b="1">
                <a:solidFill>
                  <a:srgbClr val="0A2240"/>
                </a:solidFill>
                <a:latin typeface="Calibri"/>
              </a:defRPr>
            </a:pPr>
            <a:r>
              <a:t>24</a:t>
            </a:r>
          </a:p>
          <a:p>
            <a:pPr algn="ctr">
              <a:spcBef>
                <a:spcPts val="400"/>
              </a:spcBef>
              <a:defRPr sz="1200" b="1">
                <a:solidFill>
                  <a:srgbClr val="0F172A"/>
                </a:solidFill>
                <a:latin typeface="Calibri"/>
              </a:defRPr>
            </a:pPr>
            <a:r>
              <a:t>BTS OTP &amp; Schedule Features</a:t>
            </a:r>
          </a:p>
          <a:p>
            <a:pPr algn="ctr">
              <a:spcBef>
                <a:spcPts val="200"/>
              </a:spcBef>
              <a:defRPr sz="1050">
                <a:solidFill>
                  <a:srgbClr val="64748B"/>
                </a:solidFill>
                <a:latin typeface="Calibri"/>
              </a:defRPr>
            </a:pPr>
            <a:r>
              <a:t>Taxi-out, cancellations, delay causes, gauge tiers, and flight bank dispersion metrics</a:t>
            </a:r>
          </a:p>
        </p:txBody>
      </p:sp>
      <p:sp>
        <p:nvSpPr>
          <p:cNvPr id="4" name="Rounded Rectangle 3"/>
          <p:cNvSpPr/>
          <p:nvPr/>
        </p:nvSpPr>
        <p:spPr>
          <a:xfrm>
            <a:off x="4389120" y="1920240"/>
            <a:ext cx="7040880" cy="4206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200" b="1">
                <a:solidFill>
                  <a:srgbClr val="2563EB"/>
                </a:solidFill>
                <a:latin typeface="Calibri"/>
              </a:defRPr>
            </a:pPr>
            <a:r>
              <a:t>STRENGTHS &amp; FATAL BLIND SPOTS</a:t>
            </a:r>
          </a:p>
          <a:p>
            <a:pPr>
              <a:spcBef>
                <a:spcPts val="800"/>
              </a:spcBef>
              <a:defRPr sz="1400" b="1">
                <a:solidFill>
                  <a:srgbClr val="0A2240"/>
                </a:solidFill>
                <a:latin typeface="Calibri"/>
              </a:defRPr>
            </a:pPr>
            <a:r>
              <a:t>The Routine Advantage:</a:t>
            </a:r>
          </a:p>
          <a:p>
            <a:pPr>
              <a:spcBef>
                <a:spcPts val="300"/>
              </a:spcBef>
              <a:defRPr sz="1200">
                <a:solidFill>
                  <a:srgbClr val="475569"/>
                </a:solidFill>
                <a:latin typeface="Calibri"/>
              </a:defRPr>
            </a:pPr>
            <a:r>
              <a:t>Gradient-boosted decision trees effectively capture complex multi-variable interactions (e.g., taxi-out queue buildup and flight bank congestion). Delivers exceptional routine accuracy (MASE = 0.680–0.700) with zero feedback latency.</a:t>
            </a:r>
          </a:p>
          <a:p>
            <a:pPr>
              <a:spcBef>
                <a:spcPts val="1200"/>
              </a:spcBef>
              <a:defRPr sz="1400" b="1">
                <a:solidFill>
                  <a:srgbClr val="B45309"/>
                </a:solidFill>
                <a:latin typeface="Calibri"/>
              </a:defRPr>
            </a:pPr>
            <a:r>
              <a:t>The Brittleness Flaw (The Empty Checkpoint Fallacy):</a:t>
            </a:r>
          </a:p>
          <a:p>
            <a:pPr>
              <a:spcBef>
                <a:spcPts val="300"/>
              </a:spcBef>
              <a:defRPr sz="1200">
                <a:solidFill>
                  <a:srgbClr val="475569"/>
                </a:solidFill>
                <a:latin typeface="Calibri"/>
              </a:defRPr>
            </a:pPr>
            <a:r>
              <a:t>During irregular operations (convective ground stops, widespread cancellations), scheduled departures vanish from the electronic airline feed. The decision tree predicts zero demand, while thousands of passengers remain stranded in terminal concourses.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LITERATURE BREAKDOWN</a:t>
            </a:r>
          </a:p>
          <a:p>
            <a:pPr>
              <a:spcBef>
                <a:spcPts val="300"/>
              </a:spcBef>
              <a:defRPr sz="2400" b="1">
                <a:solidFill>
                  <a:srgbClr val="0A2240"/>
                </a:solidFill>
                <a:latin typeface="Calibri"/>
              </a:defRPr>
            </a:pPr>
            <a:r>
              <a:t>Sequential Two-Stage Hybrid Architectures (Model 3)</a:t>
            </a:r>
          </a:p>
          <a:p>
            <a:pPr>
              <a:spcBef>
                <a:spcPts val="300"/>
              </a:spcBef>
              <a:defRPr sz="1300">
                <a:solidFill>
                  <a:srgbClr val="475569"/>
                </a:solidFill>
                <a:latin typeface="Calibri"/>
              </a:defRPr>
            </a:pPr>
            <a:r>
              <a:t>Coupling Base Flight Schedules with Real-Time Dynamic Error Innovation Feedback</a:t>
            </a:r>
          </a:p>
        </p:txBody>
      </p:sp>
      <p:sp>
        <p:nvSpPr>
          <p:cNvPr id="3" name="Rounded Rectangle 2"/>
          <p:cNvSpPr/>
          <p:nvPr/>
        </p:nvSpPr>
        <p:spPr>
          <a:xfrm>
            <a:off x="731520" y="1920240"/>
            <a:ext cx="1069848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defRPr sz="1100" b="1">
                <a:solidFill>
                  <a:srgbClr val="2563EB"/>
                </a:solidFill>
                <a:latin typeface="Calibri"/>
              </a:defRPr>
            </a:pPr>
            <a:r>
              <a:t>TWO-STAGE SEQUENTIAL HYBRID FORMULATION</a:t>
            </a:r>
          </a:p>
          <a:p>
            <a:pPr algn="ctr">
              <a:spcBef>
                <a:spcPts val="800"/>
              </a:spcBef>
              <a:spcAft>
                <a:spcPts val="800"/>
              </a:spcAft>
              <a:defRPr sz="1800" b="1">
                <a:solidFill>
                  <a:srgbClr val="0A2240"/>
                </a:solidFill>
                <a:latin typeface="Georgia"/>
              </a:defRPr>
            </a:pPr>
            <a:r>
              <a:t>Ŷ_t  =  M_base(Schedule_t, Features_t)  +  α · ( Y_{t-1} - Ŷ_{t-1} )</a:t>
            </a:r>
          </a:p>
          <a:p>
            <a:pPr algn="ctr">
              <a:defRPr sz="1200">
                <a:solidFill>
                  <a:srgbClr val="475569"/>
                </a:solidFill>
                <a:latin typeface="Calibri"/>
              </a:defRPr>
            </a:pPr>
            <a:r>
              <a:t>Stage 1: Base machine learning model captures cyclical flight schedules and operational covariates.</a:t>
            </a:r>
            <a:br/>
            <a:r>
              <a:t>Stage 2: Real-time 1-step error innovation feedback (e_{t-1}) injects live floor telemetry, dynamically correcting lobby backlog.</a:t>
            </a:r>
          </a:p>
        </p:txBody>
      </p:sp>
      <p:sp>
        <p:nvSpPr>
          <p:cNvPr id="4" name="Rounded Rectangle 3"/>
          <p:cNvSpPr/>
          <p:nvPr/>
        </p:nvSpPr>
        <p:spPr>
          <a:xfrm>
            <a:off x="731520" y="4389120"/>
            <a:ext cx="5120640" cy="1828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37160"/>
          <a:lstStyle/>
          <a:p>
            <a:pPr algn="ctr">
              <a:defRPr sz="1100" b="1">
                <a:solidFill>
                  <a:srgbClr val="15803D"/>
                </a:solidFill>
                <a:latin typeface="Calibri"/>
              </a:defRPr>
            </a:pPr>
            <a:r>
              <a:t>WHY STAGE 2 RESCUES DISRUPTIONS</a:t>
            </a:r>
          </a:p>
          <a:p>
            <a:pPr>
              <a:spcBef>
                <a:spcPts val="300"/>
              </a:spcBef>
              <a:defRPr sz="1100">
                <a:solidFill>
                  <a:srgbClr val="475569"/>
                </a:solidFill>
                <a:latin typeface="Calibri"/>
              </a:defRPr>
            </a:pPr>
            <a:r>
              <a:t>When storms ground flights, Stage 1 falsely predicts zero volume. However, the prior-hour floor observation Y_{t-1} reveals hundreds of passengers still passing through screening, instantly lifting forecasts.</a:t>
            </a:r>
          </a:p>
        </p:txBody>
      </p:sp>
      <p:sp>
        <p:nvSpPr>
          <p:cNvPr id="5" name="Rounded Rectangle 4"/>
          <p:cNvSpPr/>
          <p:nvPr/>
        </p:nvSpPr>
        <p:spPr>
          <a:xfrm>
            <a:off x="6217920" y="4389120"/>
            <a:ext cx="5212080" cy="1828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37160"/>
          <a:lstStyle/>
          <a:p>
            <a:pPr algn="ctr">
              <a:defRPr sz="1100" b="1">
                <a:solidFill>
                  <a:srgbClr val="B45309"/>
                </a:solidFill>
                <a:latin typeface="Calibri"/>
              </a:defRPr>
            </a:pPr>
            <a:r>
              <a:t>THE ASYMMETRIC TRADE-OFF PENALTY</a:t>
            </a:r>
          </a:p>
          <a:p>
            <a:pPr>
              <a:spcBef>
                <a:spcPts val="300"/>
              </a:spcBef>
              <a:defRPr sz="1100">
                <a:solidFill>
                  <a:srgbClr val="475569"/>
                </a:solidFill>
                <a:latin typeface="Calibri"/>
              </a:defRPr>
            </a:pPr>
            <a:r>
              <a:t>Requires active, low-latency API telemetry from physical checkpoint floor lanes. Furthermore, because Stage 1 overfits to specific terminal geometries, Model 3 loses spatial generalizability.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EMPIRICAL DEMARCATION</a:t>
            </a:r>
          </a:p>
          <a:p>
            <a:pPr>
              <a:spcBef>
                <a:spcPts val="300"/>
              </a:spcBef>
              <a:defRPr sz="2400" b="1">
                <a:solidFill>
                  <a:srgbClr val="0A2240"/>
                </a:solidFill>
                <a:latin typeface="Calibri"/>
              </a:defRPr>
            </a:pPr>
            <a:r>
              <a:t>The Structural Impact of COVID-19 Demarcation</a:t>
            </a:r>
          </a:p>
          <a:p>
            <a:pPr>
              <a:spcBef>
                <a:spcPts val="300"/>
              </a:spcBef>
              <a:defRPr sz="1300">
                <a:solidFill>
                  <a:srgbClr val="475569"/>
                </a:solidFill>
                <a:latin typeface="Calibri"/>
              </a:defRPr>
            </a:pPr>
            <a:r>
              <a:t>Establishing Post-Pandemic Behavioral Stability (May 1, 2022 – December 31, 2025)</a:t>
            </a:r>
          </a:p>
        </p:txBody>
      </p:sp>
      <p:sp>
        <p:nvSpPr>
          <p:cNvPr id="3" name="Rounded Rectangle 2"/>
          <p:cNvSpPr/>
          <p:nvPr/>
        </p:nvSpPr>
        <p:spPr>
          <a:xfrm>
            <a:off x="731520" y="1920240"/>
            <a:ext cx="33832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2800" b="1">
                <a:solidFill>
                  <a:srgbClr val="0A2240"/>
                </a:solidFill>
                <a:latin typeface="Calibri"/>
              </a:defRPr>
            </a:pPr>
            <a:r>
              <a:t>May 1, 2022</a:t>
            </a:r>
          </a:p>
          <a:p>
            <a:pPr algn="ctr">
              <a:spcBef>
                <a:spcPts val="400"/>
              </a:spcBef>
              <a:defRPr sz="1200" b="1">
                <a:solidFill>
                  <a:srgbClr val="0F172A"/>
                </a:solidFill>
                <a:latin typeface="Calibri"/>
              </a:defRPr>
            </a:pPr>
            <a:r>
              <a:t>Demarcation Cutoff</a:t>
            </a:r>
          </a:p>
          <a:p>
            <a:pPr algn="ctr">
              <a:spcBef>
                <a:spcPts val="200"/>
              </a:spcBef>
              <a:defRPr sz="1050">
                <a:solidFill>
                  <a:srgbClr val="64748B"/>
                </a:solidFill>
                <a:latin typeface="Calibri"/>
              </a:defRPr>
            </a:pPr>
            <a:r>
              <a:t>Federal mask mandate dissolved; marks return to normal passenger behavior</a:t>
            </a:r>
          </a:p>
        </p:txBody>
      </p:sp>
      <p:sp>
        <p:nvSpPr>
          <p:cNvPr id="4" name="Rounded Rectangle 3"/>
          <p:cNvSpPr/>
          <p:nvPr/>
        </p:nvSpPr>
        <p:spPr>
          <a:xfrm>
            <a:off x="4389120" y="1920240"/>
            <a:ext cx="33832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2800" b="1">
                <a:solidFill>
                  <a:srgbClr val="0A2240"/>
                </a:solidFill>
                <a:latin typeface="Calibri"/>
              </a:defRPr>
            </a:pPr>
            <a:r>
              <a:t>F = 1.42</a:t>
            </a:r>
          </a:p>
          <a:p>
            <a:pPr algn="ctr">
              <a:spcBef>
                <a:spcPts val="400"/>
              </a:spcBef>
              <a:defRPr sz="1200" b="1">
                <a:solidFill>
                  <a:srgbClr val="0F172A"/>
                </a:solidFill>
                <a:latin typeface="Calibri"/>
              </a:defRPr>
            </a:pPr>
            <a:r>
              <a:t>Chow Stability Test</a:t>
            </a:r>
          </a:p>
          <a:p>
            <a:pPr algn="ctr">
              <a:spcBef>
                <a:spcPts val="200"/>
              </a:spcBef>
              <a:defRPr sz="1050">
                <a:solidFill>
                  <a:srgbClr val="64748B"/>
                </a:solidFill>
                <a:latin typeface="Calibri"/>
              </a:defRPr>
            </a:pPr>
            <a:r>
              <a:t>p = 0.18 (fails to reject null of structural stability across 44 months)</a:t>
            </a:r>
          </a:p>
        </p:txBody>
      </p:sp>
      <p:sp>
        <p:nvSpPr>
          <p:cNvPr id="5" name="Rounded Rectangle 4"/>
          <p:cNvSpPr/>
          <p:nvPr/>
        </p:nvSpPr>
        <p:spPr>
          <a:xfrm>
            <a:off x="8046720" y="1920240"/>
            <a:ext cx="33832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2800" b="1">
                <a:solidFill>
                  <a:srgbClr val="0A2240"/>
                </a:solidFill>
                <a:latin typeface="Calibri"/>
              </a:defRPr>
            </a:pPr>
            <a:r>
              <a:t>84.7%</a:t>
            </a:r>
          </a:p>
          <a:p>
            <a:pPr algn="ctr">
              <a:spcBef>
                <a:spcPts val="400"/>
              </a:spcBef>
              <a:defRPr sz="1200" b="1">
                <a:solidFill>
                  <a:srgbClr val="0F172A"/>
                </a:solidFill>
                <a:latin typeface="Calibri"/>
              </a:defRPr>
            </a:pPr>
            <a:r>
              <a:t>Load Factor Recovery</a:t>
            </a:r>
          </a:p>
          <a:p>
            <a:pPr algn="ctr">
              <a:spcBef>
                <a:spcPts val="200"/>
              </a:spcBef>
              <a:defRPr sz="1050">
                <a:solidFill>
                  <a:srgbClr val="64748B"/>
                </a:solidFill>
                <a:latin typeface="Calibri"/>
              </a:defRPr>
            </a:pPr>
            <a:r>
              <a:t>Systemwide passenger load factors recovered to pre-pandemic baseline</a:t>
            </a:r>
          </a:p>
        </p:txBody>
      </p:sp>
      <p:sp>
        <p:nvSpPr>
          <p:cNvPr id="6" name="Rounded Rectangle 5"/>
          <p:cNvSpPr/>
          <p:nvPr/>
        </p:nvSpPr>
        <p:spPr>
          <a:xfrm>
            <a:off x="731520" y="4206240"/>
            <a:ext cx="10698480" cy="1920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182880"/>
          <a:lstStyle/>
          <a:p>
            <a:pPr algn="ctr">
              <a:defRPr sz="1100" b="1">
                <a:solidFill>
                  <a:srgbClr val="2563EB"/>
                </a:solidFill>
                <a:latin typeface="Calibri"/>
              </a:defRPr>
            </a:pPr>
            <a:r>
              <a:t>WHY POST-PANDEMIC DEMARCATION WAS CRITICAL</a:t>
            </a:r>
          </a:p>
          <a:p>
            <a:pPr>
              <a:spcBef>
                <a:spcPts val="400"/>
              </a:spcBef>
              <a:defRPr sz="1200">
                <a:solidFill>
                  <a:srgbClr val="475569"/>
                </a:solidFill>
                <a:latin typeface="Calibri"/>
              </a:defRPr>
            </a:pPr>
            <a:r>
              <a:t>Training machine learning algorithms across 2020–2021 severely contaminates predictive models with artificial lockdowns and erratic airline schedule retrenchments. Our CUSUM recursive residual tests confirm that commercial aviation passenger arrival dynamics stabilized into a stationary post-pandemic regime starting May 1, 2022.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EVALUATIVE SYNTHESIS</a:t>
            </a:r>
          </a:p>
          <a:p>
            <a:pPr>
              <a:spcBef>
                <a:spcPts val="300"/>
              </a:spcBef>
              <a:defRPr sz="2400" b="1">
                <a:solidFill>
                  <a:srgbClr val="0A2240"/>
                </a:solidFill>
                <a:latin typeface="Calibri"/>
              </a:defRPr>
            </a:pPr>
            <a:r>
              <a:t>Why Aviation Demands Dynamic Performance Measures</a:t>
            </a:r>
          </a:p>
          <a:p>
            <a:pPr>
              <a:spcBef>
                <a:spcPts val="300"/>
              </a:spcBef>
              <a:defRPr sz="1300">
                <a:solidFill>
                  <a:srgbClr val="475569"/>
                </a:solidFill>
                <a:latin typeface="Calibri"/>
              </a:defRPr>
            </a:pPr>
            <a:r>
              <a:t>The Fatal Pitfall of Single-Metric Global Minimization in Airport Operations</a:t>
            </a:r>
          </a:p>
        </p:txBody>
      </p:sp>
      <p:sp>
        <p:nvSpPr>
          <p:cNvPr id="3" name="Rounded Rectangle 2"/>
          <p:cNvSpPr/>
          <p:nvPr/>
        </p:nvSpPr>
        <p:spPr>
          <a:xfrm>
            <a:off x="731520" y="2011680"/>
            <a:ext cx="338328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100" b="1">
                <a:solidFill>
                  <a:srgbClr val="2563EB"/>
                </a:solidFill>
                <a:latin typeface="Calibri"/>
              </a:defRPr>
            </a:pPr>
            <a:r>
              <a:t>PILLAR 1</a:t>
            </a:r>
          </a:p>
          <a:p>
            <a:pPr>
              <a:spcBef>
                <a:spcPts val="800"/>
              </a:spcBef>
              <a:defRPr sz="1600" b="1">
                <a:solidFill>
                  <a:srgbClr val="0A2240"/>
                </a:solidFill>
                <a:latin typeface="Calibri"/>
              </a:defRPr>
            </a:pPr>
            <a:r>
              <a:t>Nominal Rhythms (Robustness)</a:t>
            </a:r>
          </a:p>
          <a:p>
            <a:pPr>
              <a:spcBef>
                <a:spcPts val="1200"/>
              </a:spcBef>
              <a:defRPr sz="1200">
                <a:solidFill>
                  <a:srgbClr val="475569"/>
                </a:solidFill>
                <a:latin typeface="Calibri"/>
              </a:defRPr>
            </a:pPr>
            <a:r>
              <a:t>A model optimized purely for annual RMSE minimizes routine errors during sunny days. However, routine operations are computationally cheap and tolerant of minor variance.</a:t>
            </a:r>
          </a:p>
        </p:txBody>
      </p:sp>
      <p:sp>
        <p:nvSpPr>
          <p:cNvPr id="4" name="Rounded Rectangle 3"/>
          <p:cNvSpPr/>
          <p:nvPr/>
        </p:nvSpPr>
        <p:spPr>
          <a:xfrm>
            <a:off x="4389120" y="2011680"/>
            <a:ext cx="338328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100" b="1">
                <a:solidFill>
                  <a:srgbClr val="B45309"/>
                </a:solidFill>
                <a:latin typeface="Calibri"/>
              </a:defRPr>
            </a:pPr>
            <a:r>
              <a:t>PILLAR 2</a:t>
            </a:r>
          </a:p>
          <a:p>
            <a:pPr>
              <a:spcBef>
                <a:spcPts val="800"/>
              </a:spcBef>
              <a:defRPr sz="1600" b="1">
                <a:solidFill>
                  <a:srgbClr val="0A2240"/>
                </a:solidFill>
                <a:latin typeface="Calibri"/>
              </a:defRPr>
            </a:pPr>
            <a:r>
              <a:t>Disruption Shocks (Resilience)</a:t>
            </a:r>
          </a:p>
          <a:p>
            <a:pPr>
              <a:spcBef>
                <a:spcPts val="1200"/>
              </a:spcBef>
              <a:defRPr sz="1200">
                <a:solidFill>
                  <a:srgbClr val="475569"/>
                </a:solidFill>
                <a:latin typeface="Calibri"/>
              </a:defRPr>
            </a:pPr>
            <a:r>
              <a:t>Airport crises occur during convective storm fronts. If a model collapses during IROPS (like Model 2's 2.14x error surge), it endangers terminal operations when accuracy matters most.</a:t>
            </a:r>
          </a:p>
        </p:txBody>
      </p:sp>
      <p:sp>
        <p:nvSpPr>
          <p:cNvPr id="5" name="Rounded Rectangle 4"/>
          <p:cNvSpPr/>
          <p:nvPr/>
        </p:nvSpPr>
        <p:spPr>
          <a:xfrm>
            <a:off x="8046720" y="2011680"/>
            <a:ext cx="338328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100" b="1">
                <a:solidFill>
                  <a:srgbClr val="15803D"/>
                </a:solidFill>
                <a:latin typeface="Calibri"/>
              </a:defRPr>
            </a:pPr>
            <a:r>
              <a:t>PILLAR 3</a:t>
            </a:r>
          </a:p>
          <a:p>
            <a:pPr>
              <a:spcBef>
                <a:spcPts val="800"/>
              </a:spcBef>
              <a:defRPr sz="1600" b="1">
                <a:solidFill>
                  <a:srgbClr val="0A2240"/>
                </a:solidFill>
                <a:latin typeface="Calibri"/>
              </a:defRPr>
            </a:pPr>
            <a:r>
              <a:t>Facility Transfer (Generalizability)</a:t>
            </a:r>
          </a:p>
          <a:p>
            <a:pPr>
              <a:spcBef>
                <a:spcPts val="1200"/>
              </a:spcBef>
              <a:defRPr sz="1200">
                <a:solidFill>
                  <a:srgbClr val="475569"/>
                </a:solidFill>
                <a:latin typeface="Calibri"/>
              </a:defRPr>
            </a:pPr>
            <a:r>
              <a:t>Airports cannot afford 12 months of local calibration data for newly built concourses. Models must possess zero-shot transferability across physical terminal layouts.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METHODOLOGICAL ARCHITECTURE</a:t>
            </a:r>
          </a:p>
          <a:p>
            <a:pPr>
              <a:spcBef>
                <a:spcPts val="300"/>
              </a:spcBef>
              <a:defRPr sz="2400" b="1">
                <a:solidFill>
                  <a:srgbClr val="0A2240"/>
                </a:solidFill>
                <a:latin typeface="Calibri"/>
              </a:defRPr>
            </a:pPr>
            <a:r>
              <a:t>Research Methodology Overview</a:t>
            </a:r>
          </a:p>
          <a:p>
            <a:pPr>
              <a:spcBef>
                <a:spcPts val="300"/>
              </a:spcBef>
              <a:defRPr sz="1300">
                <a:solidFill>
                  <a:srgbClr val="475569"/>
                </a:solidFill>
                <a:latin typeface="Calibri"/>
              </a:defRPr>
            </a:pPr>
            <a:r>
              <a:t>Structured 5-Part Graduate Methodology Architecture (ERAU Standards)</a:t>
            </a:r>
          </a:p>
        </p:txBody>
      </p:sp>
      <p:sp>
        <p:nvSpPr>
          <p:cNvPr id="3" name="Rounded Rectangle 2"/>
          <p:cNvSpPr/>
          <p:nvPr/>
        </p:nvSpPr>
        <p:spPr>
          <a:xfrm>
            <a:off x="731520" y="1920240"/>
            <a:ext cx="10698480" cy="777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300" b="1">
                <a:solidFill>
                  <a:srgbClr val="0A2240"/>
                </a:solidFill>
                <a:latin typeface="Calibri"/>
              </a:defRPr>
            </a:pPr>
            <a:r>
              <a:t>3.1 Research Approach</a:t>
            </a:r>
          </a:p>
          <a:p>
            <a:pPr>
              <a:spcBef>
                <a:spcPts val="200"/>
              </a:spcBef>
              <a:defRPr sz="1100">
                <a:solidFill>
                  <a:srgbClr val="475569"/>
                </a:solidFill>
                <a:latin typeface="Calibri"/>
              </a:defRPr>
            </a:pPr>
            <a:r>
              <a:t>Non-experimental quantitative comparative design; evaluating 4 modeling paradigms across 3 operational dimensions.</a:t>
            </a:r>
          </a:p>
        </p:txBody>
      </p:sp>
      <p:sp>
        <p:nvSpPr>
          <p:cNvPr id="4" name="Rounded Rectangle 3"/>
          <p:cNvSpPr/>
          <p:nvPr/>
        </p:nvSpPr>
        <p:spPr>
          <a:xfrm>
            <a:off x="731520" y="2788920"/>
            <a:ext cx="10698480" cy="777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300" b="1">
                <a:solidFill>
                  <a:srgbClr val="0A2240"/>
                </a:solidFill>
                <a:latin typeface="Calibri"/>
              </a:defRPr>
            </a:pPr>
            <a:r>
              <a:t>3.2 Sample &amp; Funnel</a:t>
            </a:r>
          </a:p>
          <a:p>
            <a:pPr>
              <a:spcBef>
                <a:spcPts val="200"/>
              </a:spcBef>
              <a:defRPr sz="1100">
                <a:solidFill>
                  <a:srgbClr val="475569"/>
                </a:solidFill>
                <a:latin typeface="Calibri"/>
              </a:defRPr>
            </a:pPr>
            <a:r>
              <a:t>Purposive 4-tier filtering pipeline isolating 9 commercial hub airports representing 12 carrier-exclusive screening complexes.</a:t>
            </a:r>
          </a:p>
        </p:txBody>
      </p:sp>
      <p:sp>
        <p:nvSpPr>
          <p:cNvPr id="5" name="Rounded Rectangle 4"/>
          <p:cNvSpPr/>
          <p:nvPr/>
        </p:nvSpPr>
        <p:spPr>
          <a:xfrm>
            <a:off x="731520" y="3657600"/>
            <a:ext cx="10698480" cy="777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300" b="1">
                <a:solidFill>
                  <a:srgbClr val="0A2240"/>
                </a:solidFill>
                <a:latin typeface="Calibri"/>
              </a:defRPr>
            </a:pPr>
            <a:r>
              <a:t>3.3 Sources of Data</a:t>
            </a:r>
          </a:p>
          <a:p>
            <a:pPr>
              <a:spcBef>
                <a:spcPts val="200"/>
              </a:spcBef>
              <a:defRPr sz="1100">
                <a:solidFill>
                  <a:srgbClr val="475569"/>
                </a:solidFill>
                <a:latin typeface="Calibri"/>
              </a:defRPr>
            </a:pPr>
            <a:r>
              <a:t>Synthesizing 67.2M raw federal records down to 42.1M conformed records across TSA FOIA, BTS OTP, and BTS DB1B surveys.</a:t>
            </a:r>
          </a:p>
        </p:txBody>
      </p:sp>
      <p:sp>
        <p:nvSpPr>
          <p:cNvPr id="6" name="Rounded Rectangle 5"/>
          <p:cNvSpPr/>
          <p:nvPr/>
        </p:nvSpPr>
        <p:spPr>
          <a:xfrm>
            <a:off x="731520" y="4526279"/>
            <a:ext cx="10698480" cy="777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300" b="1">
                <a:solidFill>
                  <a:srgbClr val="0A2240"/>
                </a:solidFill>
                <a:latin typeface="Calibri"/>
              </a:defRPr>
            </a:pPr>
            <a:r>
              <a:t>3.4 Validity Safeguards</a:t>
            </a:r>
          </a:p>
          <a:p>
            <a:pPr>
              <a:spcBef>
                <a:spcPts val="200"/>
              </a:spcBef>
              <a:defRPr sz="1100">
                <a:solidFill>
                  <a:srgbClr val="475569"/>
                </a:solidFill>
                <a:latin typeface="Calibri"/>
              </a:defRPr>
            </a:pPr>
            <a:r>
              <a:t>Connecting passenger deflation (DB1B), carrier screening isolation, and strict 168-hour purge buffers.</a:t>
            </a:r>
          </a:p>
        </p:txBody>
      </p:sp>
      <p:sp>
        <p:nvSpPr>
          <p:cNvPr id="7" name="Rounded Rectangle 6"/>
          <p:cNvSpPr/>
          <p:nvPr/>
        </p:nvSpPr>
        <p:spPr>
          <a:xfrm>
            <a:off x="731520" y="5394960"/>
            <a:ext cx="10698480" cy="777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300" b="1">
                <a:solidFill>
                  <a:srgbClr val="0A2240"/>
                </a:solidFill>
                <a:latin typeface="Calibri"/>
              </a:defRPr>
            </a:pPr>
            <a:r>
              <a:t>3.5 Treatment of Data</a:t>
            </a:r>
          </a:p>
          <a:p>
            <a:pPr>
              <a:spcBef>
                <a:spcPts val="200"/>
              </a:spcBef>
              <a:defRPr sz="1100">
                <a:solidFill>
                  <a:srgbClr val="475569"/>
                </a:solidFill>
                <a:latin typeface="Calibri"/>
              </a:defRPr>
            </a:pPr>
            <a:r>
              <a:t>Multi-source star schema warehouse, Tweedie count models, and out-of-time holdout evaluations.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METHODOLOGY APPROACH</a:t>
            </a:r>
          </a:p>
          <a:p>
            <a:pPr>
              <a:spcBef>
                <a:spcPts val="300"/>
              </a:spcBef>
              <a:defRPr sz="2400" b="1">
                <a:solidFill>
                  <a:srgbClr val="0A2240"/>
                </a:solidFill>
                <a:latin typeface="Calibri"/>
              </a:defRPr>
            </a:pPr>
            <a:r>
              <a:t>Candidate Models &amp; Evaluation Matrix</a:t>
            </a:r>
          </a:p>
          <a:p>
            <a:pPr>
              <a:spcBef>
                <a:spcPts val="300"/>
              </a:spcBef>
              <a:defRPr sz="1300">
                <a:solidFill>
                  <a:srgbClr val="475569"/>
                </a:solidFill>
                <a:latin typeface="Calibri"/>
              </a:defRPr>
            </a:pPr>
            <a:r>
              <a:t>Benchmarking Four Paradigms Across the Operational Evaluative Trio</a:t>
            </a:r>
          </a:p>
        </p:txBody>
      </p:sp>
      <p:sp>
        <p:nvSpPr>
          <p:cNvPr id="3" name="Rounded Rectangle 2"/>
          <p:cNvSpPr/>
          <p:nvPr/>
        </p:nvSpPr>
        <p:spPr>
          <a:xfrm>
            <a:off x="731520" y="1920240"/>
            <a:ext cx="10698480" cy="4206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p>
        </p:txBody>
      </p:sp>
      <p:sp>
        <p:nvSpPr>
          <p:cNvPr id="4" name="Rounded Rectangle 3"/>
          <p:cNvSpPr/>
          <p:nvPr/>
        </p:nvSpPr>
        <p:spPr>
          <a:xfrm>
            <a:off x="1005840" y="2194560"/>
            <a:ext cx="237744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200" b="1">
                <a:solidFill>
                  <a:srgbClr val="2563EB"/>
                </a:solidFill>
                <a:latin typeface="Calibri"/>
              </a:defRPr>
            </a:pPr>
            <a:r>
              <a:t>Baseline Control</a:t>
            </a:r>
          </a:p>
          <a:p>
            <a:pPr>
              <a:spcBef>
                <a:spcPts val="300"/>
              </a:spcBef>
              <a:defRPr sz="1400" b="1">
                <a:solidFill>
                  <a:srgbClr val="0A2240"/>
                </a:solidFill>
                <a:latin typeface="Calibri"/>
              </a:defRPr>
            </a:pPr>
            <a:r>
              <a:t>Diurnal Persistence Benchmark</a:t>
            </a:r>
          </a:p>
          <a:p>
            <a:pPr>
              <a:spcBef>
                <a:spcPts val="800"/>
              </a:spcBef>
              <a:defRPr sz="1100" b="1">
                <a:solidFill>
                  <a:srgbClr val="475569"/>
                </a:solidFill>
                <a:latin typeface="Georgia"/>
              </a:defRPr>
            </a:pPr>
            <a:r>
              <a:t>Ŷ_t = Y_{t-24}</a:t>
            </a:r>
          </a:p>
          <a:p>
            <a:pPr>
              <a:spcBef>
                <a:spcPts val="800"/>
              </a:spcBef>
              <a:defRPr sz="1050">
                <a:solidFill>
                  <a:srgbClr val="475569"/>
                </a:solidFill>
                <a:latin typeface="Calibri"/>
              </a:defRPr>
            </a:pPr>
            <a:r>
              <a:t>Non-parametric empirical control; establishes MASE ≡ 1.000 benchmark.</a:t>
            </a:r>
          </a:p>
        </p:txBody>
      </p:sp>
      <p:sp>
        <p:nvSpPr>
          <p:cNvPr id="5" name="Rounded Rectangle 4"/>
          <p:cNvSpPr/>
          <p:nvPr/>
        </p:nvSpPr>
        <p:spPr>
          <a:xfrm>
            <a:off x="3566160" y="2194560"/>
            <a:ext cx="237744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200" b="1">
                <a:solidFill>
                  <a:srgbClr val="2563EB"/>
                </a:solidFill>
                <a:latin typeface="Calibri"/>
              </a:defRPr>
            </a:pPr>
            <a:r>
              <a:t>Model 1</a:t>
            </a:r>
          </a:p>
          <a:p>
            <a:pPr>
              <a:spcBef>
                <a:spcPts val="300"/>
              </a:spcBef>
              <a:defRPr sz="1400" b="1">
                <a:solidFill>
                  <a:srgbClr val="0A2240"/>
                </a:solidFill>
                <a:latin typeface="Calibri"/>
              </a:defRPr>
            </a:pPr>
            <a:r>
              <a:t>Deterministic Flight Schedule</a:t>
            </a:r>
          </a:p>
          <a:p>
            <a:pPr>
              <a:spcBef>
                <a:spcPts val="800"/>
              </a:spcBef>
              <a:defRPr sz="1100" b="1">
                <a:solidFill>
                  <a:srgbClr val="475569"/>
                </a:solidFill>
                <a:latin typeface="Georgia"/>
              </a:defRPr>
            </a:pPr>
            <a:r>
              <a:t>Ŷ_t = ∑ [Seats · (1-S) · P(τ)]</a:t>
            </a:r>
          </a:p>
          <a:p>
            <a:pPr>
              <a:spcBef>
                <a:spcPts val="800"/>
              </a:spcBef>
              <a:defRPr sz="1050">
                <a:solidFill>
                  <a:srgbClr val="475569"/>
                </a:solidFill>
                <a:latin typeface="Calibri"/>
              </a:defRPr>
            </a:pPr>
            <a:r>
              <a:t>Convolution of airline flight banks over ACRP Report 40 lognormal show-up curves.</a:t>
            </a:r>
          </a:p>
        </p:txBody>
      </p:sp>
      <p:sp>
        <p:nvSpPr>
          <p:cNvPr id="6" name="Rounded Rectangle 5"/>
          <p:cNvSpPr/>
          <p:nvPr/>
        </p:nvSpPr>
        <p:spPr>
          <a:xfrm>
            <a:off x="6126479" y="2194560"/>
            <a:ext cx="237744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200" b="1">
                <a:solidFill>
                  <a:srgbClr val="2563EB"/>
                </a:solidFill>
                <a:latin typeface="Calibri"/>
              </a:defRPr>
            </a:pPr>
            <a:r>
              <a:t>Model 2</a:t>
            </a:r>
          </a:p>
          <a:p>
            <a:pPr>
              <a:spcBef>
                <a:spcPts val="300"/>
              </a:spcBef>
              <a:defRPr sz="1400" b="1">
                <a:solidFill>
                  <a:srgbClr val="0A2240"/>
                </a:solidFill>
                <a:latin typeface="Calibri"/>
              </a:defRPr>
            </a:pPr>
            <a:r>
              <a:t>Supervised Machine Learning</a:t>
            </a:r>
          </a:p>
          <a:p>
            <a:pPr>
              <a:spcBef>
                <a:spcPts val="800"/>
              </a:spcBef>
              <a:defRPr sz="1100" b="1">
                <a:solidFill>
                  <a:srgbClr val="475569"/>
                </a:solidFill>
                <a:latin typeface="Georgia"/>
              </a:defRPr>
            </a:pPr>
            <a:r>
              <a:t>Ŷ_t = Tree(Sched, OTP_24)</a:t>
            </a:r>
          </a:p>
          <a:p>
            <a:pPr>
              <a:spcBef>
                <a:spcPts val="800"/>
              </a:spcBef>
              <a:defRPr sz="1050">
                <a:solidFill>
                  <a:srgbClr val="475569"/>
                </a:solidFill>
                <a:latin typeface="Calibri"/>
              </a:defRPr>
            </a:pPr>
            <a:r>
              <a:t>Gradient-boosted decision trees incorporating 24 BTS operational features.</a:t>
            </a:r>
          </a:p>
        </p:txBody>
      </p:sp>
      <p:sp>
        <p:nvSpPr>
          <p:cNvPr id="7" name="Rounded Rectangle 6"/>
          <p:cNvSpPr/>
          <p:nvPr/>
        </p:nvSpPr>
        <p:spPr>
          <a:xfrm>
            <a:off x="8686799" y="2194560"/>
            <a:ext cx="237744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200" b="1">
                <a:solidFill>
                  <a:srgbClr val="2563EB"/>
                </a:solidFill>
                <a:latin typeface="Calibri"/>
              </a:defRPr>
            </a:pPr>
            <a:r>
              <a:t>Model 3</a:t>
            </a:r>
          </a:p>
          <a:p>
            <a:pPr>
              <a:spcBef>
                <a:spcPts val="300"/>
              </a:spcBef>
              <a:defRPr sz="1400" b="1">
                <a:solidFill>
                  <a:srgbClr val="0A2240"/>
                </a:solidFill>
                <a:latin typeface="Calibri"/>
              </a:defRPr>
            </a:pPr>
            <a:r>
              <a:t>Dynamic Two-Stage Hybrid</a:t>
            </a:r>
          </a:p>
          <a:p>
            <a:pPr>
              <a:spcBef>
                <a:spcPts val="800"/>
              </a:spcBef>
              <a:defRPr sz="1100" b="1">
                <a:solidFill>
                  <a:srgbClr val="475569"/>
                </a:solidFill>
                <a:latin typeface="Georgia"/>
              </a:defRPr>
            </a:pPr>
            <a:r>
              <a:t>Ŷ_t = M_base + α·e_{t-1}</a:t>
            </a:r>
          </a:p>
          <a:p>
            <a:pPr>
              <a:spcBef>
                <a:spcPts val="800"/>
              </a:spcBef>
              <a:defRPr sz="1050">
                <a:solidFill>
                  <a:srgbClr val="475569"/>
                </a:solidFill>
                <a:latin typeface="Calibri"/>
              </a:defRPr>
            </a:pPr>
            <a:r>
              <a:t>Sequential two-stage coupling recurring schedules with live 1-step error innovation.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DESIGN &amp; PROCEDURE</a:t>
            </a:r>
          </a:p>
          <a:p>
            <a:pPr>
              <a:spcBef>
                <a:spcPts val="300"/>
              </a:spcBef>
              <a:defRPr sz="2400" b="1">
                <a:solidFill>
                  <a:srgbClr val="0A2240"/>
                </a:solidFill>
                <a:latin typeface="Calibri"/>
              </a:defRPr>
            </a:pPr>
            <a:r>
              <a:t>Four-Phase Research Lifecycle</a:t>
            </a:r>
          </a:p>
          <a:p>
            <a:pPr>
              <a:spcBef>
                <a:spcPts val="300"/>
              </a:spcBef>
              <a:defRPr sz="1300">
                <a:solidFill>
                  <a:srgbClr val="475569"/>
                </a:solidFill>
                <a:latin typeface="Calibri"/>
              </a:defRPr>
            </a:pPr>
            <a:r>
              <a:t>Table 3.1: Systematic Progression from Federal Ingestion to Hypothesis Testing</a:t>
            </a:r>
          </a:p>
        </p:txBody>
      </p:sp>
      <p:sp>
        <p:nvSpPr>
          <p:cNvPr id="3" name="Rounded Rectangle 2"/>
          <p:cNvSpPr/>
          <p:nvPr/>
        </p:nvSpPr>
        <p:spPr>
          <a:xfrm>
            <a:off x="731520" y="2011680"/>
            <a:ext cx="256032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defRPr sz="1100" b="1">
                <a:solidFill>
                  <a:srgbClr val="2563EB"/>
                </a:solidFill>
                <a:latin typeface="Calibri"/>
              </a:defRPr>
            </a:pPr>
            <a:r>
              <a:t>PHASE 1</a:t>
            </a:r>
          </a:p>
          <a:p>
            <a:pPr>
              <a:spcBef>
                <a:spcPts val="300"/>
              </a:spcBef>
              <a:defRPr sz="1500" b="1">
                <a:solidFill>
                  <a:srgbClr val="0A2240"/>
                </a:solidFill>
                <a:latin typeface="Calibri"/>
              </a:defRPr>
            </a:pPr>
            <a:r>
              <a:t>Multi-Source Data Ingestion &amp; ETL</a:t>
            </a:r>
          </a:p>
          <a:p>
            <a:pPr>
              <a:spcBef>
                <a:spcPts val="600"/>
              </a:spcBef>
              <a:defRPr sz="1100" b="1">
                <a:solidFill>
                  <a:srgbClr val="0F172A"/>
                </a:solidFill>
                <a:latin typeface="Calibri"/>
              </a:defRPr>
            </a:pPr>
            <a:r>
              <a:t>TSA FOIA, BTS OTP, T-100, DB1B</a:t>
            </a:r>
          </a:p>
          <a:p>
            <a:pPr>
              <a:spcBef>
                <a:spcPts val="800"/>
              </a:spcBef>
              <a:defRPr sz="1050">
                <a:solidFill>
                  <a:srgbClr val="475569"/>
                </a:solidFill>
                <a:latin typeface="Calibri"/>
              </a:defRPr>
            </a:pPr>
            <a:r>
              <a:t>Extract 67.2M raw records; conform into Star Schema warehouse (42.1M records). Quarantined 35,809 missing keys; preserved structural night zeros.</a:t>
            </a:r>
          </a:p>
        </p:txBody>
      </p:sp>
      <p:sp>
        <p:nvSpPr>
          <p:cNvPr id="4" name="Rounded Rectangle 3"/>
          <p:cNvSpPr/>
          <p:nvPr/>
        </p:nvSpPr>
        <p:spPr>
          <a:xfrm>
            <a:off x="3474720" y="2011680"/>
            <a:ext cx="256032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defRPr sz="1100" b="1">
                <a:solidFill>
                  <a:srgbClr val="2563EB"/>
                </a:solidFill>
                <a:latin typeface="Calibri"/>
              </a:defRPr>
            </a:pPr>
            <a:r>
              <a:t>PHASE 2</a:t>
            </a:r>
          </a:p>
          <a:p>
            <a:pPr>
              <a:spcBef>
                <a:spcPts val="300"/>
              </a:spcBef>
              <a:defRPr sz="1500" b="1">
                <a:solidFill>
                  <a:srgbClr val="0A2240"/>
                </a:solidFill>
                <a:latin typeface="Calibri"/>
              </a:defRPr>
            </a:pPr>
            <a:r>
              <a:t>Econometric Funnel &amp; Cohort Isolation</a:t>
            </a:r>
          </a:p>
          <a:p>
            <a:pPr>
              <a:spcBef>
                <a:spcPts val="600"/>
              </a:spcBef>
              <a:defRPr sz="1100" b="1">
                <a:solidFill>
                  <a:srgbClr val="0F172A"/>
                </a:solidFill>
                <a:latin typeface="Calibri"/>
              </a:defRPr>
            </a:pPr>
            <a:r>
              <a:t>4-Tier Purposive Filtering Funnel</a:t>
            </a:r>
          </a:p>
          <a:p>
            <a:pPr>
              <a:spcBef>
                <a:spcPts val="800"/>
              </a:spcBef>
              <a:defRPr sz="1050">
                <a:solidFill>
                  <a:srgbClr val="475569"/>
                </a:solidFill>
                <a:latin typeface="Calibri"/>
              </a:defRPr>
            </a:pPr>
            <a:r>
              <a:t>Filtered 450+ airports to Top 25, screened legacy carrier presence, isolated dedicated carrier terminals, yielding 9 airfields across 12 complexes.</a:t>
            </a:r>
          </a:p>
        </p:txBody>
      </p:sp>
      <p:sp>
        <p:nvSpPr>
          <p:cNvPr id="5" name="Rounded Rectangle 4"/>
          <p:cNvSpPr/>
          <p:nvPr/>
        </p:nvSpPr>
        <p:spPr>
          <a:xfrm>
            <a:off x="6217920" y="2011680"/>
            <a:ext cx="256032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defRPr sz="1100" b="1">
                <a:solidFill>
                  <a:srgbClr val="2563EB"/>
                </a:solidFill>
                <a:latin typeface="Calibri"/>
              </a:defRPr>
            </a:pPr>
            <a:r>
              <a:t>PHASE 3</a:t>
            </a:r>
          </a:p>
          <a:p>
            <a:pPr>
              <a:spcBef>
                <a:spcPts val="300"/>
              </a:spcBef>
              <a:defRPr sz="1500" b="1">
                <a:solidFill>
                  <a:srgbClr val="0A2240"/>
                </a:solidFill>
                <a:latin typeface="Calibri"/>
              </a:defRPr>
            </a:pPr>
            <a:r>
              <a:t>Model Calibration &amp; Feature Engineering</a:t>
            </a:r>
          </a:p>
          <a:p>
            <a:pPr>
              <a:spcBef>
                <a:spcPts val="600"/>
              </a:spcBef>
              <a:defRPr sz="1100" b="1">
                <a:solidFill>
                  <a:srgbClr val="0F172A"/>
                </a:solidFill>
                <a:latin typeface="Calibri"/>
              </a:defRPr>
            </a:pPr>
            <a:r>
              <a:t>Feature Pipeline &amp; 84-Cell Grid</a:t>
            </a:r>
          </a:p>
          <a:p>
            <a:pPr>
              <a:spcBef>
                <a:spcPts val="800"/>
              </a:spcBef>
              <a:defRPr sz="1050">
                <a:solidFill>
                  <a:srgbClr val="475569"/>
                </a:solidFill>
                <a:latin typeface="Calibri"/>
              </a:defRPr>
            </a:pPr>
            <a:r>
              <a:t>Constructed 24 OTP features; convolved ACRP 40 show-up curves; verified 98.8% training sample sufficiency across 84-cell seasonal interaction grid.</a:t>
            </a:r>
          </a:p>
        </p:txBody>
      </p:sp>
      <p:sp>
        <p:nvSpPr>
          <p:cNvPr id="6" name="Rounded Rectangle 5"/>
          <p:cNvSpPr/>
          <p:nvPr/>
        </p:nvSpPr>
        <p:spPr>
          <a:xfrm>
            <a:off x="8961120" y="2011680"/>
            <a:ext cx="256032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defRPr sz="1100" b="1">
                <a:solidFill>
                  <a:srgbClr val="2563EB"/>
                </a:solidFill>
                <a:latin typeface="Calibri"/>
              </a:defRPr>
            </a:pPr>
            <a:r>
              <a:t>PHASE 4</a:t>
            </a:r>
          </a:p>
          <a:p>
            <a:pPr>
              <a:spcBef>
                <a:spcPts val="300"/>
              </a:spcBef>
              <a:defRPr sz="1500" b="1">
                <a:solidFill>
                  <a:srgbClr val="0A2240"/>
                </a:solidFill>
                <a:latin typeface="Calibri"/>
              </a:defRPr>
            </a:pPr>
            <a:r>
              <a:t>Multi-Pillar Hypothesis Evaluation</a:t>
            </a:r>
          </a:p>
          <a:p>
            <a:pPr>
              <a:spcBef>
                <a:spcPts val="600"/>
              </a:spcBef>
              <a:defRPr sz="1100" b="1">
                <a:solidFill>
                  <a:srgbClr val="0F172A"/>
                </a:solidFill>
                <a:latin typeface="Calibri"/>
              </a:defRPr>
            </a:pPr>
            <a:r>
              <a:t>Out-of-Time 2025 Holdout Benchmark</a:t>
            </a:r>
          </a:p>
          <a:p>
            <a:pPr>
              <a:spcBef>
                <a:spcPts val="800"/>
              </a:spcBef>
              <a:defRPr sz="1050">
                <a:solidFill>
                  <a:srgbClr val="475569"/>
                </a:solidFill>
                <a:latin typeface="Calibri"/>
              </a:defRPr>
            </a:pPr>
            <a:r>
              <a:t>Tested models across Robustness (nominal), Resilience (severe convective storms), and Generalizability (zero-shot transfer) using Diebold-Mariano tests.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VALIDITY &amp; SAFEGUARDS</a:t>
            </a:r>
          </a:p>
          <a:p>
            <a:pPr>
              <a:spcBef>
                <a:spcPts val="300"/>
              </a:spcBef>
              <a:defRPr sz="2400" b="1">
                <a:solidFill>
                  <a:srgbClr val="0A2240"/>
                </a:solidFill>
                <a:latin typeface="Calibri"/>
              </a:defRPr>
            </a:pPr>
            <a:r>
              <a:t>Methodological Safeguards &amp; Data Integrity</a:t>
            </a:r>
          </a:p>
          <a:p>
            <a:pPr>
              <a:spcBef>
                <a:spcPts val="300"/>
              </a:spcBef>
              <a:defRPr sz="1300">
                <a:solidFill>
                  <a:srgbClr val="475569"/>
                </a:solidFill>
                <a:latin typeface="Calibri"/>
              </a:defRPr>
            </a:pPr>
            <a:r>
              <a:t>Strict Prevention of Autoregressive Data Leakage and Unconfounded Isolation</a:t>
            </a:r>
          </a:p>
        </p:txBody>
      </p:sp>
      <p:sp>
        <p:nvSpPr>
          <p:cNvPr id="3" name="Rounded Rectangle 2"/>
          <p:cNvSpPr/>
          <p:nvPr/>
        </p:nvSpPr>
        <p:spPr>
          <a:xfrm>
            <a:off x="731520" y="2011680"/>
            <a:ext cx="5212080"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b="1">
                <a:solidFill>
                  <a:srgbClr val="0A2240"/>
                </a:solidFill>
                <a:latin typeface="Calibri"/>
              </a:defRPr>
            </a:pPr>
            <a:r>
              <a:t>The 7-Day Purge Buffer</a:t>
            </a:r>
          </a:p>
          <a:p>
            <a:pPr>
              <a:spcBef>
                <a:spcPts val="200"/>
              </a:spcBef>
              <a:defRPr sz="1100" b="1">
                <a:solidFill>
                  <a:srgbClr val="2563EB"/>
                </a:solidFill>
                <a:latin typeface="Calibri"/>
              </a:defRPr>
            </a:pPr>
            <a:r>
              <a:t>TABLE 4.8 / REC-06</a:t>
            </a:r>
          </a:p>
          <a:p>
            <a:pPr>
              <a:spcBef>
                <a:spcPts val="400"/>
              </a:spcBef>
              <a:defRPr sz="1150">
                <a:solidFill>
                  <a:srgbClr val="475569"/>
                </a:solidFill>
                <a:latin typeface="Calibri"/>
              </a:defRPr>
            </a:pPr>
            <a:r>
              <a:t>168-hour zero-training purge embargo established between training (2022–2024) and test holdout (2025). Completely prevents autoregressive memory leakage across dataset boundaries.</a:t>
            </a:r>
          </a:p>
        </p:txBody>
      </p:sp>
      <p:sp>
        <p:nvSpPr>
          <p:cNvPr id="4" name="Rounded Rectangle 3"/>
          <p:cNvSpPr/>
          <p:nvPr/>
        </p:nvSpPr>
        <p:spPr>
          <a:xfrm>
            <a:off x="6217920" y="2011680"/>
            <a:ext cx="5212080"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b="1">
                <a:solidFill>
                  <a:srgbClr val="0A2240"/>
                </a:solidFill>
                <a:latin typeface="Calibri"/>
              </a:defRPr>
            </a:pPr>
            <a:r>
              <a:t>Connecting Passenger Deflator</a:t>
            </a:r>
          </a:p>
          <a:p>
            <a:pPr>
              <a:spcBef>
                <a:spcPts val="200"/>
              </a:spcBef>
              <a:defRPr sz="1100" b="1">
                <a:solidFill>
                  <a:srgbClr val="2563EB"/>
                </a:solidFill>
                <a:latin typeface="Calibri"/>
              </a:defRPr>
            </a:pPr>
            <a:r>
              <a:t>DB1B COUPON DEFLATION</a:t>
            </a:r>
          </a:p>
          <a:p>
            <a:pPr>
              <a:spcBef>
                <a:spcPts val="400"/>
              </a:spcBef>
              <a:defRPr sz="1150">
                <a:solidFill>
                  <a:srgbClr val="475569"/>
                </a:solidFill>
                <a:latin typeface="Calibri"/>
              </a:defRPr>
            </a:pPr>
            <a:r>
              <a:t>Deflates departing aircraft seats by true connecting ratios (S_connect up to 66.3% at DFW). Solves the Hub Disconnect where airside connections bypass TSA.</a:t>
            </a:r>
          </a:p>
        </p:txBody>
      </p:sp>
      <p:sp>
        <p:nvSpPr>
          <p:cNvPr id="5" name="Rounded Rectangle 4"/>
          <p:cNvSpPr/>
          <p:nvPr/>
        </p:nvSpPr>
        <p:spPr>
          <a:xfrm>
            <a:off x="731520" y="4206240"/>
            <a:ext cx="5212080"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b="1">
                <a:solidFill>
                  <a:srgbClr val="0A2240"/>
                </a:solidFill>
                <a:latin typeface="Calibri"/>
              </a:defRPr>
            </a:pPr>
            <a:r>
              <a:t>Carrier Checkpoint Isolation</a:t>
            </a:r>
          </a:p>
          <a:p>
            <a:pPr>
              <a:spcBef>
                <a:spcPts val="200"/>
              </a:spcBef>
              <a:defRPr sz="1100" b="1">
                <a:solidFill>
                  <a:srgbClr val="2563EB"/>
                </a:solidFill>
                <a:latin typeface="Calibri"/>
              </a:defRPr>
            </a:pPr>
            <a:r>
              <a:t>DEDICATED CARRIER COMPLEXES</a:t>
            </a:r>
          </a:p>
          <a:p>
            <a:pPr>
              <a:spcBef>
                <a:spcPts val="400"/>
              </a:spcBef>
              <a:defRPr sz="1150">
                <a:solidFill>
                  <a:srgbClr val="475569"/>
                </a:solidFill>
                <a:latin typeface="Calibri"/>
              </a:defRPr>
            </a:pPr>
            <a:r>
              <a:t>Isolates screening checkpoints operated exclusively by American, Delta, or United, eliminating multi-carrier unidentifiable passenger mixing.</a:t>
            </a:r>
          </a:p>
        </p:txBody>
      </p:sp>
      <p:sp>
        <p:nvSpPr>
          <p:cNvPr id="6" name="Rounded Rectangle 5"/>
          <p:cNvSpPr/>
          <p:nvPr/>
        </p:nvSpPr>
        <p:spPr>
          <a:xfrm>
            <a:off x="6217920" y="4206240"/>
            <a:ext cx="5212080"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b="1">
                <a:solidFill>
                  <a:srgbClr val="0A2240"/>
                </a:solidFill>
                <a:latin typeface="Calibri"/>
              </a:defRPr>
            </a:pPr>
            <a:r>
              <a:t>Strict Information Causality</a:t>
            </a:r>
          </a:p>
          <a:p>
            <a:pPr>
              <a:spcBef>
                <a:spcPts val="200"/>
              </a:spcBef>
              <a:defRPr sz="1100" b="1">
                <a:solidFill>
                  <a:srgbClr val="2563EB"/>
                </a:solidFill>
                <a:latin typeface="Calibri"/>
              </a:defRPr>
            </a:pPr>
            <a:r>
              <a:t>T-1 REALIZED TELEMETRY</a:t>
            </a:r>
          </a:p>
          <a:p>
            <a:pPr>
              <a:spcBef>
                <a:spcPts val="400"/>
              </a:spcBef>
              <a:defRPr sz="1150">
                <a:solidFill>
                  <a:srgbClr val="475569"/>
                </a:solidFill>
                <a:latin typeface="Calibri"/>
              </a:defRPr>
            </a:pPr>
            <a:r>
              <a:t>Models only ingest strictly prior-hour features (t-1) available in real-time operations, ensuring zero forward-looking lookahead bias.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RESULTS ROADMAP</a:t>
            </a:r>
          </a:p>
          <a:p>
            <a:pPr>
              <a:spcBef>
                <a:spcPts val="300"/>
              </a:spcBef>
              <a:defRPr sz="2400" b="1">
                <a:solidFill>
                  <a:srgbClr val="0A2240"/>
                </a:solidFill>
                <a:latin typeface="Calibri"/>
              </a:defRPr>
            </a:pPr>
            <a:r>
              <a:t>Chapter IV &amp; V Empirical Architecture</a:t>
            </a:r>
          </a:p>
          <a:p>
            <a:pPr>
              <a:spcBef>
                <a:spcPts val="300"/>
              </a:spcBef>
              <a:defRPr sz="1300">
                <a:solidFill>
                  <a:srgbClr val="475569"/>
                </a:solidFill>
                <a:latin typeface="Calibri"/>
              </a:defRPr>
            </a:pPr>
            <a:r>
              <a:t>Four Sequential Empirical Analyses Supporting Master Hypothesis Testing</a:t>
            </a:r>
          </a:p>
        </p:txBody>
      </p:sp>
      <p:sp>
        <p:nvSpPr>
          <p:cNvPr id="3" name="Rounded Rectangle 2"/>
          <p:cNvSpPr/>
          <p:nvPr/>
        </p:nvSpPr>
        <p:spPr>
          <a:xfrm>
            <a:off x="731520" y="1920240"/>
            <a:ext cx="10698480" cy="960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100" b="1">
                <a:solidFill>
                  <a:srgbClr val="2563EB"/>
                </a:solidFill>
                <a:latin typeface="Calibri"/>
              </a:defRPr>
            </a:pPr>
            <a:r>
              <a:t>4.1 EXPLORATORY ANALYSIS</a:t>
            </a:r>
          </a:p>
          <a:p>
            <a:pPr>
              <a:spcBef>
                <a:spcPts val="200"/>
              </a:spcBef>
              <a:defRPr sz="1400" b="1">
                <a:solidFill>
                  <a:srgbClr val="0A2240"/>
                </a:solidFill>
                <a:latin typeface="Calibri"/>
              </a:defRPr>
            </a:pPr>
            <a:r>
              <a:t>Top 25 Census &amp; The Values vs. Volatility Discovery</a:t>
            </a:r>
          </a:p>
          <a:p>
            <a:pPr>
              <a:spcBef>
                <a:spcPts val="200"/>
              </a:spcBef>
              <a:defRPr sz="1100">
                <a:solidFill>
                  <a:srgbClr val="475569"/>
                </a:solidFill>
                <a:latin typeface="Calibri"/>
              </a:defRPr>
            </a:pPr>
            <a:r>
              <a:t>Analyzing 42.1M records; proving static volumes mask queuing while volatility metrics correlate tightly with flight delays.</a:t>
            </a:r>
          </a:p>
        </p:txBody>
      </p:sp>
      <p:sp>
        <p:nvSpPr>
          <p:cNvPr id="4" name="Rounded Rectangle 3"/>
          <p:cNvSpPr/>
          <p:nvPr/>
        </p:nvSpPr>
        <p:spPr>
          <a:xfrm>
            <a:off x="731520" y="2971800"/>
            <a:ext cx="10698480" cy="960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100" b="1">
                <a:solidFill>
                  <a:srgbClr val="2563EB"/>
                </a:solidFill>
                <a:latin typeface="Calibri"/>
              </a:defRPr>
            </a:pPr>
            <a:r>
              <a:t>4.2 DATA FILTERING &amp; COHORT</a:t>
            </a:r>
          </a:p>
          <a:p>
            <a:pPr>
              <a:spcBef>
                <a:spcPts val="200"/>
              </a:spcBef>
              <a:defRPr sz="1400" b="1">
                <a:solidFill>
                  <a:srgbClr val="0A2240"/>
                </a:solidFill>
                <a:latin typeface="Calibri"/>
              </a:defRPr>
            </a:pPr>
            <a:r>
              <a:t>Four-Tier Purposive Filtering Pipeline</a:t>
            </a:r>
          </a:p>
          <a:p>
            <a:pPr>
              <a:spcBef>
                <a:spcPts val="200"/>
              </a:spcBef>
              <a:defRPr sz="1100">
                <a:solidFill>
                  <a:srgbClr val="475569"/>
                </a:solidFill>
                <a:latin typeface="Calibri"/>
              </a:defRPr>
            </a:pPr>
            <a:r>
              <a:t>Progression from 450+ airports to the 9-airport factorial cohort across 12 carrier-exclusive screening environments.</a:t>
            </a:r>
          </a:p>
        </p:txBody>
      </p:sp>
      <p:sp>
        <p:nvSpPr>
          <p:cNvPr id="5" name="Rounded Rectangle 4"/>
          <p:cNvSpPr/>
          <p:nvPr/>
        </p:nvSpPr>
        <p:spPr>
          <a:xfrm>
            <a:off x="731520" y="4023360"/>
            <a:ext cx="10698480" cy="960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100" b="1">
                <a:solidFill>
                  <a:srgbClr val="2563EB"/>
                </a:solidFill>
                <a:latin typeface="Calibri"/>
              </a:defRPr>
            </a:pPr>
            <a:r>
              <a:t>4.3 MODEL EXECUTION</a:t>
            </a:r>
          </a:p>
          <a:p>
            <a:pPr>
              <a:spcBef>
                <a:spcPts val="200"/>
              </a:spcBef>
              <a:defRPr sz="1400" b="1">
                <a:solidFill>
                  <a:srgbClr val="0A2240"/>
                </a:solidFill>
                <a:latin typeface="Calibri"/>
              </a:defRPr>
            </a:pPr>
            <a:r>
              <a:t>Holdout Benchmark Matrix Across 4 Paradigms</a:t>
            </a:r>
          </a:p>
          <a:p>
            <a:pPr>
              <a:spcBef>
                <a:spcPts val="200"/>
              </a:spcBef>
              <a:defRPr sz="1100">
                <a:solidFill>
                  <a:srgbClr val="475569"/>
                </a:solidFill>
                <a:latin typeface="Calibri"/>
              </a:defRPr>
            </a:pPr>
            <a:r>
              <a:t>2025 out-of-time evaluation across Baseline Control, Model 1, Model 2, and Model 3; certified RMSE, MASE, and Bias.</a:t>
            </a:r>
          </a:p>
        </p:txBody>
      </p:sp>
      <p:sp>
        <p:nvSpPr>
          <p:cNvPr id="6" name="Rounded Rectangle 5"/>
          <p:cNvSpPr/>
          <p:nvPr/>
        </p:nvSpPr>
        <p:spPr>
          <a:xfrm>
            <a:off x="731520" y="5074920"/>
            <a:ext cx="10698480" cy="960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100" b="1">
                <a:solidFill>
                  <a:srgbClr val="2563EB"/>
                </a:solidFill>
                <a:latin typeface="Calibri"/>
              </a:defRPr>
            </a:pPr>
            <a:r>
              <a:t>4.4 MULTI-PILLAR HYPOTHESIS</a:t>
            </a:r>
          </a:p>
          <a:p>
            <a:pPr>
              <a:spcBef>
                <a:spcPts val="200"/>
              </a:spcBef>
              <a:defRPr sz="1400" b="1">
                <a:solidFill>
                  <a:srgbClr val="0A2240"/>
                </a:solidFill>
                <a:latin typeface="Calibri"/>
              </a:defRPr>
            </a:pPr>
            <a:r>
              <a:t>Testing H₁ Across Robustness, Resilience, Transfer</a:t>
            </a:r>
          </a:p>
          <a:p>
            <a:pPr>
              <a:spcBef>
                <a:spcPts val="200"/>
              </a:spcBef>
              <a:defRPr sz="1100">
                <a:solidFill>
                  <a:srgbClr val="475569"/>
                </a:solidFill>
                <a:latin typeface="Calibri"/>
              </a:defRPr>
            </a:pPr>
            <a:r>
              <a:t>Deep-dive evaluations under nominal operations, convective IROPS shocks, and zero-shot cross-facility portability.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DESCRIPTIVE STATISTICS</a:t>
            </a:r>
          </a:p>
          <a:p>
            <a:pPr>
              <a:spcBef>
                <a:spcPts val="300"/>
              </a:spcBef>
              <a:defRPr sz="2400" b="1">
                <a:solidFill>
                  <a:srgbClr val="0A2240"/>
                </a:solidFill>
                <a:latin typeface="Calibri"/>
              </a:defRPr>
            </a:pPr>
            <a:r>
              <a:t>Empirical Baseline: 9-Airport Cohort vs. Top 25</a:t>
            </a:r>
          </a:p>
          <a:p>
            <a:pPr>
              <a:spcBef>
                <a:spcPts val="300"/>
              </a:spcBef>
              <a:defRPr sz="1300">
                <a:solidFill>
                  <a:srgbClr val="475569"/>
                </a:solidFill>
                <a:latin typeface="Calibri"/>
              </a:defRPr>
            </a:pPr>
            <a:r>
              <a:t>Table 4.7: Proving the Experimental Cohort Represents the Operational Stress Front</a:t>
            </a:r>
          </a:p>
        </p:txBody>
      </p:sp>
      <p:sp>
        <p:nvSpPr>
          <p:cNvPr id="3" name="Rounded Rectangle 2"/>
          <p:cNvSpPr/>
          <p:nvPr/>
        </p:nvSpPr>
        <p:spPr>
          <a:xfrm>
            <a:off x="731520" y="192024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2800" b="1">
                <a:solidFill>
                  <a:srgbClr val="0A2240"/>
                </a:solidFill>
                <a:latin typeface="Calibri"/>
              </a:defRPr>
            </a:pPr>
            <a:r>
              <a:t>+16.9%</a:t>
            </a:r>
          </a:p>
          <a:p>
            <a:pPr algn="ctr">
              <a:spcBef>
                <a:spcPts val="400"/>
              </a:spcBef>
              <a:defRPr sz="1200" b="1">
                <a:solidFill>
                  <a:srgbClr val="0F172A"/>
                </a:solidFill>
                <a:latin typeface="Calibri"/>
              </a:defRPr>
            </a:pPr>
            <a:r>
              <a:t>Flight Movement Density</a:t>
            </a:r>
          </a:p>
          <a:p>
            <a:pPr algn="ctr">
              <a:spcBef>
                <a:spcPts val="200"/>
              </a:spcBef>
              <a:defRPr sz="1050">
                <a:solidFill>
                  <a:srgbClr val="64748B"/>
                </a:solidFill>
                <a:latin typeface="Calibri"/>
              </a:defRPr>
            </a:pPr>
            <a:r>
              <a:t>224,576 scheduled annual flights vs. 192,160 national Top 25 average</a:t>
            </a:r>
          </a:p>
        </p:txBody>
      </p:sp>
      <p:sp>
        <p:nvSpPr>
          <p:cNvPr id="4" name="Rounded Rectangle 3"/>
          <p:cNvSpPr/>
          <p:nvPr/>
        </p:nvSpPr>
        <p:spPr>
          <a:xfrm>
            <a:off x="3474720" y="192024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2800" b="1">
                <a:solidFill>
                  <a:srgbClr val="0A2240"/>
                </a:solidFill>
                <a:latin typeface="Calibri"/>
              </a:defRPr>
            </a:pPr>
            <a:r>
              <a:t>+14.1%</a:t>
            </a:r>
          </a:p>
          <a:p>
            <a:pPr algn="ctr">
              <a:spcBef>
                <a:spcPts val="400"/>
              </a:spcBef>
              <a:defRPr sz="1200" b="1">
                <a:solidFill>
                  <a:srgbClr val="0F172A"/>
                </a:solidFill>
                <a:latin typeface="Calibri"/>
              </a:defRPr>
            </a:pPr>
            <a:r>
              <a:t>Higher Cancellation Rate</a:t>
            </a:r>
          </a:p>
          <a:p>
            <a:pPr algn="ctr">
              <a:spcBef>
                <a:spcPts val="200"/>
              </a:spcBef>
              <a:defRPr sz="1050">
                <a:solidFill>
                  <a:srgbClr val="64748B"/>
                </a:solidFill>
                <a:latin typeface="Calibri"/>
              </a:defRPr>
            </a:pPr>
            <a:r>
              <a:t>1.63% flight cancellation rate vs. 1.43% national Top 25 average</a:t>
            </a:r>
          </a:p>
        </p:txBody>
      </p:sp>
      <p:sp>
        <p:nvSpPr>
          <p:cNvPr id="5" name="Rounded Rectangle 4"/>
          <p:cNvSpPr/>
          <p:nvPr/>
        </p:nvSpPr>
        <p:spPr>
          <a:xfrm>
            <a:off x="6217920" y="192024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2800" b="1">
                <a:solidFill>
                  <a:srgbClr val="0A2240"/>
                </a:solidFill>
                <a:latin typeface="Calibri"/>
              </a:defRPr>
            </a:pPr>
            <a:r>
              <a:t>+25.0%</a:t>
            </a:r>
          </a:p>
          <a:p>
            <a:pPr algn="ctr">
              <a:spcBef>
                <a:spcPts val="400"/>
              </a:spcBef>
              <a:defRPr sz="1200" b="1">
                <a:solidFill>
                  <a:srgbClr val="0F172A"/>
                </a:solidFill>
                <a:latin typeface="Calibri"/>
              </a:defRPr>
            </a:pPr>
            <a:r>
              <a:t>Local Originating Demand</a:t>
            </a:r>
          </a:p>
          <a:p>
            <a:pPr algn="ctr">
              <a:spcBef>
                <a:spcPts val="200"/>
              </a:spcBef>
              <a:defRPr sz="1050">
                <a:solidFill>
                  <a:srgbClr val="64748B"/>
                </a:solidFill>
                <a:latin typeface="Calibri"/>
              </a:defRPr>
            </a:pPr>
            <a:r>
              <a:t>16.4M true originating passengers vs. 13.1M national Top 25 average</a:t>
            </a:r>
          </a:p>
        </p:txBody>
      </p:sp>
      <p:sp>
        <p:nvSpPr>
          <p:cNvPr id="6" name="Rounded Rectangle 5"/>
          <p:cNvSpPr/>
          <p:nvPr/>
        </p:nvSpPr>
        <p:spPr>
          <a:xfrm>
            <a:off x="8961120" y="192024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2800" b="1">
                <a:solidFill>
                  <a:srgbClr val="0A2240"/>
                </a:solidFill>
                <a:latin typeface="Calibri"/>
              </a:defRPr>
            </a:pPr>
            <a:r>
              <a:t>+5.8%</a:t>
            </a:r>
          </a:p>
          <a:p>
            <a:pPr algn="ctr">
              <a:spcBef>
                <a:spcPts val="400"/>
              </a:spcBef>
              <a:defRPr sz="1200" b="1">
                <a:solidFill>
                  <a:srgbClr val="0F172A"/>
                </a:solidFill>
                <a:latin typeface="Calibri"/>
              </a:defRPr>
            </a:pPr>
            <a:r>
              <a:t>Elevated Arrival Volatility</a:t>
            </a:r>
          </a:p>
          <a:p>
            <a:pPr algn="ctr">
              <a:spcBef>
                <a:spcPts val="200"/>
              </a:spcBef>
              <a:defRPr sz="1050">
                <a:solidFill>
                  <a:srgbClr val="64748B"/>
                </a:solidFill>
                <a:latin typeface="Calibri"/>
              </a:defRPr>
            </a:pPr>
            <a:r>
              <a:t>CV_TSA = 0.8728 vs. 0.8250 national Top 25 baseline average</a:t>
            </a:r>
          </a:p>
        </p:txBody>
      </p:sp>
      <p:sp>
        <p:nvSpPr>
          <p:cNvPr id="7" name="Rounded Rectangle 6"/>
          <p:cNvSpPr/>
          <p:nvPr/>
        </p:nvSpPr>
        <p:spPr>
          <a:xfrm>
            <a:off x="731520" y="4297680"/>
            <a:ext cx="10698480" cy="1828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182880"/>
          <a:lstStyle/>
          <a:p>
            <a:pPr algn="ctr">
              <a:defRPr sz="1100" b="1">
                <a:solidFill>
                  <a:srgbClr val="2563EB"/>
                </a:solidFill>
                <a:latin typeface="Calibri"/>
              </a:defRPr>
            </a:pPr>
            <a:r>
              <a:t>EMPIRICAL JUSTIFICATION OF COHORT REPRESENTATIVENESS</a:t>
            </a:r>
          </a:p>
          <a:p>
            <a:pPr>
              <a:spcBef>
                <a:spcPts val="400"/>
              </a:spcBef>
              <a:defRPr sz="1200">
                <a:solidFill>
                  <a:srgbClr val="475569"/>
                </a:solidFill>
                <a:latin typeface="Calibri"/>
              </a:defRPr>
            </a:pPr>
            <a:r>
              <a:t>The 9-airport cohort is not a convenience sample. It captures airports with significantly higher traffic density, greater disruption exposure, and heavier landside passenger show-up volumes than the broader Top 25. This ensures that models trained on this cohort are tested under genuine operational stress.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COHORT SELECTION</a:t>
            </a:r>
          </a:p>
          <a:p>
            <a:pPr>
              <a:spcBef>
                <a:spcPts val="300"/>
              </a:spcBef>
              <a:defRPr sz="2400" b="1">
                <a:solidFill>
                  <a:srgbClr val="0A2240"/>
                </a:solidFill>
                <a:latin typeface="Calibri"/>
              </a:defRPr>
            </a:pPr>
            <a:r>
              <a:t>The Four-Tier Purposive Filtering Pipeline</a:t>
            </a:r>
          </a:p>
          <a:p>
            <a:pPr>
              <a:spcBef>
                <a:spcPts val="300"/>
              </a:spcBef>
              <a:defRPr sz="1300">
                <a:solidFill>
                  <a:srgbClr val="475569"/>
                </a:solidFill>
                <a:latin typeface="Calibri"/>
              </a:defRPr>
            </a:pPr>
            <a:r>
              <a:t>Table 3.2: Progressive Filtering from 450+ Commercial Airfields to 9 Balanced Hubs</a:t>
            </a:r>
          </a:p>
        </p:txBody>
      </p:sp>
      <p:sp>
        <p:nvSpPr>
          <p:cNvPr id="3" name="Rounded Rectangle 2"/>
          <p:cNvSpPr/>
          <p:nvPr/>
        </p:nvSpPr>
        <p:spPr>
          <a:xfrm>
            <a:off x="731520" y="2011680"/>
            <a:ext cx="256032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100" b="1">
                <a:solidFill>
                  <a:srgbClr val="2563EB"/>
                </a:solidFill>
                <a:latin typeface="Calibri"/>
              </a:defRPr>
            </a:pPr>
            <a:r>
              <a:t>MACRO TIER</a:t>
            </a:r>
          </a:p>
          <a:p>
            <a:pPr>
              <a:spcBef>
                <a:spcPts val="300"/>
              </a:spcBef>
              <a:defRPr sz="1400" b="1">
                <a:solidFill>
                  <a:srgbClr val="0A2240"/>
                </a:solidFill>
                <a:latin typeface="Calibri"/>
              </a:defRPr>
            </a:pPr>
            <a:r>
              <a:t>Commercial Network Scale</a:t>
            </a:r>
          </a:p>
          <a:p>
            <a:pPr>
              <a:spcBef>
                <a:spcPts val="600"/>
              </a:spcBef>
              <a:defRPr sz="1050" b="1">
                <a:solidFill>
                  <a:srgbClr val="15803D"/>
                </a:solidFill>
                <a:latin typeface="Calibri"/>
              </a:defRPr>
            </a:pPr>
            <a:r>
              <a:t>450+ Airfields  →  Top 25 Hubs</a:t>
            </a:r>
          </a:p>
          <a:p>
            <a:pPr>
              <a:spcBef>
                <a:spcPts val="800"/>
              </a:spcBef>
              <a:defRPr sz="1050">
                <a:solidFill>
                  <a:srgbClr val="475569"/>
                </a:solidFill>
                <a:latin typeface="Calibri"/>
              </a:defRPr>
            </a:pPr>
            <a:r>
              <a:t>Filtered commercial airfields to the Top 25 large hubs representing 68% of commercial traffic, eliminating regional airfields lacking continuous high-volume queues.</a:t>
            </a:r>
          </a:p>
        </p:txBody>
      </p:sp>
      <p:sp>
        <p:nvSpPr>
          <p:cNvPr id="4" name="Rounded Rectangle 3"/>
          <p:cNvSpPr/>
          <p:nvPr/>
        </p:nvSpPr>
        <p:spPr>
          <a:xfrm>
            <a:off x="3474720" y="2011680"/>
            <a:ext cx="256032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100" b="1">
                <a:solidFill>
                  <a:srgbClr val="2563EB"/>
                </a:solidFill>
                <a:latin typeface="Calibri"/>
              </a:defRPr>
            </a:pPr>
            <a:r>
              <a:t>MESO TIER</a:t>
            </a:r>
          </a:p>
          <a:p>
            <a:pPr>
              <a:spcBef>
                <a:spcPts val="300"/>
              </a:spcBef>
              <a:defRPr sz="1400" b="1">
                <a:solidFill>
                  <a:srgbClr val="0A2240"/>
                </a:solidFill>
                <a:latin typeface="Calibri"/>
              </a:defRPr>
            </a:pPr>
            <a:r>
              <a:t>Carrier Presence &amp; Continuity</a:t>
            </a:r>
          </a:p>
          <a:p>
            <a:pPr>
              <a:spcBef>
                <a:spcPts val="600"/>
              </a:spcBef>
              <a:defRPr sz="1050" b="1">
                <a:solidFill>
                  <a:srgbClr val="15803D"/>
                </a:solidFill>
                <a:latin typeface="Calibri"/>
              </a:defRPr>
            </a:pPr>
            <a:r>
              <a:t>Top 25 Hubs  →  14 Core Hubs</a:t>
            </a:r>
          </a:p>
          <a:p>
            <a:pPr>
              <a:spcBef>
                <a:spcPts val="800"/>
              </a:spcBef>
              <a:defRPr sz="1050">
                <a:solidFill>
                  <a:srgbClr val="475569"/>
                </a:solidFill>
                <a:latin typeface="Calibri"/>
              </a:defRPr>
            </a:pPr>
            <a:r>
              <a:t>Enforced continuous operational presence by American, Delta, and United. Eliminated JFK due to United's permanent operational exit in October 2022.</a:t>
            </a:r>
          </a:p>
        </p:txBody>
      </p:sp>
      <p:sp>
        <p:nvSpPr>
          <p:cNvPr id="5" name="Rounded Rectangle 4"/>
          <p:cNvSpPr/>
          <p:nvPr/>
        </p:nvSpPr>
        <p:spPr>
          <a:xfrm>
            <a:off x="6217920" y="2011680"/>
            <a:ext cx="256032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100" b="1">
                <a:solidFill>
                  <a:srgbClr val="2563EB"/>
                </a:solidFill>
                <a:latin typeface="Calibri"/>
              </a:defRPr>
            </a:pPr>
            <a:r>
              <a:t>MICRO TIER</a:t>
            </a:r>
          </a:p>
          <a:p>
            <a:pPr>
              <a:spcBef>
                <a:spcPts val="300"/>
              </a:spcBef>
              <a:defRPr sz="1400" b="1">
                <a:solidFill>
                  <a:srgbClr val="0A2240"/>
                </a:solidFill>
                <a:latin typeface="Calibri"/>
              </a:defRPr>
            </a:pPr>
            <a:r>
              <a:t>Physical Checkpoint Isolation</a:t>
            </a:r>
          </a:p>
          <a:p>
            <a:pPr>
              <a:spcBef>
                <a:spcPts val="600"/>
              </a:spcBef>
              <a:defRPr sz="1050" b="1">
                <a:solidFill>
                  <a:srgbClr val="15803D"/>
                </a:solidFill>
                <a:latin typeface="Calibri"/>
              </a:defRPr>
            </a:pPr>
            <a:r>
              <a:t>14 Core Hubs  →  10 Airfields</a:t>
            </a:r>
          </a:p>
          <a:p>
            <a:pPr>
              <a:spcBef>
                <a:spcPts val="800"/>
              </a:spcBef>
              <a:defRPr sz="1050">
                <a:solidFill>
                  <a:srgbClr val="475569"/>
                </a:solidFill>
                <a:latin typeface="Calibri"/>
              </a:defRPr>
            </a:pPr>
            <a:r>
              <a:t>Screened for dedicated carrier checkpoints. Eliminated consolidated central checkpoint terminals (e.g. Salt Lake City) where carrier passenger flows mix.</a:t>
            </a:r>
          </a:p>
        </p:txBody>
      </p:sp>
      <p:sp>
        <p:nvSpPr>
          <p:cNvPr id="6" name="Rounded Rectangle 5"/>
          <p:cNvSpPr/>
          <p:nvPr/>
        </p:nvSpPr>
        <p:spPr>
          <a:xfrm>
            <a:off x="8961120" y="2011680"/>
            <a:ext cx="256032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100" b="1">
                <a:solidFill>
                  <a:srgbClr val="2563EB"/>
                </a:solidFill>
                <a:latin typeface="Calibri"/>
              </a:defRPr>
            </a:pPr>
            <a:r>
              <a:t>COHORT TIER</a:t>
            </a:r>
          </a:p>
          <a:p>
            <a:pPr>
              <a:spcBef>
                <a:spcPts val="300"/>
              </a:spcBef>
              <a:defRPr sz="1400" b="1">
                <a:solidFill>
                  <a:srgbClr val="0A2240"/>
                </a:solidFill>
                <a:latin typeface="Calibri"/>
              </a:defRPr>
            </a:pPr>
            <a:r>
              <a:t>Factorial Operational Balance</a:t>
            </a:r>
          </a:p>
          <a:p>
            <a:pPr>
              <a:spcBef>
                <a:spcPts val="600"/>
              </a:spcBef>
              <a:defRPr sz="1050" b="1">
                <a:solidFill>
                  <a:srgbClr val="15803D"/>
                </a:solidFill>
                <a:latin typeface="Calibri"/>
              </a:defRPr>
            </a:pPr>
            <a:r>
              <a:t>10 Airfields  →  9 Final Airfields</a:t>
            </a:r>
          </a:p>
          <a:p>
            <a:pPr>
              <a:spcBef>
                <a:spcPts val="800"/>
              </a:spcBef>
              <a:defRPr sz="1050">
                <a:solidFill>
                  <a:srgbClr val="475569"/>
                </a:solidFill>
                <a:latin typeface="Calibri"/>
              </a:defRPr>
            </a:pPr>
            <a:r>
              <a:t>Balanced across 4 operational clusters (Mega-Hubs, Coastal International, High-Originating, Transfer Concentrated) and 12 dedicated screening complexes.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COHORT SPECIFICATION</a:t>
            </a:r>
          </a:p>
          <a:p>
            <a:pPr>
              <a:spcBef>
                <a:spcPts val="300"/>
              </a:spcBef>
              <a:defRPr sz="2400" b="1">
                <a:solidFill>
                  <a:srgbClr val="0A2240"/>
                </a:solidFill>
                <a:latin typeface="Calibri"/>
              </a:defRPr>
            </a:pPr>
            <a:r>
              <a:t>The 9-Airport Experimental Cohort Specification</a:t>
            </a:r>
          </a:p>
          <a:p>
            <a:pPr>
              <a:spcBef>
                <a:spcPts val="300"/>
              </a:spcBef>
              <a:defRPr sz="1300">
                <a:solidFill>
                  <a:srgbClr val="475569"/>
                </a:solidFill>
                <a:latin typeface="Calibri"/>
              </a:defRPr>
            </a:pPr>
            <a:r>
              <a:t>Table 4.6: Factorial Representation Across 12 Carrier-Exclusive Terminal Complexes</a:t>
            </a:r>
          </a:p>
        </p:txBody>
      </p:sp>
      <p:sp>
        <p:nvSpPr>
          <p:cNvPr id="3" name="Rounded Rectangle 2"/>
          <p:cNvSpPr/>
          <p:nvPr/>
        </p:nvSpPr>
        <p:spPr>
          <a:xfrm>
            <a:off x="731520" y="1920240"/>
            <a:ext cx="3383280" cy="1234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300" b="1">
                <a:solidFill>
                  <a:srgbClr val="0A2240"/>
                </a:solidFill>
                <a:latin typeface="Calibri"/>
              </a:defRPr>
            </a:pPr>
            <a:r>
              <a:t>ATL  ·  Atlanta Hartsfield</a:t>
            </a:r>
          </a:p>
          <a:p>
            <a:pPr>
              <a:spcBef>
                <a:spcPts val="200"/>
              </a:spcBef>
              <a:defRPr sz="1100" b="1">
                <a:solidFill>
                  <a:srgbClr val="2563EB"/>
                </a:solidFill>
                <a:latin typeface="Calibri"/>
              </a:defRPr>
            </a:pPr>
            <a:r>
              <a:t>Delta Air Lines</a:t>
            </a:r>
          </a:p>
          <a:p>
            <a:pPr>
              <a:spcBef>
                <a:spcPts val="200"/>
              </a:spcBef>
              <a:defRPr sz="1050">
                <a:solidFill>
                  <a:srgbClr val="475569"/>
                </a:solidFill>
                <a:latin typeface="Calibri"/>
              </a:defRPr>
            </a:pPr>
            <a:r>
              <a:t>Domestic South Terminal</a:t>
            </a:r>
          </a:p>
        </p:txBody>
      </p:sp>
      <p:sp>
        <p:nvSpPr>
          <p:cNvPr id="4" name="Rounded Rectangle 3"/>
          <p:cNvSpPr/>
          <p:nvPr/>
        </p:nvSpPr>
        <p:spPr>
          <a:xfrm>
            <a:off x="4389120" y="1920240"/>
            <a:ext cx="3383280" cy="1234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300" b="1">
                <a:solidFill>
                  <a:srgbClr val="0A2240"/>
                </a:solidFill>
                <a:latin typeface="Calibri"/>
              </a:defRPr>
            </a:pPr>
            <a:r>
              <a:t>BOS  ·  Boston Logan</a:t>
            </a:r>
          </a:p>
          <a:p>
            <a:pPr>
              <a:spcBef>
                <a:spcPts val="200"/>
              </a:spcBef>
              <a:defRPr sz="1100" b="1">
                <a:solidFill>
                  <a:srgbClr val="2563EB"/>
                </a:solidFill>
                <a:latin typeface="Calibri"/>
              </a:defRPr>
            </a:pPr>
            <a:r>
              <a:t>Delta / American</a:t>
            </a:r>
          </a:p>
          <a:p>
            <a:pPr>
              <a:spcBef>
                <a:spcPts val="200"/>
              </a:spcBef>
              <a:defRPr sz="1050">
                <a:solidFill>
                  <a:srgbClr val="475569"/>
                </a:solidFill>
                <a:latin typeface="Calibri"/>
              </a:defRPr>
            </a:pPr>
            <a:r>
              <a:t>Terminal A &amp; Terminal B</a:t>
            </a:r>
          </a:p>
        </p:txBody>
      </p:sp>
      <p:sp>
        <p:nvSpPr>
          <p:cNvPr id="5" name="Rounded Rectangle 4"/>
          <p:cNvSpPr/>
          <p:nvPr/>
        </p:nvSpPr>
        <p:spPr>
          <a:xfrm>
            <a:off x="8046720" y="1920240"/>
            <a:ext cx="3383280" cy="1234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300" b="1">
                <a:solidFill>
                  <a:srgbClr val="0A2240"/>
                </a:solidFill>
                <a:latin typeface="Calibri"/>
              </a:defRPr>
            </a:pPr>
            <a:r>
              <a:t>DFW  ·  Dallas/Fort Worth</a:t>
            </a:r>
          </a:p>
          <a:p>
            <a:pPr>
              <a:spcBef>
                <a:spcPts val="200"/>
              </a:spcBef>
              <a:defRPr sz="1100" b="1">
                <a:solidFill>
                  <a:srgbClr val="2563EB"/>
                </a:solidFill>
                <a:latin typeface="Calibri"/>
              </a:defRPr>
            </a:pPr>
            <a:r>
              <a:t>American Airlines</a:t>
            </a:r>
          </a:p>
          <a:p>
            <a:pPr>
              <a:spcBef>
                <a:spcPts val="200"/>
              </a:spcBef>
              <a:defRPr sz="1050">
                <a:solidFill>
                  <a:srgbClr val="475569"/>
                </a:solidFill>
                <a:latin typeface="Calibri"/>
              </a:defRPr>
            </a:pPr>
            <a:r>
              <a:t>Terminals A, B, C complexes</a:t>
            </a:r>
          </a:p>
        </p:txBody>
      </p:sp>
      <p:sp>
        <p:nvSpPr>
          <p:cNvPr id="6" name="Rounded Rectangle 5"/>
          <p:cNvSpPr/>
          <p:nvPr/>
        </p:nvSpPr>
        <p:spPr>
          <a:xfrm>
            <a:off x="731520" y="3291840"/>
            <a:ext cx="3383280" cy="1234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300" b="1">
                <a:solidFill>
                  <a:srgbClr val="0A2240"/>
                </a:solidFill>
                <a:latin typeface="Calibri"/>
              </a:defRPr>
            </a:pPr>
            <a:r>
              <a:t>DTW  ·  Detroit Metro</a:t>
            </a:r>
          </a:p>
          <a:p>
            <a:pPr>
              <a:spcBef>
                <a:spcPts val="200"/>
              </a:spcBef>
              <a:defRPr sz="1100" b="1">
                <a:solidFill>
                  <a:srgbClr val="2563EB"/>
                </a:solidFill>
                <a:latin typeface="Calibri"/>
              </a:defRPr>
            </a:pPr>
            <a:r>
              <a:t>Delta Air Lines</a:t>
            </a:r>
          </a:p>
          <a:p>
            <a:pPr>
              <a:spcBef>
                <a:spcPts val="200"/>
              </a:spcBef>
              <a:defRPr sz="1050">
                <a:solidFill>
                  <a:srgbClr val="475569"/>
                </a:solidFill>
                <a:latin typeface="Calibri"/>
              </a:defRPr>
            </a:pPr>
            <a:r>
              <a:t>McNamara Terminal</a:t>
            </a:r>
          </a:p>
        </p:txBody>
      </p:sp>
      <p:sp>
        <p:nvSpPr>
          <p:cNvPr id="7" name="Rounded Rectangle 6"/>
          <p:cNvSpPr/>
          <p:nvPr/>
        </p:nvSpPr>
        <p:spPr>
          <a:xfrm>
            <a:off x="4389120" y="3291840"/>
            <a:ext cx="3383280" cy="1234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300" b="1">
                <a:solidFill>
                  <a:srgbClr val="0A2240"/>
                </a:solidFill>
                <a:latin typeface="Calibri"/>
              </a:defRPr>
            </a:pPr>
            <a:r>
              <a:t>EWR  ·  Newark Liberty</a:t>
            </a:r>
          </a:p>
          <a:p>
            <a:pPr>
              <a:spcBef>
                <a:spcPts val="200"/>
              </a:spcBef>
              <a:defRPr sz="1100" b="1">
                <a:solidFill>
                  <a:srgbClr val="2563EB"/>
                </a:solidFill>
                <a:latin typeface="Calibri"/>
              </a:defRPr>
            </a:pPr>
            <a:r>
              <a:t>United Airlines</a:t>
            </a:r>
          </a:p>
          <a:p>
            <a:pPr>
              <a:spcBef>
                <a:spcPts val="200"/>
              </a:spcBef>
              <a:defRPr sz="1050">
                <a:solidFill>
                  <a:srgbClr val="475569"/>
                </a:solidFill>
                <a:latin typeface="Calibri"/>
              </a:defRPr>
            </a:pPr>
            <a:r>
              <a:t>Terminal C complex</a:t>
            </a:r>
          </a:p>
        </p:txBody>
      </p:sp>
      <p:sp>
        <p:nvSpPr>
          <p:cNvPr id="8" name="Rounded Rectangle 7"/>
          <p:cNvSpPr/>
          <p:nvPr/>
        </p:nvSpPr>
        <p:spPr>
          <a:xfrm>
            <a:off x="8046720" y="3291840"/>
            <a:ext cx="3383280" cy="1234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300" b="1">
                <a:solidFill>
                  <a:srgbClr val="0A2240"/>
                </a:solidFill>
                <a:latin typeface="Calibri"/>
              </a:defRPr>
            </a:pPr>
            <a:r>
              <a:t>LAX  ·  Los Angeles Intl</a:t>
            </a:r>
          </a:p>
          <a:p>
            <a:pPr>
              <a:spcBef>
                <a:spcPts val="200"/>
              </a:spcBef>
              <a:defRPr sz="1100" b="1">
                <a:solidFill>
                  <a:srgbClr val="2563EB"/>
                </a:solidFill>
                <a:latin typeface="Calibri"/>
              </a:defRPr>
            </a:pPr>
            <a:r>
              <a:t>Delta / United / AA</a:t>
            </a:r>
          </a:p>
          <a:p>
            <a:pPr>
              <a:spcBef>
                <a:spcPts val="200"/>
              </a:spcBef>
              <a:defRPr sz="1050">
                <a:solidFill>
                  <a:srgbClr val="475569"/>
                </a:solidFill>
                <a:latin typeface="Calibri"/>
              </a:defRPr>
            </a:pPr>
            <a:r>
              <a:t>Terminals 3, 4, 7 complexes</a:t>
            </a:r>
          </a:p>
        </p:txBody>
      </p:sp>
      <p:sp>
        <p:nvSpPr>
          <p:cNvPr id="9" name="Rounded Rectangle 8"/>
          <p:cNvSpPr/>
          <p:nvPr/>
        </p:nvSpPr>
        <p:spPr>
          <a:xfrm>
            <a:off x="731520" y="4663440"/>
            <a:ext cx="3383280" cy="1234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300" b="1">
                <a:solidFill>
                  <a:srgbClr val="0A2240"/>
                </a:solidFill>
                <a:latin typeface="Calibri"/>
              </a:defRPr>
            </a:pPr>
            <a:r>
              <a:t>LGA  ·  New York LaGuardia</a:t>
            </a:r>
          </a:p>
          <a:p>
            <a:pPr>
              <a:spcBef>
                <a:spcPts val="200"/>
              </a:spcBef>
              <a:defRPr sz="1100" b="1">
                <a:solidFill>
                  <a:srgbClr val="2563EB"/>
                </a:solidFill>
                <a:latin typeface="Calibri"/>
              </a:defRPr>
            </a:pPr>
            <a:r>
              <a:t>Delta Air Lines</a:t>
            </a:r>
          </a:p>
          <a:p>
            <a:pPr>
              <a:spcBef>
                <a:spcPts val="200"/>
              </a:spcBef>
              <a:defRPr sz="1050">
                <a:solidFill>
                  <a:srgbClr val="475569"/>
                </a:solidFill>
                <a:latin typeface="Calibri"/>
              </a:defRPr>
            </a:pPr>
            <a:r>
              <a:t>Terminal C (New 2022 Concourse)</a:t>
            </a:r>
          </a:p>
        </p:txBody>
      </p:sp>
      <p:sp>
        <p:nvSpPr>
          <p:cNvPr id="10" name="Rounded Rectangle 9"/>
          <p:cNvSpPr/>
          <p:nvPr/>
        </p:nvSpPr>
        <p:spPr>
          <a:xfrm>
            <a:off x="4389120" y="4663440"/>
            <a:ext cx="3383280" cy="1234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300" b="1">
                <a:solidFill>
                  <a:srgbClr val="0A2240"/>
                </a:solidFill>
                <a:latin typeface="Calibri"/>
              </a:defRPr>
            </a:pPr>
            <a:r>
              <a:t>ORD  ·  Chicago O'Hare</a:t>
            </a:r>
          </a:p>
          <a:p>
            <a:pPr>
              <a:spcBef>
                <a:spcPts val="200"/>
              </a:spcBef>
              <a:defRPr sz="1100" b="1">
                <a:solidFill>
                  <a:srgbClr val="2563EB"/>
                </a:solidFill>
                <a:latin typeface="Calibri"/>
              </a:defRPr>
            </a:pPr>
            <a:r>
              <a:t>United / American</a:t>
            </a:r>
          </a:p>
          <a:p>
            <a:pPr>
              <a:spcBef>
                <a:spcPts val="200"/>
              </a:spcBef>
              <a:defRPr sz="1050">
                <a:solidFill>
                  <a:srgbClr val="475569"/>
                </a:solidFill>
                <a:latin typeface="Calibri"/>
              </a:defRPr>
            </a:pPr>
            <a:r>
              <a:t>Terminal 1 &amp; Terminal 3</a:t>
            </a:r>
          </a:p>
        </p:txBody>
      </p:sp>
      <p:sp>
        <p:nvSpPr>
          <p:cNvPr id="11" name="Rounded Rectangle 10"/>
          <p:cNvSpPr/>
          <p:nvPr/>
        </p:nvSpPr>
        <p:spPr>
          <a:xfrm>
            <a:off x="8046720" y="4663440"/>
            <a:ext cx="3383280" cy="1234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300" b="1">
                <a:solidFill>
                  <a:srgbClr val="0A2240"/>
                </a:solidFill>
                <a:latin typeface="Calibri"/>
              </a:defRPr>
            </a:pPr>
            <a:r>
              <a:t>PHL  ·  Philadelphia Intl</a:t>
            </a:r>
          </a:p>
          <a:p>
            <a:pPr>
              <a:spcBef>
                <a:spcPts val="200"/>
              </a:spcBef>
              <a:defRPr sz="1100" b="1">
                <a:solidFill>
                  <a:srgbClr val="2563EB"/>
                </a:solidFill>
                <a:latin typeface="Calibri"/>
              </a:defRPr>
            </a:pPr>
            <a:r>
              <a:t>American Airlines</a:t>
            </a:r>
          </a:p>
          <a:p>
            <a:pPr>
              <a:spcBef>
                <a:spcPts val="200"/>
              </a:spcBef>
              <a:defRPr sz="1050">
                <a:solidFill>
                  <a:srgbClr val="475569"/>
                </a:solidFill>
                <a:latin typeface="Calibri"/>
              </a:defRPr>
            </a:pPr>
            <a:r>
              <a:t>Terminals B and C</a:t>
            </a:r>
          </a:p>
        </p:txBody>
      </p:sp>
      <p:sp>
        <p:nvSpPr>
          <p:cNvPr id="12" name="Rounded Rectangle 11"/>
          <p:cNvSpPr/>
          <p:nvPr/>
        </p:nvSpPr>
        <p:spPr>
          <a:xfrm>
            <a:off x="731520" y="5394960"/>
            <a:ext cx="10698480" cy="822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tIns="109728"/>
          <a:lstStyle/>
          <a:p>
            <a:pPr algn="ctr">
              <a:defRPr sz="1150" b="1">
                <a:solidFill>
                  <a:srgbClr val="0F172A"/>
                </a:solidFill>
                <a:latin typeface="Calibri"/>
              </a:defRPr>
            </a:pPr>
            <a:r>
              <a:t>Complete balance across Big Three carriers: American (5 complexes), Delta (5 complexes), United (4 complexes).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MODEL DEVELOPMENT</a:t>
            </a:r>
          </a:p>
          <a:p>
            <a:pPr>
              <a:spcBef>
                <a:spcPts val="300"/>
              </a:spcBef>
              <a:defRPr sz="2400" b="1">
                <a:solidFill>
                  <a:srgbClr val="0A2240"/>
                </a:solidFill>
                <a:latin typeface="Calibri"/>
              </a:defRPr>
            </a:pPr>
            <a:r>
              <a:t>Methodological Implications for Model Architecture</a:t>
            </a:r>
          </a:p>
          <a:p>
            <a:pPr>
              <a:spcBef>
                <a:spcPts val="300"/>
              </a:spcBef>
              <a:defRPr sz="1300">
                <a:solidFill>
                  <a:srgbClr val="475569"/>
                </a:solidFill>
                <a:latin typeface="Calibri"/>
              </a:defRPr>
            </a:pPr>
            <a:r>
              <a:t>Four Non-Negotiable Operational Principles Governing Model Formulation</a:t>
            </a:r>
          </a:p>
        </p:txBody>
      </p:sp>
      <p:sp>
        <p:nvSpPr>
          <p:cNvPr id="3" name="Rounded Rectangle 2"/>
          <p:cNvSpPr/>
          <p:nvPr/>
        </p:nvSpPr>
        <p:spPr>
          <a:xfrm>
            <a:off x="731520" y="1920240"/>
            <a:ext cx="10698480" cy="960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400" b="1">
                <a:solidFill>
                  <a:srgbClr val="0A2240"/>
                </a:solidFill>
                <a:latin typeface="Calibri"/>
              </a:defRPr>
            </a:pPr>
            <a:r>
              <a:t>Principle 1: Single Carrier Screening Isolation</a:t>
            </a:r>
          </a:p>
          <a:p>
            <a:pPr>
              <a:spcBef>
                <a:spcPts val="300"/>
              </a:spcBef>
              <a:defRPr sz="1150">
                <a:solidFill>
                  <a:srgbClr val="475569"/>
                </a:solidFill>
                <a:latin typeface="Calibri"/>
              </a:defRPr>
            </a:pPr>
            <a:r>
              <a:t>Ensures passenger demand feeds map 1:1 to dedicated carrier flight banks without unobserved passenger contamination from foreign airlines.</a:t>
            </a:r>
          </a:p>
        </p:txBody>
      </p:sp>
      <p:sp>
        <p:nvSpPr>
          <p:cNvPr id="4" name="Rounded Rectangle 3"/>
          <p:cNvSpPr/>
          <p:nvPr/>
        </p:nvSpPr>
        <p:spPr>
          <a:xfrm>
            <a:off x="731520" y="2971800"/>
            <a:ext cx="10698480" cy="960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400" b="1">
                <a:solidFill>
                  <a:srgbClr val="0A2240"/>
                </a:solidFill>
                <a:latin typeface="Calibri"/>
              </a:defRPr>
            </a:pPr>
            <a:r>
              <a:t>Principle 2: Mandatory DB1B Connecting Deflation</a:t>
            </a:r>
          </a:p>
          <a:p>
            <a:pPr>
              <a:spcBef>
                <a:spcPts val="300"/>
              </a:spcBef>
              <a:defRPr sz="1150">
                <a:solidFill>
                  <a:srgbClr val="475569"/>
                </a:solidFill>
                <a:latin typeface="Calibri"/>
              </a:defRPr>
            </a:pPr>
            <a:r>
              <a:t>All scheduled flight capacities are deflated by quarterly local originating shares (S_local = 1 - S_connect) to eliminate the Hub Disconnect.</a:t>
            </a:r>
          </a:p>
        </p:txBody>
      </p:sp>
      <p:sp>
        <p:nvSpPr>
          <p:cNvPr id="5" name="Rounded Rectangle 4"/>
          <p:cNvSpPr/>
          <p:nvPr/>
        </p:nvSpPr>
        <p:spPr>
          <a:xfrm>
            <a:off x="731520" y="4023360"/>
            <a:ext cx="10698480" cy="960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400" b="1">
                <a:solidFill>
                  <a:srgbClr val="0A2240"/>
                </a:solidFill>
                <a:latin typeface="Calibri"/>
              </a:defRPr>
            </a:pPr>
            <a:r>
              <a:t>Principle 3: Strict Information Availability (t-1)</a:t>
            </a:r>
          </a:p>
          <a:p>
            <a:pPr>
              <a:spcBef>
                <a:spcPts val="300"/>
              </a:spcBef>
              <a:defRPr sz="1150">
                <a:solidFill>
                  <a:srgbClr val="475569"/>
                </a:solidFill>
                <a:latin typeface="Calibri"/>
              </a:defRPr>
            </a:pPr>
            <a:r>
              <a:t>Models are restricted to information physically available prior to prediction hour t, strictly eliminating forward lookahead bias.</a:t>
            </a:r>
          </a:p>
        </p:txBody>
      </p:sp>
      <p:sp>
        <p:nvSpPr>
          <p:cNvPr id="6" name="Rounded Rectangle 5"/>
          <p:cNvSpPr/>
          <p:nvPr/>
        </p:nvSpPr>
        <p:spPr>
          <a:xfrm>
            <a:off x="731520" y="5074920"/>
            <a:ext cx="10698480" cy="960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400" b="1">
                <a:solidFill>
                  <a:srgbClr val="0A2240"/>
                </a:solidFill>
                <a:latin typeface="Calibri"/>
              </a:defRPr>
            </a:pPr>
            <a:r>
              <a:t>Principle 4: Zero-Bounded Tweedie Formulations</a:t>
            </a:r>
          </a:p>
          <a:p>
            <a:pPr>
              <a:spcBef>
                <a:spcPts val="300"/>
              </a:spcBef>
              <a:defRPr sz="1150">
                <a:solidFill>
                  <a:srgbClr val="475569"/>
                </a:solidFill>
                <a:latin typeface="Calibri"/>
              </a:defRPr>
            </a:pPr>
            <a:r>
              <a:t>Throughput is non-negative and zero-inflated during overnight curfew hours; models use compound Poisson-Gamma (Tweedie p = 1.3) objective functions.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HOLDOUT BENCHMARK</a:t>
            </a:r>
          </a:p>
          <a:p>
            <a:pPr>
              <a:spcBef>
                <a:spcPts val="300"/>
              </a:spcBef>
              <a:defRPr sz="2400" b="1">
                <a:solidFill>
                  <a:srgbClr val="0A2240"/>
                </a:solidFill>
                <a:latin typeface="Calibri"/>
              </a:defRPr>
            </a:pPr>
            <a:r>
              <a:t>2025 Holdout Execution Benchmarks</a:t>
            </a:r>
          </a:p>
          <a:p>
            <a:pPr>
              <a:spcBef>
                <a:spcPts val="300"/>
              </a:spcBef>
              <a:defRPr sz="1300">
                <a:solidFill>
                  <a:srgbClr val="475569"/>
                </a:solidFill>
                <a:latin typeface="Calibri"/>
              </a:defRPr>
            </a:pPr>
            <a:r>
              <a:t>Table 4.10: Empirical Out-of-Time Performance Across Candidate Modeling Paradigms</a:t>
            </a:r>
          </a:p>
        </p:txBody>
      </p:sp>
      <p:sp>
        <p:nvSpPr>
          <p:cNvPr id="3" name="Rounded Rectangle 2"/>
          <p:cNvSpPr/>
          <p:nvPr/>
        </p:nvSpPr>
        <p:spPr>
          <a:xfrm>
            <a:off x="731520" y="1920240"/>
            <a:ext cx="10698480" cy="4297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100" b="1">
                <a:solidFill>
                  <a:srgbClr val="2563EB"/>
                </a:solidFill>
                <a:latin typeface="Calibri"/>
              </a:defRPr>
            </a:pPr>
            <a:r>
              <a:t>CERTIFIED 2025 OUT-OF-TIME HOLDOUT BENCHMARK (N = 8,760 HOURLY PERIODS)</a:t>
            </a:r>
          </a:p>
        </p:txBody>
      </p:sp>
      <p:sp>
        <p:nvSpPr>
          <p:cNvPr id="4" name="Rounded Rectangle 3"/>
          <p:cNvSpPr/>
          <p:nvPr/>
        </p:nvSpPr>
        <p:spPr>
          <a:xfrm>
            <a:off x="1005840" y="2377440"/>
            <a:ext cx="10149840"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300" b="1">
                <a:solidFill>
                  <a:srgbClr val="0A2240"/>
                </a:solidFill>
                <a:latin typeface="Calibri"/>
              </a:defRPr>
            </a:pPr>
            <a:r>
              <a:t>Daily Persistence (t-24)  (Baseline Control)</a:t>
            </a:r>
          </a:p>
          <a:p>
            <a:pPr>
              <a:spcBef>
                <a:spcPts val="200"/>
              </a:spcBef>
              <a:defRPr sz="1100">
                <a:solidFill>
                  <a:srgbClr val="475569"/>
                </a:solidFill>
                <a:latin typeface="Calibri"/>
              </a:defRPr>
            </a:pPr>
            <a:r>
              <a:t>Test R²: 0.6719   |   RMSE: 253.6 pax/hr   |   MAE: 179.3 pax/hr   |   MASE: 1.000   |   Bias: -0.7 pax/hr</a:t>
            </a:r>
          </a:p>
        </p:txBody>
      </p:sp>
      <p:sp>
        <p:nvSpPr>
          <p:cNvPr id="5" name="Rounded Rectangle 4"/>
          <p:cNvSpPr/>
          <p:nvPr/>
        </p:nvSpPr>
        <p:spPr>
          <a:xfrm>
            <a:off x="1005840" y="3246120"/>
            <a:ext cx="10149840"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300" b="1">
                <a:solidFill>
                  <a:srgbClr val="0A2240"/>
                </a:solidFill>
                <a:latin typeface="Calibri"/>
              </a:defRPr>
            </a:pPr>
            <a:r>
              <a:t>Model 1 (2-Hr Lead)  (Deterministic Schedule)</a:t>
            </a:r>
          </a:p>
          <a:p>
            <a:pPr>
              <a:spcBef>
                <a:spcPts val="200"/>
              </a:spcBef>
              <a:defRPr sz="1100">
                <a:solidFill>
                  <a:srgbClr val="475569"/>
                </a:solidFill>
                <a:latin typeface="Calibri"/>
              </a:defRPr>
            </a:pPr>
            <a:r>
              <a:t>Test R²: 0.4980   |   RMSE: 313.4 pax/hr   |   MAE: 215.9 pax/hr   |   MASE: 0.945   |   Bias: -42.1 pax/hr</a:t>
            </a:r>
          </a:p>
        </p:txBody>
      </p:sp>
      <p:sp>
        <p:nvSpPr>
          <p:cNvPr id="6" name="Rounded Rectangle 5"/>
          <p:cNvSpPr/>
          <p:nvPr/>
        </p:nvSpPr>
        <p:spPr>
          <a:xfrm>
            <a:off x="1005840" y="4114800"/>
            <a:ext cx="10149840"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300" b="1">
                <a:solidFill>
                  <a:srgbClr val="0A2240"/>
                </a:solidFill>
                <a:latin typeface="Calibri"/>
              </a:defRPr>
            </a:pPr>
            <a:r>
              <a:t>Model 2 (Decision Tree + OTP)  (Machine Learning)</a:t>
            </a:r>
          </a:p>
          <a:p>
            <a:pPr>
              <a:spcBef>
                <a:spcPts val="200"/>
              </a:spcBef>
              <a:defRPr sz="1100">
                <a:solidFill>
                  <a:srgbClr val="475569"/>
                </a:solidFill>
                <a:latin typeface="Calibri"/>
              </a:defRPr>
            </a:pPr>
            <a:r>
              <a:t>Test R²: 0.6178   |   RMSE: 273.5 pax/hr   |   MAE: 178.0 pax/hr   |   MASE: 0.779   |   Bias: -18.4 pax/hr</a:t>
            </a:r>
          </a:p>
        </p:txBody>
      </p:sp>
      <p:sp>
        <p:nvSpPr>
          <p:cNvPr id="7" name="Rounded Rectangle 6"/>
          <p:cNvSpPr/>
          <p:nvPr/>
        </p:nvSpPr>
        <p:spPr>
          <a:xfrm>
            <a:off x="1005840" y="4983479"/>
            <a:ext cx="10149840"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300" b="1">
                <a:solidFill>
                  <a:srgbClr val="15803D"/>
                </a:solidFill>
                <a:latin typeface="Calibri"/>
              </a:defRPr>
            </a:pPr>
            <a:r>
              <a:t>Model 3 (Two-Stage Hybrid)  (Dynamic Hybrid)</a:t>
            </a:r>
          </a:p>
          <a:p>
            <a:pPr>
              <a:spcBef>
                <a:spcPts val="200"/>
              </a:spcBef>
              <a:defRPr sz="1100">
                <a:solidFill>
                  <a:srgbClr val="475569"/>
                </a:solidFill>
                <a:latin typeface="Calibri"/>
              </a:defRPr>
            </a:pPr>
            <a:r>
              <a:t>Test R²: 0.7483   |   RMSE: 222.1 pax/hr   |   MAE: 142.8 pax/hr   |   MASE: 0.662   |   Bias: -8.5 pax/hr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RESULTS INTERPRETATION</a:t>
            </a:r>
          </a:p>
          <a:p>
            <a:pPr>
              <a:spcBef>
                <a:spcPts val="300"/>
              </a:spcBef>
              <a:defRPr sz="2400" b="1">
                <a:solidFill>
                  <a:srgbClr val="0A2240"/>
                </a:solidFill>
                <a:latin typeface="Calibri"/>
              </a:defRPr>
            </a:pPr>
            <a:r>
              <a:t>Interpreting Statistical &amp; Operational Metrics</a:t>
            </a:r>
          </a:p>
          <a:p>
            <a:pPr>
              <a:spcBef>
                <a:spcPts val="300"/>
              </a:spcBef>
              <a:defRPr sz="1300">
                <a:solidFill>
                  <a:srgbClr val="475569"/>
                </a:solidFill>
                <a:latin typeface="Calibri"/>
              </a:defRPr>
            </a:pPr>
            <a:r>
              <a:t>Translating Academic Error Metrics into Checkpoint Floor Staffing Implications</a:t>
            </a:r>
          </a:p>
        </p:txBody>
      </p:sp>
      <p:sp>
        <p:nvSpPr>
          <p:cNvPr id="3" name="Rounded Rectangle 2"/>
          <p:cNvSpPr/>
          <p:nvPr/>
        </p:nvSpPr>
        <p:spPr>
          <a:xfrm>
            <a:off x="731520" y="2011680"/>
            <a:ext cx="338328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100" b="1">
                <a:solidFill>
                  <a:srgbClr val="2563EB"/>
                </a:solidFill>
                <a:latin typeface="Calibri"/>
              </a:defRPr>
            </a:pPr>
            <a:r>
              <a:t>METRIC 1</a:t>
            </a:r>
          </a:p>
          <a:p>
            <a:pPr>
              <a:spcBef>
                <a:spcPts val="600"/>
              </a:spcBef>
              <a:defRPr sz="1500" b="1">
                <a:solidFill>
                  <a:srgbClr val="0A2240"/>
                </a:solidFill>
                <a:latin typeface="Calibri"/>
              </a:defRPr>
            </a:pPr>
            <a:r>
              <a:t>Dispersion Scale vs. Volume Scale</a:t>
            </a:r>
          </a:p>
          <a:p>
            <a:pPr>
              <a:spcBef>
                <a:spcPts val="600"/>
              </a:spcBef>
              <a:defRPr sz="1150" b="1">
                <a:solidFill>
                  <a:srgbClr val="0F172A"/>
                </a:solidFill>
                <a:latin typeface="Calibri"/>
              </a:defRPr>
            </a:pPr>
            <a:r>
              <a:t>Why RMSE Matters in Heavy Traffic</a:t>
            </a:r>
          </a:p>
          <a:p>
            <a:pPr>
              <a:spcBef>
                <a:spcPts val="800"/>
              </a:spcBef>
              <a:defRPr sz="1100">
                <a:solidFill>
                  <a:srgbClr val="475569"/>
                </a:solidFill>
                <a:latin typeface="Calibri"/>
              </a:defRPr>
            </a:pPr>
            <a:r>
              <a:t>RMSE penalizes large peak-hour errors quadratically. Because queuing wait times explode exponentially during peak bursts, minimizing peak error (RMSE) is far more operationally valuable than minimizing median error (MAE).</a:t>
            </a:r>
          </a:p>
        </p:txBody>
      </p:sp>
      <p:sp>
        <p:nvSpPr>
          <p:cNvPr id="4" name="Rounded Rectangle 3"/>
          <p:cNvSpPr/>
          <p:nvPr/>
        </p:nvSpPr>
        <p:spPr>
          <a:xfrm>
            <a:off x="4389120" y="2011680"/>
            <a:ext cx="338328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100" b="1">
                <a:solidFill>
                  <a:srgbClr val="2563EB"/>
                </a:solidFill>
                <a:latin typeface="Calibri"/>
              </a:defRPr>
            </a:pPr>
            <a:r>
              <a:t>METRIC 2</a:t>
            </a:r>
          </a:p>
          <a:p>
            <a:pPr>
              <a:spcBef>
                <a:spcPts val="600"/>
              </a:spcBef>
              <a:defRPr sz="1500" b="1">
                <a:solidFill>
                  <a:srgbClr val="0A2240"/>
                </a:solidFill>
                <a:latin typeface="Calibri"/>
              </a:defRPr>
            </a:pPr>
            <a:r>
              <a:t>MASE as Primary Benchmark</a:t>
            </a:r>
          </a:p>
          <a:p>
            <a:pPr>
              <a:spcBef>
                <a:spcPts val="600"/>
              </a:spcBef>
              <a:defRPr sz="1150" b="1">
                <a:solidFill>
                  <a:srgbClr val="0F172A"/>
                </a:solidFill>
                <a:latin typeface="Calibri"/>
              </a:defRPr>
            </a:pPr>
            <a:r>
              <a:t>Mean Absolute Scaled Error (MASE)</a:t>
            </a:r>
          </a:p>
          <a:p>
            <a:pPr>
              <a:spcBef>
                <a:spcPts val="800"/>
              </a:spcBef>
              <a:defRPr sz="1100">
                <a:solidFill>
                  <a:srgbClr val="475569"/>
                </a:solidFill>
                <a:latin typeface="Calibri"/>
              </a:defRPr>
            </a:pPr>
            <a:r>
              <a:t>MASE scales forecast error relative to non-parametric daily persistence (MASE ≡ 1.000). A MASE of 0.662 indicates Model 3 delivers a 33.8% error reduction over naive staffing tables.</a:t>
            </a:r>
          </a:p>
        </p:txBody>
      </p:sp>
      <p:sp>
        <p:nvSpPr>
          <p:cNvPr id="5" name="Rounded Rectangle 4"/>
          <p:cNvSpPr/>
          <p:nvPr/>
        </p:nvSpPr>
        <p:spPr>
          <a:xfrm>
            <a:off x="8046720" y="2011680"/>
            <a:ext cx="338328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100" b="1">
                <a:solidFill>
                  <a:srgbClr val="2563EB"/>
                </a:solidFill>
                <a:latin typeface="Calibri"/>
              </a:defRPr>
            </a:pPr>
            <a:r>
              <a:t>METRIC 3</a:t>
            </a:r>
          </a:p>
          <a:p>
            <a:pPr>
              <a:spcBef>
                <a:spcPts val="600"/>
              </a:spcBef>
              <a:defRPr sz="1500" b="1">
                <a:solidFill>
                  <a:srgbClr val="0A2240"/>
                </a:solidFill>
                <a:latin typeface="Calibri"/>
              </a:defRPr>
            </a:pPr>
            <a:r>
              <a:t>Conformal Staffing Buffers</a:t>
            </a:r>
          </a:p>
          <a:p>
            <a:pPr>
              <a:spcBef>
                <a:spcPts val="600"/>
              </a:spcBef>
              <a:defRPr sz="1150" b="1">
                <a:solidFill>
                  <a:srgbClr val="0F172A"/>
                </a:solidFill>
                <a:latin typeface="Calibri"/>
              </a:defRPr>
            </a:pPr>
            <a:r>
              <a:t>Dynamic Safety Cushions (q85)</a:t>
            </a:r>
          </a:p>
          <a:p>
            <a:pPr>
              <a:spcBef>
                <a:spcPts val="800"/>
              </a:spcBef>
              <a:defRPr sz="1100">
                <a:solidFill>
                  <a:srgbClr val="475569"/>
                </a:solidFill>
                <a:latin typeface="Calibri"/>
              </a:defRPr>
            </a:pPr>
            <a:r>
              <a:t>Rather than staffing to point forecasts, operational dispatching convolving 85th percentile conformal prediction intervals protects against 99.2% of unpredicted surge delays with only +1.2 lanes.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PERFORMANCE PROGRESSION</a:t>
            </a:r>
          </a:p>
          <a:p>
            <a:pPr>
              <a:spcBef>
                <a:spcPts val="300"/>
              </a:spcBef>
              <a:defRPr sz="2400" b="1">
                <a:solidFill>
                  <a:srgbClr val="0A2240"/>
                </a:solidFill>
                <a:latin typeface="Calibri"/>
              </a:defRPr>
            </a:pPr>
            <a:r>
              <a:t>Progression of Predictive Paradigms</a:t>
            </a:r>
          </a:p>
          <a:p>
            <a:pPr>
              <a:spcBef>
                <a:spcPts val="300"/>
              </a:spcBef>
              <a:defRPr sz="1300">
                <a:solidFill>
                  <a:srgbClr val="475569"/>
                </a:solidFill>
                <a:latin typeface="Calibri"/>
              </a:defRPr>
            </a:pPr>
            <a:r>
              <a:t>From Deterministic Schedules to Machine Learning and Dynamic Error Feedback</a:t>
            </a:r>
          </a:p>
        </p:txBody>
      </p:sp>
      <p:sp>
        <p:nvSpPr>
          <p:cNvPr id="3" name="Rounded Rectangle 2"/>
          <p:cNvSpPr/>
          <p:nvPr/>
        </p:nvSpPr>
        <p:spPr>
          <a:xfrm>
            <a:off x="731520" y="2011680"/>
            <a:ext cx="338328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100" b="1">
                <a:solidFill>
                  <a:srgbClr val="2563EB"/>
                </a:solidFill>
                <a:latin typeface="Calibri"/>
              </a:defRPr>
            </a:pPr>
            <a:r>
              <a:t>MODEL 1: DETERMINISTIC BASELINE</a:t>
            </a:r>
          </a:p>
          <a:p>
            <a:pPr>
              <a:spcBef>
                <a:spcPts val="600"/>
              </a:spcBef>
              <a:defRPr sz="1500" b="1">
                <a:solidFill>
                  <a:srgbClr val="0A2240"/>
                </a:solidFill>
                <a:latin typeface="Calibri"/>
              </a:defRPr>
            </a:pPr>
            <a:r>
              <a:t>Starting Point: Flight Bank Physics</a:t>
            </a:r>
          </a:p>
          <a:p>
            <a:pPr>
              <a:spcBef>
                <a:spcPts val="1200"/>
              </a:spcBef>
              <a:defRPr sz="1150">
                <a:solidFill>
                  <a:srgbClr val="475569"/>
                </a:solidFill>
                <a:latin typeface="Calibri"/>
              </a:defRPr>
            </a:pPr>
            <a:r>
              <a:t>Captures coarse flight schedules but suffers negative bias (-42.1 pax/hr) during delays.</a:t>
            </a:r>
            <a:br/>
            <a:br/>
            <a:r>
              <a:t>MASE = 0.945 | RMSE = 313.4 pax/hr</a:t>
            </a:r>
          </a:p>
        </p:txBody>
      </p:sp>
      <p:sp>
        <p:nvSpPr>
          <p:cNvPr id="4" name="Rounded Rectangle 3"/>
          <p:cNvSpPr/>
          <p:nvPr/>
        </p:nvSpPr>
        <p:spPr>
          <a:xfrm>
            <a:off x="4389120" y="2011680"/>
            <a:ext cx="338328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100" b="1">
                <a:solidFill>
                  <a:srgbClr val="0A2240"/>
                </a:solidFill>
                <a:latin typeface="Calibri"/>
              </a:defRPr>
            </a:pPr>
            <a:r>
              <a:t>MODEL 2: SUPERVISED ML</a:t>
            </a:r>
          </a:p>
          <a:p>
            <a:pPr>
              <a:spcBef>
                <a:spcPts val="600"/>
              </a:spcBef>
              <a:defRPr sz="1500" b="1">
                <a:solidFill>
                  <a:srgbClr val="0A2240"/>
                </a:solidFill>
                <a:latin typeface="Calibri"/>
              </a:defRPr>
            </a:pPr>
            <a:r>
              <a:t>Intermediate: Operational Covariates</a:t>
            </a:r>
          </a:p>
          <a:p>
            <a:pPr>
              <a:spcBef>
                <a:spcPts val="1200"/>
              </a:spcBef>
              <a:defRPr sz="1150">
                <a:solidFill>
                  <a:srgbClr val="475569"/>
                </a:solidFill>
                <a:latin typeface="Calibri"/>
              </a:defRPr>
            </a:pPr>
            <a:r>
              <a:t>Incorporates 24 OTP features (taxi queue, cancellations, weather delays). Cuts MASE to 0.779.</a:t>
            </a:r>
            <a:br/>
            <a:br/>
            <a:r>
              <a:t>MASE = 0.779 | RMSE = 273.5 pax/hr</a:t>
            </a:r>
          </a:p>
        </p:txBody>
      </p:sp>
      <p:sp>
        <p:nvSpPr>
          <p:cNvPr id="5" name="Rounded Rectangle 4"/>
          <p:cNvSpPr/>
          <p:nvPr/>
        </p:nvSpPr>
        <p:spPr>
          <a:xfrm>
            <a:off x="8046720" y="2011680"/>
            <a:ext cx="338328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100" b="1">
                <a:solidFill>
                  <a:srgbClr val="15803D"/>
                </a:solidFill>
                <a:latin typeface="Calibri"/>
              </a:defRPr>
            </a:pPr>
            <a:r>
              <a:t>MODEL 3: DYNAMIC HYBRID</a:t>
            </a:r>
          </a:p>
          <a:p>
            <a:pPr>
              <a:spcBef>
                <a:spcPts val="600"/>
              </a:spcBef>
              <a:defRPr sz="1500" b="1">
                <a:solidFill>
                  <a:srgbClr val="0A2240"/>
                </a:solidFill>
                <a:latin typeface="Calibri"/>
              </a:defRPr>
            </a:pPr>
            <a:r>
              <a:t>State-of-the-Art: Live Floor Telemetry</a:t>
            </a:r>
          </a:p>
          <a:p>
            <a:pPr>
              <a:spcBef>
                <a:spcPts val="1200"/>
              </a:spcBef>
              <a:defRPr sz="1150">
                <a:solidFill>
                  <a:srgbClr val="475569"/>
                </a:solidFill>
                <a:latin typeface="Calibri"/>
              </a:defRPr>
            </a:pPr>
            <a:r>
              <a:t>Sequential coupling of schedules with prior-hour error feedback (e_{t-1}). Slashes MASE to 0.662.</a:t>
            </a:r>
            <a:br/>
            <a:br/>
            <a:r>
              <a:t>MASE = 0.662 | RMSE = 222.1 pax/hr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HYPOTHESIS TESTING</a:t>
            </a:r>
          </a:p>
          <a:p>
            <a:pPr>
              <a:spcBef>
                <a:spcPts val="300"/>
              </a:spcBef>
              <a:defRPr sz="2400" b="1">
                <a:solidFill>
                  <a:srgbClr val="0A2240"/>
                </a:solidFill>
                <a:latin typeface="Calibri"/>
              </a:defRPr>
            </a:pPr>
            <a:r>
              <a:t>Table 4.11 / Table 5.4: Master Asymmetric Trade-Off Matrix</a:t>
            </a:r>
          </a:p>
          <a:p>
            <a:pPr>
              <a:spcBef>
                <a:spcPts val="300"/>
              </a:spcBef>
              <a:defRPr sz="1300">
                <a:solidFill>
                  <a:srgbClr val="475569"/>
                </a:solidFill>
                <a:latin typeface="Calibri"/>
              </a:defRPr>
            </a:pPr>
            <a:r>
              <a:t>Conclusive Proof of Hypothesis H₁ Across All Three Evaluative Dimensions</a:t>
            </a:r>
          </a:p>
        </p:txBody>
      </p:sp>
      <p:sp>
        <p:nvSpPr>
          <p:cNvPr id="3" name="Rounded Rectangle 2"/>
          <p:cNvSpPr/>
          <p:nvPr/>
        </p:nvSpPr>
        <p:spPr>
          <a:xfrm>
            <a:off x="731520" y="1920240"/>
            <a:ext cx="10698480" cy="1280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300" b="1">
                <a:solidFill>
                  <a:srgbClr val="0A2240"/>
                </a:solidFill>
                <a:latin typeface="Calibri"/>
              </a:defRPr>
            </a:pPr>
            <a:r>
              <a:t>Dimension 1: Robustness (Nominal Rhythms)</a:t>
            </a:r>
          </a:p>
          <a:p>
            <a:pPr>
              <a:spcBef>
                <a:spcPts val="200"/>
              </a:spcBef>
              <a:defRPr sz="1100" b="1">
                <a:solidFill>
                  <a:srgbClr val="15803D"/>
                </a:solidFill>
                <a:latin typeface="Calibri"/>
              </a:defRPr>
            </a:pPr>
            <a:r>
              <a:t>WINNER: MODEL 3 (LOWEST RMSE) &amp; MODEL 2 (PARETO)</a:t>
            </a:r>
          </a:p>
          <a:p>
            <a:pPr>
              <a:spcBef>
                <a:spcPts val="200"/>
              </a:spcBef>
              <a:defRPr sz="1050">
                <a:solidFill>
                  <a:srgbClr val="475569"/>
                </a:solidFill>
                <a:latin typeface="Calibri"/>
              </a:defRPr>
            </a:pPr>
            <a:r>
              <a:t>Model 3: RMSE = 222.1, MASE = 0.662 (Target Met)</a:t>
            </a:r>
            <a:br/>
            <a:r>
              <a:t>Model 2: RMSE = 273.5, MASE = 0.680–0.700 (Target Met)</a:t>
            </a:r>
            <a:br/>
            <a:r>
              <a:t>DM Test: DM = 48.72 (p &lt; 0.0001) confirms genuine statistical superiority over deterministic schedules.</a:t>
            </a:r>
          </a:p>
        </p:txBody>
      </p:sp>
      <p:sp>
        <p:nvSpPr>
          <p:cNvPr id="4" name="Rounded Rectangle 3"/>
          <p:cNvSpPr/>
          <p:nvPr/>
        </p:nvSpPr>
        <p:spPr>
          <a:xfrm>
            <a:off x="731520" y="3337560"/>
            <a:ext cx="10698480" cy="1280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300" b="1">
                <a:solidFill>
                  <a:srgbClr val="0A2240"/>
                </a:solidFill>
                <a:latin typeface="Calibri"/>
              </a:defRPr>
            </a:pPr>
            <a:r>
              <a:t>Dimension 2: Resilience (Convective IROPS)</a:t>
            </a:r>
          </a:p>
          <a:p>
            <a:pPr>
              <a:spcBef>
                <a:spcPts val="200"/>
              </a:spcBef>
              <a:defRPr sz="1100" b="1">
                <a:solidFill>
                  <a:srgbClr val="2563EB"/>
                </a:solidFill>
                <a:latin typeface="Calibri"/>
              </a:defRPr>
            </a:pPr>
            <a:r>
              <a:t>DECISIVE WINNER: MODEL 3 (DYNAMIC HYBRID)</a:t>
            </a:r>
          </a:p>
          <a:p>
            <a:pPr>
              <a:spcBef>
                <a:spcPts val="200"/>
              </a:spcBef>
              <a:defRPr sz="1050">
                <a:solidFill>
                  <a:srgbClr val="475569"/>
                </a:solidFill>
                <a:latin typeface="Calibri"/>
              </a:defRPr>
            </a:pPr>
            <a:r>
              <a:t>Model 3: Disruption Multiplier R_MASE = 1.05, Shock MASE = 0.694, Recovery TTR = 2.8 hours.</a:t>
            </a:r>
            <a:br/>
            <a:r>
              <a:t>Model 2: Fragile collapse (R_MASE = 2.14) due to Empty Checkpoint Fallacy.</a:t>
            </a:r>
            <a:br/>
            <a:r>
              <a:t>Model 1: Blind to delays (R_MASE = 1.32, TTR = 7.8 hours).</a:t>
            </a:r>
          </a:p>
        </p:txBody>
      </p:sp>
      <p:sp>
        <p:nvSpPr>
          <p:cNvPr id="5" name="Rounded Rectangle 4"/>
          <p:cNvSpPr/>
          <p:nvPr/>
        </p:nvSpPr>
        <p:spPr>
          <a:xfrm>
            <a:off x="731520" y="4754880"/>
            <a:ext cx="10698480" cy="1280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300" b="1">
                <a:solidFill>
                  <a:srgbClr val="0A2240"/>
                </a:solidFill>
                <a:latin typeface="Calibri"/>
              </a:defRPr>
            </a:pPr>
            <a:r>
              <a:t>Dimension 3: Generalizability (Zero-Shot Transfer)</a:t>
            </a:r>
          </a:p>
          <a:p>
            <a:pPr>
              <a:spcBef>
                <a:spcPts val="200"/>
              </a:spcBef>
              <a:defRPr sz="1100" b="1">
                <a:solidFill>
                  <a:srgbClr val="B45309"/>
                </a:solidFill>
                <a:latin typeface="Calibri"/>
              </a:defRPr>
            </a:pPr>
            <a:r>
              <a:t>DECISIVE WINNER: MODEL 1 (DETERMINISTIC)</a:t>
            </a:r>
          </a:p>
          <a:p>
            <a:pPr>
              <a:spcBef>
                <a:spcPts val="200"/>
              </a:spcBef>
              <a:defRPr sz="1050">
                <a:solidFill>
                  <a:srgbClr val="475569"/>
                </a:solidFill>
                <a:latin typeface="Calibri"/>
              </a:defRPr>
            </a:pPr>
            <a:r>
              <a:t>Model 1: Relative Transfer Ratio RTR = 1.04, Error Shift ΔMASE = +4.0% (Target Met).</a:t>
            </a:r>
            <a:br/>
            <a:r>
              <a:t>Model 3 Decisively Fails: RTR = 1.19, ΔMASE = +21.5% due to terminal geometry overfitting.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RESULTS DISCUSSION</a:t>
            </a:r>
          </a:p>
          <a:p>
            <a:pPr>
              <a:spcBef>
                <a:spcPts val="300"/>
              </a:spcBef>
              <a:defRPr sz="2400" b="1">
                <a:solidFill>
                  <a:srgbClr val="0A2240"/>
                </a:solidFill>
                <a:latin typeface="Calibri"/>
              </a:defRPr>
            </a:pPr>
            <a:r>
              <a:t>Spatial Architecture &amp; Terminal Geometry Dynamics</a:t>
            </a:r>
          </a:p>
          <a:p>
            <a:pPr>
              <a:spcBef>
                <a:spcPts val="300"/>
              </a:spcBef>
              <a:defRPr sz="1300">
                <a:solidFill>
                  <a:srgbClr val="475569"/>
                </a:solidFill>
                <a:latin typeface="Calibri"/>
              </a:defRPr>
            </a:pPr>
            <a:r>
              <a:t>How Physical Airport Layouts and Passenger Psychology Dictate Model Efficacy</a:t>
            </a:r>
          </a:p>
        </p:txBody>
      </p:sp>
      <p:sp>
        <p:nvSpPr>
          <p:cNvPr id="3" name="Rounded Rectangle 2"/>
          <p:cNvSpPr/>
          <p:nvPr/>
        </p:nvSpPr>
        <p:spPr>
          <a:xfrm>
            <a:off x="731520" y="2011680"/>
            <a:ext cx="338328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100" b="1">
                <a:solidFill>
                  <a:srgbClr val="2563EB"/>
                </a:solidFill>
                <a:latin typeface="Calibri"/>
              </a:defRPr>
            </a:pPr>
            <a:r>
              <a:t>DYNAMIC 1</a:t>
            </a:r>
          </a:p>
          <a:p>
            <a:pPr>
              <a:spcBef>
                <a:spcPts val="600"/>
              </a:spcBef>
              <a:defRPr sz="1600" b="1">
                <a:solidFill>
                  <a:srgbClr val="0A2240"/>
                </a:solidFill>
                <a:latin typeface="Calibri"/>
              </a:defRPr>
            </a:pPr>
            <a:r>
              <a:t>Connecting Passenger Shielding</a:t>
            </a:r>
          </a:p>
          <a:p>
            <a:pPr>
              <a:spcBef>
                <a:spcPts val="1200"/>
              </a:spcBef>
              <a:defRPr sz="1150">
                <a:solidFill>
                  <a:srgbClr val="475569"/>
                </a:solidFill>
                <a:latin typeface="Calibri"/>
              </a:defRPr>
            </a:pPr>
            <a:r>
              <a:t>Hubs with high connecting ratios (DFW 66.3%, ATL 60.1%) shield checkpoints from airside flight delay cascades. Terminal screening queues are insulated because transfer passengers remain airside.</a:t>
            </a:r>
          </a:p>
        </p:txBody>
      </p:sp>
      <p:sp>
        <p:nvSpPr>
          <p:cNvPr id="4" name="Rounded Rectangle 3"/>
          <p:cNvSpPr/>
          <p:nvPr/>
        </p:nvSpPr>
        <p:spPr>
          <a:xfrm>
            <a:off x="4389120" y="2011680"/>
            <a:ext cx="338328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100" b="1">
                <a:solidFill>
                  <a:srgbClr val="2563EB"/>
                </a:solidFill>
                <a:latin typeface="Calibri"/>
              </a:defRPr>
            </a:pPr>
            <a:r>
              <a:t>DYNAMIC 2</a:t>
            </a:r>
          </a:p>
          <a:p>
            <a:pPr>
              <a:spcBef>
                <a:spcPts val="600"/>
              </a:spcBef>
              <a:defRPr sz="1600" b="1">
                <a:solidFill>
                  <a:srgbClr val="0A2240"/>
                </a:solidFill>
                <a:latin typeface="Calibri"/>
              </a:defRPr>
            </a:pPr>
            <a:r>
              <a:t>High-Originating Facility Exposure</a:t>
            </a:r>
          </a:p>
          <a:p>
            <a:pPr>
              <a:spcBef>
                <a:spcPts val="1200"/>
              </a:spcBef>
              <a:defRPr sz="1150">
                <a:solidFill>
                  <a:srgbClr val="475569"/>
                </a:solidFill>
                <a:latin typeface="Calibri"/>
              </a:defRPr>
            </a:pPr>
            <a:r>
              <a:t>Origin-heavy airports (EWR 66.4% local, LGA 62.1% local) exhibit acute coupling with surface highway traffic and weather delays. Checkpoints absorb 100% of flight schedule shocks.</a:t>
            </a:r>
          </a:p>
        </p:txBody>
      </p:sp>
      <p:sp>
        <p:nvSpPr>
          <p:cNvPr id="5" name="Rounded Rectangle 4"/>
          <p:cNvSpPr/>
          <p:nvPr/>
        </p:nvSpPr>
        <p:spPr>
          <a:xfrm>
            <a:off x="8046720" y="2011680"/>
            <a:ext cx="338328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100" b="1">
                <a:solidFill>
                  <a:srgbClr val="2563EB"/>
                </a:solidFill>
                <a:latin typeface="Calibri"/>
              </a:defRPr>
            </a:pPr>
            <a:r>
              <a:t>DYNAMIC 3</a:t>
            </a:r>
          </a:p>
          <a:p>
            <a:pPr>
              <a:spcBef>
                <a:spcPts val="600"/>
              </a:spcBef>
              <a:defRPr sz="1600" b="1">
                <a:solidFill>
                  <a:srgbClr val="0A2240"/>
                </a:solidFill>
                <a:latin typeface="Calibri"/>
              </a:defRPr>
            </a:pPr>
            <a:r>
              <a:t>Terminal Complex Aggregation</a:t>
            </a:r>
          </a:p>
          <a:p>
            <a:pPr>
              <a:spcBef>
                <a:spcPts val="1200"/>
              </a:spcBef>
              <a:defRPr sz="1150">
                <a:solidFill>
                  <a:srgbClr val="475569"/>
                </a:solidFill>
                <a:latin typeface="Calibri"/>
              </a:defRPr>
            </a:pPr>
            <a:r>
              <a:t>Single-carrier screening lane isolation (e.g. Delta Terminal C at LGA) eliminates noise from unrelated airline operations, allowing precise 1-step error innovation convergence.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OPERATIONAL IMPLEMENTATION</a:t>
            </a:r>
          </a:p>
          <a:p>
            <a:pPr>
              <a:spcBef>
                <a:spcPts val="300"/>
              </a:spcBef>
              <a:defRPr sz="2400" b="1">
                <a:solidFill>
                  <a:srgbClr val="0A2240"/>
                </a:solidFill>
                <a:latin typeface="Calibri"/>
              </a:defRPr>
            </a:pPr>
            <a:r>
              <a:t>Real-World Aviation Application: The Operator's Playbook</a:t>
            </a:r>
          </a:p>
          <a:p>
            <a:pPr>
              <a:spcBef>
                <a:spcPts val="300"/>
              </a:spcBef>
              <a:defRPr sz="1300">
                <a:solidFill>
                  <a:srgbClr val="475569"/>
                </a:solidFill>
                <a:latin typeface="Calibri"/>
              </a:defRPr>
            </a:pPr>
            <a:r>
              <a:t>Three Actionable Policy Recommendations for TSA and Airport Operations Centers</a:t>
            </a:r>
          </a:p>
        </p:txBody>
      </p:sp>
      <p:sp>
        <p:nvSpPr>
          <p:cNvPr id="3" name="Rounded Rectangle 2"/>
          <p:cNvSpPr/>
          <p:nvPr/>
        </p:nvSpPr>
        <p:spPr>
          <a:xfrm>
            <a:off x="731520" y="1920240"/>
            <a:ext cx="10698480" cy="1280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400" b="1">
                <a:solidFill>
                  <a:srgbClr val="0A2240"/>
                </a:solidFill>
                <a:latin typeface="Calibri"/>
              </a:defRPr>
            </a:pPr>
            <a:r>
              <a:t>Dynamic Checkpoint Rostering</a:t>
            </a:r>
          </a:p>
          <a:p>
            <a:pPr>
              <a:spcBef>
                <a:spcPts val="200"/>
              </a:spcBef>
              <a:defRPr sz="1100" b="1">
                <a:solidFill>
                  <a:srgbClr val="2563EB"/>
                </a:solidFill>
                <a:latin typeface="Calibri"/>
              </a:defRPr>
            </a:pPr>
            <a:r>
              <a:t>REPLACE STATIC TABLES WITH 2-HR LEAD CONVOLUTIONS</a:t>
            </a:r>
          </a:p>
          <a:p>
            <a:pPr>
              <a:spcBef>
                <a:spcPts val="300"/>
              </a:spcBef>
              <a:defRPr sz="1100">
                <a:solidFill>
                  <a:srgbClr val="475569"/>
                </a:solidFill>
                <a:latin typeface="Calibri"/>
              </a:defRPr>
            </a:pPr>
            <a:r>
              <a:t>TSA Federal Security Directors must abandon static time-of-day tables. Deploy dynamic staffing rosters driven by t+2 scheduled flight bank convolutions convolved with conformal safety buffers.</a:t>
            </a:r>
          </a:p>
        </p:txBody>
      </p:sp>
      <p:sp>
        <p:nvSpPr>
          <p:cNvPr id="4" name="Rounded Rectangle 3"/>
          <p:cNvSpPr/>
          <p:nvPr/>
        </p:nvSpPr>
        <p:spPr>
          <a:xfrm>
            <a:off x="731520" y="3337560"/>
            <a:ext cx="10698480" cy="1280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400" b="1">
                <a:solidFill>
                  <a:srgbClr val="0A2240"/>
                </a:solidFill>
                <a:latin typeface="Calibri"/>
              </a:defRPr>
            </a:pPr>
            <a:r>
              <a:t>Connecting Ratio Deflation</a:t>
            </a:r>
          </a:p>
          <a:p>
            <a:pPr>
              <a:spcBef>
                <a:spcPts val="200"/>
              </a:spcBef>
              <a:defRPr sz="1100" b="1">
                <a:solidFill>
                  <a:srgbClr val="2563EB"/>
                </a:solidFill>
                <a:latin typeface="Calibri"/>
              </a:defRPr>
            </a:pPr>
            <a:r>
              <a:t>INTEGRATE BUREAU OF TRANSPORTATION STATISTICS O&amp;D DATA</a:t>
            </a:r>
          </a:p>
          <a:p>
            <a:pPr>
              <a:spcBef>
                <a:spcPts val="300"/>
              </a:spcBef>
              <a:defRPr sz="1100">
                <a:solidFill>
                  <a:srgbClr val="475569"/>
                </a:solidFill>
                <a:latin typeface="Calibri"/>
              </a:defRPr>
            </a:pPr>
            <a:r>
              <a:t>Centralized security scheduling systems must dynamically deflate scheduled flight seats using airline O&amp;D transfer ratios, preventing chronic over-staffing at connecting hub complexes.</a:t>
            </a:r>
          </a:p>
        </p:txBody>
      </p:sp>
      <p:sp>
        <p:nvSpPr>
          <p:cNvPr id="5" name="Rounded Rectangle 4"/>
          <p:cNvSpPr/>
          <p:nvPr/>
        </p:nvSpPr>
        <p:spPr>
          <a:xfrm>
            <a:off x="731520" y="4754880"/>
            <a:ext cx="10698480" cy="1280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400" b="1">
                <a:solidFill>
                  <a:srgbClr val="0A2240"/>
                </a:solidFill>
                <a:latin typeface="Calibri"/>
              </a:defRPr>
            </a:pPr>
            <a:r>
              <a:t>The Regime-Switched Gated Engine</a:t>
            </a:r>
          </a:p>
          <a:p>
            <a:pPr>
              <a:spcBef>
                <a:spcPts val="200"/>
              </a:spcBef>
              <a:defRPr sz="1100" b="1">
                <a:solidFill>
                  <a:srgbClr val="2563EB"/>
                </a:solidFill>
                <a:latin typeface="Calibri"/>
              </a:defRPr>
            </a:pPr>
            <a:r>
              <a:t>AUTOMATED OPERATIONAL MODEL SWITCHING ARCHITECTURE</a:t>
            </a:r>
          </a:p>
          <a:p>
            <a:pPr>
              <a:spcBef>
                <a:spcPts val="300"/>
              </a:spcBef>
              <a:defRPr sz="1100">
                <a:solidFill>
                  <a:srgbClr val="475569"/>
                </a:solidFill>
                <a:latin typeface="Calibri"/>
              </a:defRPr>
            </a:pPr>
            <a:r>
              <a:t>Deploy Model 2 (Supervised ML) during nominal on-time operations for zero-latency interpretable dispatch. Instantly switch to Model 3 (Dynamic Hybrid) when ground stop delays exceed 45 minutes.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1100" b="1">
                <a:solidFill>
                  <a:srgbClr val="2563EB"/>
                </a:solidFill>
                <a:latin typeface="Calibri"/>
              </a:defRPr>
            </a:pPr>
            <a:r>
              <a:t>FUTURE DIRECTIONS</a:t>
            </a:r>
          </a:p>
          <a:p>
            <a:pPr>
              <a:spcBef>
                <a:spcPts val="300"/>
              </a:spcBef>
              <a:defRPr sz="2400" b="1">
                <a:solidFill>
                  <a:srgbClr val="0A2240"/>
                </a:solidFill>
                <a:latin typeface="Calibri"/>
              </a:defRPr>
            </a:pPr>
            <a:r>
              <a:t>Recommendations for Future Aviation Research</a:t>
            </a:r>
          </a:p>
          <a:p>
            <a:pPr>
              <a:spcBef>
                <a:spcPts val="300"/>
              </a:spcBef>
              <a:defRPr sz="1300">
                <a:solidFill>
                  <a:srgbClr val="475569"/>
                </a:solidFill>
                <a:latin typeface="Calibri"/>
              </a:defRPr>
            </a:pPr>
            <a:r>
              <a:t>Next Frontiers in Airport Queuing Analytics and Multi-Modal Telemetry</a:t>
            </a:r>
          </a:p>
        </p:txBody>
      </p:sp>
      <p:sp>
        <p:nvSpPr>
          <p:cNvPr id="3" name="Rounded Rectangle 2"/>
          <p:cNvSpPr/>
          <p:nvPr/>
        </p:nvSpPr>
        <p:spPr>
          <a:xfrm>
            <a:off x="731520" y="2011680"/>
            <a:ext cx="338328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100" b="1">
                <a:solidFill>
                  <a:srgbClr val="2563EB"/>
                </a:solidFill>
                <a:latin typeface="Calibri"/>
              </a:defRPr>
            </a:pPr>
            <a:r>
              <a:t>OPPORTUNITY 1</a:t>
            </a:r>
          </a:p>
          <a:p>
            <a:pPr>
              <a:spcBef>
                <a:spcPts val="600"/>
              </a:spcBef>
              <a:defRPr sz="1600" b="1">
                <a:solidFill>
                  <a:srgbClr val="0A2240"/>
                </a:solidFill>
                <a:latin typeface="Calibri"/>
              </a:defRPr>
            </a:pPr>
            <a:r>
              <a:t>Granular Lane-Type Telemetry</a:t>
            </a:r>
          </a:p>
          <a:p>
            <a:pPr>
              <a:spcBef>
                <a:spcPts val="1200"/>
              </a:spcBef>
              <a:defRPr sz="1150">
                <a:solidFill>
                  <a:srgbClr val="475569"/>
                </a:solidFill>
                <a:latin typeface="Calibri"/>
              </a:defRPr>
            </a:pPr>
            <a:r>
              <a:t>Disaggregating checkpoint counts by lane type—specifically isolating TSA PreCheck, standard screening, and CLEAR biometric lanes to model lane switching behaviors.</a:t>
            </a:r>
          </a:p>
        </p:txBody>
      </p:sp>
      <p:sp>
        <p:nvSpPr>
          <p:cNvPr id="4" name="Rounded Rectangle 3"/>
          <p:cNvSpPr/>
          <p:nvPr/>
        </p:nvSpPr>
        <p:spPr>
          <a:xfrm>
            <a:off x="4389120" y="2011680"/>
            <a:ext cx="338328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100" b="1">
                <a:solidFill>
                  <a:srgbClr val="2563EB"/>
                </a:solidFill>
                <a:latin typeface="Calibri"/>
              </a:defRPr>
            </a:pPr>
            <a:r>
              <a:t>OPPORTUNITY 2</a:t>
            </a:r>
          </a:p>
          <a:p>
            <a:pPr>
              <a:spcBef>
                <a:spcPts val="600"/>
              </a:spcBef>
              <a:defRPr sz="1600" b="1">
                <a:solidFill>
                  <a:srgbClr val="0A2240"/>
                </a:solidFill>
                <a:latin typeface="Calibri"/>
              </a:defRPr>
            </a:pPr>
            <a:r>
              <a:t>Multi-Modal Ground Telemetry</a:t>
            </a:r>
          </a:p>
          <a:p>
            <a:pPr>
              <a:spcBef>
                <a:spcPts val="1200"/>
              </a:spcBef>
              <a:defRPr sz="1150">
                <a:solidFill>
                  <a:srgbClr val="475569"/>
                </a:solidFill>
                <a:latin typeface="Calibri"/>
              </a:defRPr>
            </a:pPr>
            <a:r>
              <a:t>Integrating highway traffic sensor feeds, parking shuttle tracking, and regional rail telemetry into landside arrival feature pipelines.</a:t>
            </a:r>
          </a:p>
        </p:txBody>
      </p:sp>
      <p:sp>
        <p:nvSpPr>
          <p:cNvPr id="5" name="Rounded Rectangle 4"/>
          <p:cNvSpPr/>
          <p:nvPr/>
        </p:nvSpPr>
        <p:spPr>
          <a:xfrm>
            <a:off x="8046720" y="2011680"/>
            <a:ext cx="3383280" cy="4114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100" b="1">
                <a:solidFill>
                  <a:srgbClr val="2563EB"/>
                </a:solidFill>
                <a:latin typeface="Calibri"/>
              </a:defRPr>
            </a:pPr>
            <a:r>
              <a:t>OPPORTUNITY 3</a:t>
            </a:r>
          </a:p>
          <a:p>
            <a:pPr>
              <a:spcBef>
                <a:spcPts val="600"/>
              </a:spcBef>
              <a:defRPr sz="1600" b="1">
                <a:solidFill>
                  <a:srgbClr val="0A2240"/>
                </a:solidFill>
                <a:latin typeface="Calibri"/>
              </a:defRPr>
            </a:pPr>
            <a:r>
              <a:t>Multi-Step Ahead Recursive Hybrids</a:t>
            </a:r>
          </a:p>
          <a:p>
            <a:pPr>
              <a:spcBef>
                <a:spcPts val="1200"/>
              </a:spcBef>
              <a:defRPr sz="1150">
                <a:solidFill>
                  <a:srgbClr val="475569"/>
                </a:solidFill>
                <a:latin typeface="Calibri"/>
              </a:defRPr>
            </a:pPr>
            <a:r>
              <a:t>Extending the 1-step error innovation feedback framework to multi-step recursive forecasting horizons (t+2 through t+6 hours) for tactical shift scheduling.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0A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1371600"/>
            <a:ext cx="996696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365760"/>
          <a:lstStyle/>
          <a:p>
            <a:pPr algn="ctr">
              <a:defRPr sz="1300" b="1">
                <a:solidFill>
                  <a:srgbClr val="2563EB"/>
                </a:solidFill>
                <a:latin typeface="Calibri"/>
              </a:defRPr>
            </a:pPr>
            <a:r>
              <a:t>RESEARCH SYNTHESIS &amp; CONCLUDING TAKEAWAY</a:t>
            </a:r>
          </a:p>
          <a:p>
            <a:pPr algn="ctr">
              <a:spcBef>
                <a:spcPts val="1000"/>
              </a:spcBef>
              <a:spcAft>
                <a:spcPts val="1600"/>
              </a:spcAft>
              <a:defRPr sz="2600" b="1">
                <a:solidFill>
                  <a:srgbClr val="0A2240"/>
                </a:solidFill>
                <a:latin typeface="Calibri"/>
              </a:defRPr>
            </a:pPr>
            <a:r>
              <a:t>Transforming Airport Security from Reactive Firefighting</a:t>
            </a:r>
            <a:br/>
            <a:r>
              <a:t>to Resilient Stochastic Synchronization</a:t>
            </a:r>
          </a:p>
          <a:p>
            <a:pPr>
              <a:spcBef>
                <a:spcPts val="800"/>
              </a:spcBef>
              <a:defRPr sz="1200">
                <a:solidFill>
                  <a:srgbClr val="475569"/>
                </a:solidFill>
                <a:latin typeface="Calibri"/>
              </a:defRPr>
            </a:pPr>
            <a:r>
              <a:t>1. Volatility Governs Heavy Traffic: Under Kingman's law, arrival burstiness (Ca²) causes queue delay explosions, proving static headcounts are fundamentally insufficient.</a:t>
            </a:r>
          </a:p>
          <a:p>
            <a:pPr>
              <a:spcBef>
                <a:spcPts val="800"/>
              </a:spcBef>
              <a:defRPr sz="1200">
                <a:solidFill>
                  <a:srgbClr val="475569"/>
                </a:solidFill>
                <a:latin typeface="Calibri"/>
              </a:defRPr>
            </a:pPr>
            <a:r>
              <a:t>2. The Asymmetric Trade-Off (H1): Model 1 wins zero-shot transferability; Model 2 wins routine Pareto efficiency; Model 3 wins shock resilience during severe convective storms.</a:t>
            </a:r>
          </a:p>
          <a:p>
            <a:pPr>
              <a:spcBef>
                <a:spcPts val="800"/>
              </a:spcBef>
              <a:defRPr sz="1200">
                <a:solidFill>
                  <a:srgbClr val="475569"/>
                </a:solidFill>
                <a:latin typeface="Calibri"/>
              </a:defRPr>
            </a:pPr>
            <a:r>
              <a:t>3. Defeating the Empty Checkpoint Fallacy: Dynamic error innovation feedback rescues machine learning from storm-induced lobby under-staffing.</a:t>
            </a:r>
          </a:p>
          <a:p>
            <a:pPr>
              <a:spcBef>
                <a:spcPts val="800"/>
              </a:spcBef>
              <a:defRPr sz="1200">
                <a:solidFill>
                  <a:srgbClr val="475569"/>
                </a:solidFill>
                <a:latin typeface="Calibri"/>
              </a:defRPr>
            </a:pPr>
            <a:r>
              <a:t>4. Operational Viability: Implementing the Regime-Switched Gated Engine delivers mathematically proven resilience without sacrificing routine operational efficiency.</a:t>
            </a:r>
          </a:p>
          <a:p>
            <a:pPr algn="ctr">
              <a:spcBef>
                <a:spcPts val="1800"/>
              </a:spcBef>
              <a:defRPr sz="1300" b="1">
                <a:solidFill>
                  <a:srgbClr val="2563EB"/>
                </a:solidFill>
                <a:latin typeface="Calibri"/>
              </a:defRPr>
            </a:pPr>
            <a:r>
              <a:t>Thank you for your guidance, mentorship, and support throughout this graduate thesis.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