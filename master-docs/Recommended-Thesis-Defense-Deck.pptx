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4389120"/>
          </a:xfrm>
          <a:prstGeom prst="rect">
            <a:avLst/>
          </a:prstGeom>
          <a:noFill/>
        </p:spPr>
        <p:txBody>
          <a:bodyPr wrap="square">
            <a:spAutoFit/>
          </a:bodyPr>
          <a:lstStyle/>
          <a:p>
            <a:pPr>
              <a:defRPr sz="1200" b="1">
                <a:solidFill>
                  <a:srgbClr val="2563EB"/>
                </a:solidFill>
                <a:latin typeface="Calibri"/>
              </a:defRPr>
            </a:pPr>
            <a:r>
              <a:t>EMBRY-RIDDLE AERONAUTICAL UNIVERSITY  |  GRADUATE THESIS DEFENSE</a:t>
            </a:r>
          </a:p>
          <a:p>
            <a:pPr>
              <a:spcBef>
                <a:spcPts val="1600"/>
              </a:spcBef>
              <a:spcAft>
                <a:spcPts val="1600"/>
              </a:spcAft>
              <a:defRPr sz="3800" b="1">
                <a:solidFill>
                  <a:srgbClr val="0A2240"/>
                </a:solidFill>
                <a:latin typeface="Calibri"/>
              </a:defRPr>
            </a:pPr>
            <a:r>
              <a:t>Evaluating Predictive Techniques to Model</a:t>
            </a:r>
            <a:br/>
            <a:r>
              <a:t>Stochastic Airport Passenger Flow</a:t>
            </a:r>
          </a:p>
          <a:p>
            <a:pPr>
              <a:defRPr sz="1600">
                <a:solidFill>
                  <a:srgbClr val="475569"/>
                </a:solidFill>
                <a:latin typeface="Calibri"/>
              </a:defRPr>
            </a:pPr>
            <a:r>
              <a:t>An Evaluation of Multi-Pillar Performance Measures for TSA Throughput Volatility</a:t>
            </a:r>
          </a:p>
          <a:p>
            <a:pPr>
              <a:spcBef>
                <a:spcPts val="3800"/>
              </a:spcBef>
              <a:defRPr sz="1300">
                <a:solidFill>
                  <a:srgbClr val="64748B"/>
                </a:solidFill>
                <a:latin typeface="Calibri"/>
              </a:defRPr>
            </a:pPr>
            <a:r>
              <a:t>Candidate: Leila Gleich  ·  Master of Science in Aeronautics (MSAA / Gleich 700B)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EXECUTIVE ROADMAP</a:t>
            </a:r>
          </a:p>
          <a:p>
            <a:pPr>
              <a:spcBef>
                <a:spcPts val="300"/>
              </a:spcBef>
              <a:defRPr sz="2400" b="1">
                <a:solidFill>
                  <a:srgbClr val="0A2240"/>
                </a:solidFill>
                <a:latin typeface="Calibri"/>
              </a:defRPr>
            </a:pPr>
            <a:r>
              <a:t>Defense Presentation Roadmap</a:t>
            </a:r>
          </a:p>
          <a:p>
            <a:pPr>
              <a:spcBef>
                <a:spcPts val="200"/>
              </a:spcBef>
              <a:defRPr sz="1200">
                <a:solidFill>
                  <a:srgbClr val="475569"/>
                </a:solidFill>
                <a:latin typeface="Calibri"/>
              </a:defRPr>
            </a:pPr>
            <a:r>
              <a:t>25-Minute Structured Oral Examination across Six Operational Phases</a:t>
            </a:r>
          </a:p>
        </p:txBody>
      </p:sp>
      <p:sp>
        <p:nvSpPr>
          <p:cNvPr id="3" name="TextBox 2"/>
          <p:cNvSpPr txBox="1"/>
          <p:nvPr/>
        </p:nvSpPr>
        <p:spPr>
          <a:xfrm>
            <a:off x="1097280" y="1691640"/>
            <a:ext cx="9966960" cy="4572000"/>
          </a:xfrm>
          <a:prstGeom prst="rect">
            <a:avLst/>
          </a:prstGeom>
          <a:noFill/>
        </p:spPr>
        <p:txBody>
          <a:bodyPr wrap="square" lIns="0" rIns="0" tIns="0" bIns="0">
            <a:spAutoFit/>
          </a:bodyPr>
          <a:lstStyle/>
          <a:p>
            <a:pPr>
              <a:defRPr sz="1350" b="1">
                <a:solidFill>
                  <a:srgbClr val="0A2240"/>
                </a:solidFill>
                <a:latin typeface="Calibri"/>
              </a:defRPr>
            </a:pPr>
            <a:r>
              <a:t>•  01. Research Problem &amp; Queuing Friction: </a:t>
            </a:r>
            <a:r>
              <a:rPr sz="1300" b="0">
                <a:solidFill>
                  <a:srgbClr val="0F172A"/>
                </a:solidFill>
                <a:latin typeface="Calibri"/>
              </a:rPr>
              <a:t>Kingman's heavy-traffic queuing formula, arrival burstiness (Ca²), and terminal capacity limits.</a:t>
            </a:r>
          </a:p>
          <a:p>
            <a:pPr>
              <a:spcBef>
                <a:spcPts val="1000"/>
              </a:spcBef>
              <a:defRPr sz="1350" b="1">
                <a:solidFill>
                  <a:srgbClr val="0A2240"/>
                </a:solidFill>
                <a:latin typeface="Calibri"/>
              </a:defRPr>
            </a:pPr>
            <a:r>
              <a:t>•  02. Evolution of Literature: </a:t>
            </a:r>
            <a:r>
              <a:rPr sz="1300" b="0">
                <a:solidFill>
                  <a:srgbClr val="0F172A"/>
                </a:solidFill>
                <a:latin typeface="Calibri"/>
              </a:rPr>
              <a:t>From static flight bank convolutions to micro-simulation, machine learning fragility, and dynamic hybrids.</a:t>
            </a:r>
          </a:p>
          <a:p>
            <a:pPr>
              <a:spcBef>
                <a:spcPts val="1000"/>
              </a:spcBef>
              <a:defRPr sz="1350" b="1">
                <a:solidFill>
                  <a:srgbClr val="0A2240"/>
                </a:solidFill>
                <a:latin typeface="Calibri"/>
              </a:defRPr>
            </a:pPr>
            <a:r>
              <a:t>•  03. Econometric Data Pipeline: </a:t>
            </a:r>
            <a:r>
              <a:rPr sz="1300" b="0">
                <a:solidFill>
                  <a:srgbClr val="0F172A"/>
                </a:solidFill>
                <a:latin typeface="Calibri"/>
              </a:rPr>
              <a:t>Star schema conformed data, 4-tier filtering, carrier isolation, and 168-hour purge buffer.</a:t>
            </a:r>
          </a:p>
          <a:p>
            <a:pPr>
              <a:spcBef>
                <a:spcPts val="1000"/>
              </a:spcBef>
              <a:defRPr sz="1350" b="1">
                <a:solidFill>
                  <a:srgbClr val="0A2240"/>
                </a:solidFill>
                <a:latin typeface="Calibri"/>
              </a:defRPr>
            </a:pPr>
            <a:r>
              <a:t>•  04. Empirical Volatility Regimes: </a:t>
            </a:r>
            <a:r>
              <a:rPr sz="1300" b="0">
                <a:solidFill>
                  <a:srgbClr val="0F172A"/>
                </a:solidFill>
                <a:latin typeface="Calibri"/>
              </a:rPr>
              <a:t>The Values vs. Volatility decoupling, macro seasonality, and diurnal asynchrony.</a:t>
            </a:r>
          </a:p>
          <a:p>
            <a:pPr>
              <a:spcBef>
                <a:spcPts val="1000"/>
              </a:spcBef>
              <a:defRPr sz="1350" b="1">
                <a:solidFill>
                  <a:srgbClr val="0A2240"/>
                </a:solidFill>
                <a:latin typeface="Calibri"/>
              </a:defRPr>
            </a:pPr>
            <a:r>
              <a:t>•  05. Holdout Benchmarks &amp; Testing: </a:t>
            </a:r>
            <a:r>
              <a:rPr sz="1300" b="0">
                <a:solidFill>
                  <a:srgbClr val="0F172A"/>
                </a:solidFill>
                <a:latin typeface="Calibri"/>
              </a:rPr>
              <a:t>Certified 2025 out-of-time evaluation across Robustness, Resilience, and Generalizability.</a:t>
            </a:r>
          </a:p>
          <a:p>
            <a:pPr>
              <a:spcBef>
                <a:spcPts val="1000"/>
              </a:spcBef>
              <a:defRPr sz="1350" b="1">
                <a:solidFill>
                  <a:srgbClr val="0A2240"/>
                </a:solidFill>
                <a:latin typeface="Calibri"/>
              </a:defRPr>
            </a:pPr>
            <a:r>
              <a:t>•  06. Operational Playbook &amp; Synthesis: </a:t>
            </a:r>
            <a:r>
              <a:rPr sz="1300" b="0">
                <a:solidFill>
                  <a:srgbClr val="0F172A"/>
                </a:solidFill>
                <a:latin typeface="Calibri"/>
              </a:rPr>
              <a:t>Dynamic checkpoint rostering, connecting deflator, and regime-switched gated inference engine.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THEORETICAL FOUNDATION</a:t>
            </a:r>
          </a:p>
          <a:p>
            <a:pPr>
              <a:spcBef>
                <a:spcPts val="300"/>
              </a:spcBef>
              <a:defRPr sz="2400" b="1">
                <a:solidFill>
                  <a:srgbClr val="0A2240"/>
                </a:solidFill>
                <a:latin typeface="Calibri"/>
              </a:defRPr>
            </a:pPr>
            <a:r>
              <a:t>The Terminal Queuing Problem</a:t>
            </a:r>
          </a:p>
          <a:p>
            <a:pPr>
              <a:spcBef>
                <a:spcPts val="200"/>
              </a:spcBef>
              <a:defRPr sz="1200">
                <a:solidFill>
                  <a:srgbClr val="475569"/>
                </a:solidFill>
                <a:latin typeface="Calibri"/>
              </a:defRPr>
            </a:pPr>
            <a:r>
              <a:t>Why Heavy-Traffic Checkpoints Fail Under Static Capacity Assumptions</a:t>
            </a:r>
          </a:p>
        </p:txBody>
      </p:sp>
      <p:pic>
        <p:nvPicPr>
          <p:cNvPr id="3" name="Picture 2" descr="formula_kingman.png"/>
          <p:cNvPicPr>
            <a:picLocks noChangeAspect="1"/>
          </p:cNvPicPr>
          <p:nvPr/>
        </p:nvPicPr>
        <p:blipFill>
          <a:blip r:embed="rId2"/>
          <a:stretch>
            <a:fillRect/>
          </a:stretch>
        </p:blipFill>
        <p:spPr>
          <a:xfrm>
            <a:off x="731520" y="1672547"/>
            <a:ext cx="4754880" cy="861144"/>
          </a:xfrm>
          <a:prstGeom prst="rect">
            <a:avLst/>
          </a:prstGeom>
        </p:spPr>
      </p:pic>
      <p:sp>
        <p:nvSpPr>
          <p:cNvPr id="4" name="TextBox 3"/>
          <p:cNvSpPr txBox="1"/>
          <p:nvPr/>
        </p:nvSpPr>
        <p:spPr>
          <a:xfrm>
            <a:off x="731520" y="2743200"/>
            <a:ext cx="4754880" cy="3566160"/>
          </a:xfrm>
          <a:prstGeom prst="rect">
            <a:avLst/>
          </a:prstGeom>
          <a:noFill/>
        </p:spPr>
        <p:txBody>
          <a:bodyPr wrap="square" lIns="0" rIns="0" tIns="0" bIns="0">
            <a:spAutoFit/>
          </a:bodyPr>
          <a:lstStyle/>
          <a:p>
            <a:pPr>
              <a:defRPr sz="1350" b="1">
                <a:solidFill>
                  <a:srgbClr val="0A2240"/>
                </a:solidFill>
                <a:latin typeface="Calibri"/>
              </a:defRPr>
            </a:pPr>
            <a:r>
              <a:t>•  Inflexible Physical Capacity: </a:t>
            </a:r>
            <a:r>
              <a:rPr sz="1300" b="0">
                <a:solidFill>
                  <a:srgbClr val="0F172A"/>
                </a:solidFill>
                <a:latin typeface="Calibri"/>
              </a:rPr>
              <a:t>AIT screening lanes and certified TSO shifts cannot expand dynamically in real-time.</a:t>
            </a:r>
          </a:p>
          <a:p>
            <a:pPr>
              <a:spcBef>
                <a:spcPts val="1000"/>
              </a:spcBef>
              <a:defRPr sz="1350" b="1">
                <a:solidFill>
                  <a:srgbClr val="0A2240"/>
                </a:solidFill>
                <a:latin typeface="Calibri"/>
              </a:defRPr>
            </a:pPr>
            <a:r>
              <a:t>•  Quadratic Delay Scaling: </a:t>
            </a:r>
            <a:r>
              <a:rPr sz="1300" b="0">
                <a:solidFill>
                  <a:srgbClr val="0F172A"/>
                </a:solidFill>
                <a:latin typeface="Calibri"/>
              </a:rPr>
              <a:t>Under Kingman's formula, passenger waiting times scale quadratically with arrival volatility (Ca²) as utilization approaches saturation (ρ → 1.0).</a:t>
            </a:r>
          </a:p>
          <a:p>
            <a:pPr>
              <a:spcBef>
                <a:spcPts val="1000"/>
              </a:spcBef>
              <a:defRPr sz="1350" b="1">
                <a:solidFill>
                  <a:srgbClr val="0A2240"/>
                </a:solidFill>
                <a:latin typeface="Calibri"/>
              </a:defRPr>
            </a:pPr>
            <a:r>
              <a:t>•  Static Staffing Fragility: </a:t>
            </a:r>
            <a:r>
              <a:rPr sz="1300" b="0">
                <a:solidFill>
                  <a:srgbClr val="0F172A"/>
                </a:solidFill>
                <a:latin typeface="Calibri"/>
              </a:rPr>
              <a:t>Historical headcount volume tables fail during airside delay cascades and convective ground stops.</a:t>
            </a:r>
          </a:p>
          <a:p>
            <a:pPr>
              <a:spcBef>
                <a:spcPts val="1000"/>
              </a:spcBef>
              <a:defRPr sz="1350" b="1">
                <a:solidFill>
                  <a:srgbClr val="0A2240"/>
                </a:solidFill>
                <a:latin typeface="Calibri"/>
              </a:defRPr>
            </a:pPr>
            <a:r>
              <a:t>•  Core Objective: </a:t>
            </a:r>
            <a:r>
              <a:rPr sz="1300" b="0">
                <a:solidFill>
                  <a:srgbClr val="0F172A"/>
                </a:solidFill>
                <a:latin typeface="Calibri"/>
              </a:rPr>
              <a:t>Airport screening checkpoints require volatility-aware stochastic forecasting.</a:t>
            </a:r>
          </a:p>
        </p:txBody>
      </p:sp>
      <p:pic>
        <p:nvPicPr>
          <p:cNvPr id="5" name="Picture 4" descr="terminal_queuing_friction.jpg"/>
          <p:cNvPicPr>
            <a:picLocks noChangeAspect="1"/>
          </p:cNvPicPr>
          <p:nvPr/>
        </p:nvPicPr>
        <p:blipFill>
          <a:blip r:embed="rId3"/>
          <a:stretch>
            <a:fillRect/>
          </a:stretch>
        </p:blipFill>
        <p:spPr>
          <a:xfrm>
            <a:off x="5760720" y="2385752"/>
            <a:ext cx="5669280" cy="309233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RESEARCH FORMULATION</a:t>
            </a:r>
          </a:p>
          <a:p>
            <a:pPr>
              <a:spcBef>
                <a:spcPts val="300"/>
              </a:spcBef>
              <a:defRPr sz="2400" b="1">
                <a:solidFill>
                  <a:srgbClr val="0A2240"/>
                </a:solidFill>
                <a:latin typeface="Calibri"/>
              </a:defRPr>
            </a:pPr>
            <a:r>
              <a:t>Research Purpose &amp; Operational Objectives</a:t>
            </a:r>
          </a:p>
          <a:p>
            <a:pPr>
              <a:spcBef>
                <a:spcPts val="200"/>
              </a:spcBef>
              <a:defRPr sz="1200">
                <a:solidFill>
                  <a:srgbClr val="475569"/>
                </a:solidFill>
                <a:latin typeface="Calibri"/>
              </a:defRPr>
            </a:pPr>
            <a:r>
              <a:t>Pivoting from Static Headcounts to Stochastic Volatility Dynamics</a:t>
            </a:r>
          </a:p>
        </p:txBody>
      </p:sp>
      <p:sp>
        <p:nvSpPr>
          <p:cNvPr id="3" name="Rectangle 2"/>
          <p:cNvSpPr/>
          <p:nvPr/>
        </p:nvSpPr>
        <p:spPr>
          <a:xfrm>
            <a:off x="731520" y="1691640"/>
            <a:ext cx="342900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000">
                <a:solidFill>
                  <a:srgbClr val="2563EB"/>
                </a:solidFill>
              </a:defRPr>
            </a:pPr>
            <a:r>
              <a:t>OBJECTIVE 01</a:t>
            </a:r>
          </a:p>
          <a:p>
            <a:pPr>
              <a:spcBef>
                <a:spcPts val="400"/>
              </a:spcBef>
              <a:defRPr b="1" sz="1400">
                <a:solidFill>
                  <a:srgbClr val="0A2240"/>
                </a:solidFill>
              </a:defRPr>
            </a:pPr>
            <a:r>
              <a:t>PIVOT TO VOLATILITY</a:t>
            </a:r>
          </a:p>
          <a:p>
            <a:pPr>
              <a:spcBef>
                <a:spcPts val="1200"/>
              </a:spcBef>
              <a:defRPr sz="1100">
                <a:solidFill>
                  <a:srgbClr val="0F172A"/>
                </a:solidFill>
              </a:defRPr>
            </a:pPr>
            <a:r>
              <a:t>Shift the modeling target away from static hourly headcounts to throughput volatility: standard deviation (σ_TSA) and scale-free arrival burstiness (CV_TSA). Queuing theory dictates that arrival variance governs delay cascades.</a:t>
            </a:r>
          </a:p>
        </p:txBody>
      </p:sp>
      <p:sp>
        <p:nvSpPr>
          <p:cNvPr id="4" name="Rectangle 3"/>
          <p:cNvSpPr/>
          <p:nvPr/>
        </p:nvSpPr>
        <p:spPr>
          <a:xfrm>
            <a:off x="4379976" y="1691640"/>
            <a:ext cx="342900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000">
                <a:solidFill>
                  <a:srgbClr val="2563EB"/>
                </a:solidFill>
              </a:defRPr>
            </a:pPr>
            <a:r>
              <a:t>OBJECTIVE 02</a:t>
            </a:r>
          </a:p>
          <a:p>
            <a:pPr>
              <a:spcBef>
                <a:spcPts val="400"/>
              </a:spcBef>
              <a:defRPr b="1" sz="1400">
                <a:solidFill>
                  <a:srgbClr val="0A2240"/>
                </a:solidFill>
              </a:defRPr>
            </a:pPr>
            <a:r>
              <a:t>MULTI-PARADIGM BENCHMARK</a:t>
            </a:r>
          </a:p>
          <a:p>
            <a:pPr>
              <a:spcBef>
                <a:spcPts val="1200"/>
              </a:spcBef>
              <a:defRPr sz="1100">
                <a:solidFill>
                  <a:srgbClr val="0F172A"/>
                </a:solidFill>
              </a:defRPr>
            </a:pPr>
            <a:r>
              <a:t>Conduct a rigorous out-of-time evaluation benchmarking 3 candidate paradigms—Deterministic Schedules, Supervised Machine Learning, and Dynamic Hybrids—against an empirical daily persistence control.</a:t>
            </a:r>
          </a:p>
        </p:txBody>
      </p:sp>
      <p:sp>
        <p:nvSpPr>
          <p:cNvPr id="5" name="Rectangle 4"/>
          <p:cNvSpPr/>
          <p:nvPr/>
        </p:nvSpPr>
        <p:spPr>
          <a:xfrm>
            <a:off x="8028432" y="1691640"/>
            <a:ext cx="342900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000">
                <a:solidFill>
                  <a:srgbClr val="2563EB"/>
                </a:solidFill>
              </a:defRPr>
            </a:pPr>
            <a:r>
              <a:t>OBJECTIVE 03</a:t>
            </a:r>
          </a:p>
          <a:p>
            <a:pPr>
              <a:spcBef>
                <a:spcPts val="400"/>
              </a:spcBef>
              <a:defRPr b="1" sz="1400">
                <a:solidFill>
                  <a:srgbClr val="0A2240"/>
                </a:solidFill>
              </a:defRPr>
            </a:pPr>
            <a:r>
              <a:t>CONTEXT-AWARE OPTIMALITY</a:t>
            </a:r>
          </a:p>
          <a:p>
            <a:pPr>
              <a:spcBef>
                <a:spcPts val="1200"/>
              </a:spcBef>
              <a:defRPr sz="1100">
                <a:solidFill>
                  <a:srgbClr val="0F172A"/>
                </a:solidFill>
              </a:defRPr>
            </a:pPr>
            <a:r>
              <a:t>Prove that model superiority is strictly contingent upon operational priorities: routine accuracy (Robustness), storm shock recovery (Resilience), or zero-shot spatial transfer (Generalizability).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CORE INQUIRY</a:t>
            </a:r>
          </a:p>
          <a:p>
            <a:pPr>
              <a:spcBef>
                <a:spcPts val="300"/>
              </a:spcBef>
              <a:defRPr sz="2400" b="1">
                <a:solidFill>
                  <a:srgbClr val="0A2240"/>
                </a:solidFill>
                <a:latin typeface="Calibri"/>
              </a:defRPr>
            </a:pPr>
            <a:r>
              <a:t>Primary Research Question</a:t>
            </a:r>
          </a:p>
          <a:p>
            <a:pPr>
              <a:spcBef>
                <a:spcPts val="200"/>
              </a:spcBef>
              <a:defRPr sz="1200">
                <a:solidFill>
                  <a:srgbClr val="475569"/>
                </a:solidFill>
                <a:latin typeface="Calibri"/>
              </a:defRPr>
            </a:pPr>
            <a:r>
              <a:t>Formalizing Model Selection Across Three Disparate Operational Dimensions</a:t>
            </a:r>
          </a:p>
        </p:txBody>
      </p:sp>
      <p:sp>
        <p:nvSpPr>
          <p:cNvPr id="3" name="Rectangle 2"/>
          <p:cNvSpPr/>
          <p:nvPr/>
        </p:nvSpPr>
        <p:spPr>
          <a:xfrm>
            <a:off x="731520" y="1691640"/>
            <a:ext cx="10728655" cy="1645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b="1" sz="1000">
                <a:solidFill>
                  <a:srgbClr val="2563EB"/>
                </a:solidFill>
              </a:defRPr>
            </a:pPr>
            <a:r>
              <a:t>PRIMARY RESEARCH QUESTION (RQ₁)</a:t>
            </a:r>
          </a:p>
          <a:p>
            <a:pPr>
              <a:spcBef>
                <a:spcPts val="400"/>
              </a:spcBef>
              <a:defRPr sz="1250" i="1">
                <a:solidFill>
                  <a:srgbClr val="0A2240"/>
                </a:solidFill>
                <a:latin typeface="Georgia"/>
              </a:defRPr>
            </a:pPr>
            <a:r>
              <a:t>“Which predictive modeling frameworks—spanning deterministic persistence controls, deterministic schedule baselines, supervised machine learning, and dynamic two-stage hybrids—are most effective for forecasting airport passenger security screening throughput volatility when prioritizing Robustness, Resilience, or Generalizability as the primary operational evaluation metric?”</a:t>
            </a:r>
          </a:p>
        </p:txBody>
      </p:sp>
      <p:sp>
        <p:nvSpPr>
          <p:cNvPr id="4" name="Rectangle 3"/>
          <p:cNvSpPr/>
          <p:nvPr/>
        </p:nvSpPr>
        <p:spPr>
          <a:xfrm>
            <a:off x="731520" y="3611880"/>
            <a:ext cx="342900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950">
                <a:solidFill>
                  <a:srgbClr val="2563EB"/>
                </a:solidFill>
              </a:defRPr>
            </a:pPr>
            <a:r>
              <a:t>PRIORITY 1</a:t>
            </a:r>
          </a:p>
          <a:p>
            <a:pPr>
              <a:spcBef>
                <a:spcPts val="200"/>
              </a:spcBef>
              <a:defRPr b="1" sz="1300">
                <a:solidFill>
                  <a:srgbClr val="0A2240"/>
                </a:solidFill>
              </a:defRPr>
            </a:pPr>
            <a:r>
              <a:t>ROBUSTNESS</a:t>
            </a:r>
          </a:p>
          <a:p>
            <a:pPr>
              <a:spcBef>
                <a:spcPts val="200"/>
              </a:spcBef>
              <a:defRPr sz="1000" b="1">
                <a:solidFill>
                  <a:srgbClr val="475569"/>
                </a:solidFill>
              </a:defRPr>
            </a:pPr>
            <a:r>
              <a:t>Routine Daily Operations</a:t>
            </a:r>
          </a:p>
          <a:p>
            <a:pPr>
              <a:spcBef>
                <a:spcPts val="600"/>
              </a:spcBef>
              <a:defRPr sz="1050">
                <a:solidFill>
                  <a:srgbClr val="0F172A"/>
                </a:solidFill>
              </a:defRPr>
            </a:pPr>
            <a:r>
              <a:t>Delays &lt; 15 min, 0 cancellations (FAA A14 reference benchmark). Focus is minimizing daily error (MASE &lt; 0.700) with zero compute latency.</a:t>
            </a:r>
          </a:p>
        </p:txBody>
      </p:sp>
      <p:sp>
        <p:nvSpPr>
          <p:cNvPr id="5" name="Rectangle 4"/>
          <p:cNvSpPr/>
          <p:nvPr/>
        </p:nvSpPr>
        <p:spPr>
          <a:xfrm>
            <a:off x="4379976" y="3611880"/>
            <a:ext cx="342900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950">
                <a:solidFill>
                  <a:srgbClr val="2563EB"/>
                </a:solidFill>
              </a:defRPr>
            </a:pPr>
            <a:r>
              <a:t>PRIORITY 2</a:t>
            </a:r>
          </a:p>
          <a:p>
            <a:pPr>
              <a:spcBef>
                <a:spcPts val="200"/>
              </a:spcBef>
              <a:defRPr b="1" sz="1300">
                <a:solidFill>
                  <a:srgbClr val="0A2240"/>
                </a:solidFill>
              </a:defRPr>
            </a:pPr>
            <a:r>
              <a:t>RESILIENCE</a:t>
            </a:r>
          </a:p>
          <a:p>
            <a:pPr>
              <a:spcBef>
                <a:spcPts val="200"/>
              </a:spcBef>
              <a:defRPr sz="1000" b="1">
                <a:solidFill>
                  <a:srgbClr val="475569"/>
                </a:solidFill>
              </a:defRPr>
            </a:pPr>
            <a:r>
              <a:t>Irregular Operations (IROPS)</a:t>
            </a:r>
          </a:p>
          <a:p>
            <a:pPr>
              <a:spcBef>
                <a:spcPts val="600"/>
              </a:spcBef>
              <a:defRPr sz="1050">
                <a:solidFill>
                  <a:srgbClr val="0F172A"/>
                </a:solidFill>
              </a:defRPr>
            </a:pPr>
            <a:r>
              <a:t>Convective storms, ground stops, delays ≥ 45 min, cancellations ≥ 5. Focus is shock recovery multiplier (R_MASE ≈ 1.00) and TTR &lt; 4.0h.</a:t>
            </a:r>
          </a:p>
        </p:txBody>
      </p:sp>
      <p:sp>
        <p:nvSpPr>
          <p:cNvPr id="6" name="Rectangle 5"/>
          <p:cNvSpPr/>
          <p:nvPr/>
        </p:nvSpPr>
        <p:spPr>
          <a:xfrm>
            <a:off x="8028432" y="3611880"/>
            <a:ext cx="342900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950">
                <a:solidFill>
                  <a:srgbClr val="2563EB"/>
                </a:solidFill>
              </a:defRPr>
            </a:pPr>
            <a:r>
              <a:t>PRIORITY 3</a:t>
            </a:r>
          </a:p>
          <a:p>
            <a:pPr>
              <a:spcBef>
                <a:spcPts val="200"/>
              </a:spcBef>
              <a:defRPr b="1" sz="1300">
                <a:solidFill>
                  <a:srgbClr val="0A2240"/>
                </a:solidFill>
              </a:defRPr>
            </a:pPr>
            <a:r>
              <a:t>GENERALIZABILITY</a:t>
            </a:r>
          </a:p>
          <a:p>
            <a:pPr>
              <a:spcBef>
                <a:spcPts val="200"/>
              </a:spcBef>
              <a:defRPr sz="1000" b="1">
                <a:solidFill>
                  <a:srgbClr val="475569"/>
                </a:solidFill>
              </a:defRPr>
            </a:pPr>
            <a:r>
              <a:t>Zero-Shot Spatial Transfer</a:t>
            </a:r>
          </a:p>
          <a:p>
            <a:pPr>
              <a:spcBef>
                <a:spcPts val="600"/>
              </a:spcBef>
              <a:defRPr sz="1050">
                <a:solidFill>
                  <a:srgbClr val="0F172A"/>
                </a:solidFill>
              </a:defRPr>
            </a:pPr>
            <a:r>
              <a:t>Concourse portability without local retraining (EWR → LGA). Focus is transfer ratio (RTR ≤ 1.05) and ΔMASE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THEORETICAL FORMULATION</a:t>
            </a:r>
          </a:p>
          <a:p>
            <a:pPr>
              <a:spcBef>
                <a:spcPts val="300"/>
              </a:spcBef>
              <a:defRPr sz="2400" b="1">
                <a:solidFill>
                  <a:srgbClr val="0A2240"/>
                </a:solidFill>
                <a:latin typeface="Calibri"/>
              </a:defRPr>
            </a:pPr>
            <a:r>
              <a:t>Hypothesis: The Asymmetric Trade-Off (H₁)</a:t>
            </a:r>
          </a:p>
          <a:p>
            <a:pPr>
              <a:spcBef>
                <a:spcPts val="200"/>
              </a:spcBef>
              <a:defRPr sz="1200">
                <a:solidFill>
                  <a:srgbClr val="475569"/>
                </a:solidFill>
                <a:latin typeface="Calibri"/>
              </a:defRPr>
            </a:pPr>
            <a:r>
              <a:t>Proving that Model Superiority is Inherently Context-Dependent</a:t>
            </a:r>
          </a:p>
        </p:txBody>
      </p:sp>
      <p:sp>
        <p:nvSpPr>
          <p:cNvPr id="3" name="Rectangle 2"/>
          <p:cNvSpPr/>
          <p:nvPr/>
        </p:nvSpPr>
        <p:spPr>
          <a:xfrm>
            <a:off x="731520" y="1691640"/>
            <a:ext cx="10728655" cy="1051560"/>
          </a:xfrm>
          <a:prstGeom prst="rect">
            <a:avLst/>
          </a:prstGeom>
          <a:solidFill>
            <a:srgbClr val="0A2240"/>
          </a:solidFill>
          <a:ln w="12700">
            <a:solidFill>
              <a:srgbClr val="0A224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b="1" sz="1000">
                <a:solidFill>
                  <a:srgbClr val="FFFFFF"/>
                </a:solidFill>
              </a:defRPr>
            </a:pPr>
            <a:r>
              <a:t>MASTER HYPOTHESIS (H₁)</a:t>
            </a:r>
          </a:p>
          <a:p>
            <a:pPr>
              <a:spcBef>
                <a:spcPts val="200"/>
              </a:spcBef>
              <a:defRPr b="1" sz="1350">
                <a:solidFill>
                  <a:srgbClr val="FFFFFF"/>
                </a:solidFill>
                <a:latin typeface="Georgia"/>
              </a:defRPr>
            </a:pPr>
            <a:r>
              <a:t>Across candidate paradigms, no individual model is universally dominant across all three performance measures.</a:t>
            </a:r>
          </a:p>
        </p:txBody>
      </p:sp>
      <p:sp>
        <p:nvSpPr>
          <p:cNvPr id="4" name="Rectangle 3"/>
          <p:cNvSpPr/>
          <p:nvPr/>
        </p:nvSpPr>
        <p:spPr>
          <a:xfrm>
            <a:off x="731520" y="3017520"/>
            <a:ext cx="3429000" cy="3246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000">
                <a:solidFill>
                  <a:srgbClr val="2563EB"/>
                </a:solidFill>
              </a:defRPr>
            </a:pPr>
            <a:r>
              <a:t>H1a</a:t>
            </a:r>
          </a:p>
          <a:p>
            <a:pPr>
              <a:spcBef>
                <a:spcPts val="200"/>
              </a:spcBef>
              <a:defRPr b="1" sz="1200">
                <a:solidFill>
                  <a:srgbClr val="0A2240"/>
                </a:solidFill>
              </a:defRPr>
            </a:pPr>
            <a:r>
              <a:t>ROBUSTNESS HYPOTHESIS</a:t>
            </a:r>
          </a:p>
          <a:p>
            <a:pPr>
              <a:spcBef>
                <a:spcPts val="400"/>
              </a:spcBef>
              <a:defRPr b="1" sz="1000">
                <a:solidFill>
                  <a:srgbClr val="475569"/>
                </a:solidFill>
              </a:defRPr>
            </a:pPr>
            <a:r>
              <a:t>Machine Learning &amp; Hybrids Win Routine Flow</a:t>
            </a:r>
          </a:p>
          <a:p>
            <a:pPr>
              <a:spcBef>
                <a:spcPts val="1000"/>
              </a:spcBef>
              <a:defRPr sz="1050">
                <a:solidFill>
                  <a:srgbClr val="0F172A"/>
                </a:solidFill>
              </a:defRPr>
            </a:pPr>
            <a:r>
              <a:t>Under nominal conditions (delays &lt; 15m), Supervised ML (Model 2) and Dynamic Hybrid (Model 3) achieve MASE &lt; 0.700. Deterministic flight schedules fail to meet the target due to rigid capacity assumptions.</a:t>
            </a:r>
          </a:p>
        </p:txBody>
      </p:sp>
      <p:sp>
        <p:nvSpPr>
          <p:cNvPr id="5" name="Rectangle 4"/>
          <p:cNvSpPr/>
          <p:nvPr/>
        </p:nvSpPr>
        <p:spPr>
          <a:xfrm>
            <a:off x="4379976" y="3017520"/>
            <a:ext cx="3429000" cy="3246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000">
                <a:solidFill>
                  <a:srgbClr val="2563EB"/>
                </a:solidFill>
              </a:defRPr>
            </a:pPr>
            <a:r>
              <a:t>H1b</a:t>
            </a:r>
          </a:p>
          <a:p>
            <a:pPr>
              <a:spcBef>
                <a:spcPts val="200"/>
              </a:spcBef>
              <a:defRPr b="1" sz="1200">
                <a:solidFill>
                  <a:srgbClr val="0A2240"/>
                </a:solidFill>
              </a:defRPr>
            </a:pPr>
            <a:r>
              <a:t>RESILIENCE HYPOTHESIS</a:t>
            </a:r>
          </a:p>
          <a:p>
            <a:pPr>
              <a:spcBef>
                <a:spcPts val="400"/>
              </a:spcBef>
              <a:defRPr b="1" sz="1000">
                <a:solidFill>
                  <a:srgbClr val="475569"/>
                </a:solidFill>
              </a:defRPr>
            </a:pPr>
            <a:r>
              <a:t>Dynamic Hybrid is Sole Resilient Winner</a:t>
            </a:r>
          </a:p>
          <a:p>
            <a:pPr>
              <a:spcBef>
                <a:spcPts val="1000"/>
              </a:spcBef>
              <a:defRPr sz="1050">
                <a:solidFill>
                  <a:srgbClr val="0F172A"/>
                </a:solidFill>
              </a:defRPr>
            </a:pPr>
            <a:r>
              <a:t>Under convective IROPS shocks (delays ≥ 45m), Dynamic Hybrid (Model 3) maintains shock stability (R_MASE ≈ 1.05). Supervised ML collapses (R = 2.14) due to the Empty Checkpoint Fallacy.</a:t>
            </a:r>
          </a:p>
        </p:txBody>
      </p:sp>
      <p:sp>
        <p:nvSpPr>
          <p:cNvPr id="6" name="Rectangle 5"/>
          <p:cNvSpPr/>
          <p:nvPr/>
        </p:nvSpPr>
        <p:spPr>
          <a:xfrm>
            <a:off x="8028432" y="3017520"/>
            <a:ext cx="3429000" cy="3246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000">
                <a:solidFill>
                  <a:srgbClr val="2563EB"/>
                </a:solidFill>
              </a:defRPr>
            </a:pPr>
            <a:r>
              <a:t>H1c</a:t>
            </a:r>
          </a:p>
          <a:p>
            <a:pPr>
              <a:spcBef>
                <a:spcPts val="200"/>
              </a:spcBef>
              <a:defRPr b="1" sz="1200">
                <a:solidFill>
                  <a:srgbClr val="0A2240"/>
                </a:solidFill>
              </a:defRPr>
            </a:pPr>
            <a:r>
              <a:t>GENERALIZABILITY HYPOTHESIS</a:t>
            </a:r>
          </a:p>
          <a:p>
            <a:pPr>
              <a:spcBef>
                <a:spcPts val="400"/>
              </a:spcBef>
              <a:defRPr b="1" sz="1000">
                <a:solidFill>
                  <a:srgbClr val="475569"/>
                </a:solidFill>
              </a:defRPr>
            </a:pPr>
            <a:r>
              <a:t>Deterministic Schedules Win Spatial Transfer</a:t>
            </a:r>
          </a:p>
          <a:p>
            <a:pPr>
              <a:spcBef>
                <a:spcPts val="1000"/>
              </a:spcBef>
              <a:defRPr sz="1050">
                <a:solidFill>
                  <a:srgbClr val="0F172A"/>
                </a:solidFill>
              </a:defRPr>
            </a:pPr>
            <a:r>
              <a:t>Under zero-shot concourse transfer (EWR → LGA), Deterministic Schedule (Model 1) achieves ΔMASE ≤ 10%. Dynamic Hybrids fail (ΔMASE = +21.5%) due to decision tree terminal geometry overfitting.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EVALUATIVE TRIO</a:t>
            </a:r>
          </a:p>
          <a:p>
            <a:pPr>
              <a:spcBef>
                <a:spcPts val="300"/>
              </a:spcBef>
              <a:defRPr sz="2400" b="1">
                <a:solidFill>
                  <a:srgbClr val="0A2240"/>
                </a:solidFill>
                <a:latin typeface="Calibri"/>
              </a:defRPr>
            </a:pPr>
            <a:r>
              <a:t>The Multi-Pillar Performance Framework</a:t>
            </a:r>
          </a:p>
          <a:p>
            <a:pPr>
              <a:spcBef>
                <a:spcPts val="200"/>
              </a:spcBef>
              <a:defRPr sz="1200">
                <a:solidFill>
                  <a:srgbClr val="475569"/>
                </a:solidFill>
                <a:latin typeface="Calibri"/>
              </a:defRPr>
            </a:pPr>
            <a:r>
              <a:t>Why Single Global Metrics Fail Operational Decision-Makers</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The Aggregate Error Trap: </a:t>
            </a:r>
            <a:r>
              <a:rPr sz="1300" b="0">
                <a:solidFill>
                  <a:srgbClr val="0F172A"/>
                </a:solidFill>
                <a:latin typeface="Calibri"/>
              </a:rPr>
              <a:t>Standard evaluations pool all 8,760 hours of the year into a single RMSE. Aggregate error is 90% dominated by calm, routine hours.</a:t>
            </a:r>
          </a:p>
          <a:p>
            <a:pPr>
              <a:spcBef>
                <a:spcPts val="1000"/>
              </a:spcBef>
              <a:defRPr sz="1350" b="1">
                <a:solidFill>
                  <a:srgbClr val="0A2240"/>
                </a:solidFill>
                <a:latin typeface="Calibri"/>
              </a:defRPr>
            </a:pPr>
            <a:r>
              <a:t>•  Robustness Pillar: </a:t>
            </a:r>
            <a:r>
              <a:rPr sz="1300" b="0">
                <a:solidFill>
                  <a:srgbClr val="0F172A"/>
                </a:solidFill>
                <a:latin typeface="Calibri"/>
              </a:rPr>
              <a:t>Target: MASE &lt; 0.700. Evaluates accuracy under calm conditions (delays &lt; 15m) with zero feedback latency.</a:t>
            </a:r>
          </a:p>
          <a:p>
            <a:pPr>
              <a:spcBef>
                <a:spcPts val="1000"/>
              </a:spcBef>
              <a:defRPr sz="1350" b="1">
                <a:solidFill>
                  <a:srgbClr val="0A2240"/>
                </a:solidFill>
                <a:latin typeface="Calibri"/>
              </a:defRPr>
            </a:pPr>
            <a:r>
              <a:t>•  Resilience Pillar: </a:t>
            </a:r>
            <a:r>
              <a:rPr sz="1300" b="0">
                <a:solidFill>
                  <a:srgbClr val="0F172A"/>
                </a:solidFill>
                <a:latin typeface="Calibri"/>
              </a:rPr>
              <a:t>Target: R_MASE ≈ 1.00 &amp; TTR &lt; 4.0h. Evaluates stability under severe convective storm ground stops.</a:t>
            </a:r>
          </a:p>
          <a:p>
            <a:pPr>
              <a:spcBef>
                <a:spcPts val="1000"/>
              </a:spcBef>
              <a:defRPr sz="1350" b="1">
                <a:solidFill>
                  <a:srgbClr val="0A2240"/>
                </a:solidFill>
                <a:latin typeface="Calibri"/>
              </a:defRPr>
            </a:pPr>
            <a:r>
              <a:t>•  Generalizability Pillar: </a:t>
            </a:r>
            <a:r>
              <a:rPr sz="1300" b="0">
                <a:solidFill>
                  <a:srgbClr val="0F172A"/>
                </a:solidFill>
                <a:latin typeface="Calibri"/>
              </a:rPr>
              <a:t>Target: RTR ≤ 1.05 &amp; ΔMASE ≤ 10.0%. Evaluates zero-shot concourse transferability without local retraining.</a:t>
            </a:r>
          </a:p>
        </p:txBody>
      </p:sp>
      <p:pic>
        <p:nvPicPr>
          <p:cNvPr id="4" name="Picture 3" descr="figure_5_1_asymmetric_trade_off_triangle.png"/>
          <p:cNvPicPr>
            <a:picLocks noChangeAspect="1"/>
          </p:cNvPicPr>
          <p:nvPr/>
        </p:nvPicPr>
        <p:blipFill>
          <a:blip r:embed="rId2"/>
          <a:stretch>
            <a:fillRect/>
          </a:stretch>
        </p:blipFill>
        <p:spPr>
          <a:xfrm>
            <a:off x="5851055" y="1691640"/>
            <a:ext cx="5488608"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THEORETICAL EVOLUTION</a:t>
            </a:r>
          </a:p>
          <a:p>
            <a:pPr>
              <a:spcBef>
                <a:spcPts val="300"/>
              </a:spcBef>
              <a:defRPr sz="2400" b="1">
                <a:solidFill>
                  <a:srgbClr val="0A2240"/>
                </a:solidFill>
                <a:latin typeface="Calibri"/>
              </a:defRPr>
            </a:pPr>
            <a:r>
              <a:t>Evolution of Terminal Flow Literature</a:t>
            </a:r>
          </a:p>
          <a:p>
            <a:pPr>
              <a:spcBef>
                <a:spcPts val="200"/>
              </a:spcBef>
              <a:defRPr sz="1200">
                <a:solidFill>
                  <a:srgbClr val="475569"/>
                </a:solidFill>
                <a:latin typeface="Calibri"/>
              </a:defRPr>
            </a:pPr>
            <a:r>
              <a:t>From Static Flight Bank Convolutions to Dynamic Error Feedback</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1990s Deterministic Schedules: </a:t>
            </a:r>
            <a:r>
              <a:rPr sz="1300" b="0">
                <a:solidFill>
                  <a:srgbClr val="0F172A"/>
                </a:solidFill>
                <a:latin typeface="Calibri"/>
              </a:rPr>
              <a:t>Convolving flight banks across empirical show-up curves (ACRP Report 40). Transparent, but blind to flight delays.</a:t>
            </a:r>
          </a:p>
          <a:p>
            <a:pPr>
              <a:spcBef>
                <a:spcPts val="1000"/>
              </a:spcBef>
              <a:defRPr sz="1350" b="1">
                <a:solidFill>
                  <a:srgbClr val="0A2240"/>
                </a:solidFill>
                <a:latin typeface="Calibri"/>
              </a:defRPr>
            </a:pPr>
            <a:r>
              <a:t>•  2000s Micro-Simulation: </a:t>
            </a:r>
            <a:r>
              <a:rPr sz="1300" b="0">
                <a:solidFill>
                  <a:srgbClr val="0F172A"/>
                </a:solidFill>
                <a:latin typeface="Calibri"/>
              </a:rPr>
              <a:t>Agent-based simulation (Simio, CAST). High spatial detail, but 20–45 minute runtimes prohibit tactical lane dispatch.</a:t>
            </a:r>
          </a:p>
          <a:p>
            <a:pPr>
              <a:spcBef>
                <a:spcPts val="1000"/>
              </a:spcBef>
              <a:defRPr sz="1350" b="1">
                <a:solidFill>
                  <a:srgbClr val="0A2240"/>
                </a:solidFill>
                <a:latin typeface="Calibri"/>
              </a:defRPr>
            </a:pPr>
            <a:r>
              <a:t>•  2015+ Supervised ML: </a:t>
            </a:r>
            <a:r>
              <a:rPr sz="1300" b="0">
                <a:solidFill>
                  <a:srgbClr val="0F172A"/>
                </a:solidFill>
                <a:latin typeface="Calibri"/>
              </a:rPr>
              <a:t>Gradient-boosted decision trees. Outstanding routine accuracy, but collapses during convective IROPS shocks.</a:t>
            </a:r>
          </a:p>
          <a:p>
            <a:pPr>
              <a:spcBef>
                <a:spcPts val="1000"/>
              </a:spcBef>
              <a:defRPr sz="1350" b="1">
                <a:solidFill>
                  <a:srgbClr val="0A2240"/>
                </a:solidFill>
                <a:latin typeface="Calibri"/>
              </a:defRPr>
            </a:pPr>
            <a:r>
              <a:t>•  Today Dynamic Hybrids: </a:t>
            </a:r>
            <a:r>
              <a:rPr sz="1300" b="0">
                <a:solidFill>
                  <a:srgbClr val="0F172A"/>
                </a:solidFill>
                <a:latin typeface="Calibri"/>
              </a:rPr>
              <a:t>Two-stage sequential models coupling macro flight schedules with live screening floor error innovation feedback.</a:t>
            </a:r>
          </a:p>
        </p:txBody>
      </p:sp>
      <p:pic>
        <p:nvPicPr>
          <p:cNvPr id="4" name="Picture 3" descr="models and tests.png"/>
          <p:cNvPicPr>
            <a:picLocks noChangeAspect="1"/>
          </p:cNvPicPr>
          <p:nvPr/>
        </p:nvPicPr>
        <p:blipFill>
          <a:blip r:embed="rId2"/>
          <a:stretch>
            <a:fillRect/>
          </a:stretch>
        </p:blipFill>
        <p:spPr>
          <a:xfrm>
            <a:off x="5760720" y="1937724"/>
            <a:ext cx="5669280" cy="40798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LITERATURE GAP</a:t>
            </a:r>
          </a:p>
          <a:p>
            <a:pPr>
              <a:spcBef>
                <a:spcPts val="300"/>
              </a:spcBef>
              <a:defRPr sz="2400" b="1">
                <a:solidFill>
                  <a:srgbClr val="0A2240"/>
                </a:solidFill>
                <a:latin typeface="Calibri"/>
              </a:defRPr>
            </a:pPr>
            <a:r>
              <a:t>The Static Fallacy in Terminal Modeling</a:t>
            </a:r>
          </a:p>
          <a:p>
            <a:pPr>
              <a:spcBef>
                <a:spcPts val="200"/>
              </a:spcBef>
              <a:defRPr sz="1200">
                <a:solidFill>
                  <a:srgbClr val="475569"/>
                </a:solidFill>
                <a:latin typeface="Calibri"/>
              </a:defRPr>
            </a:pPr>
            <a:r>
              <a:t>Why Static Passenger Volumes Fail to Explain Checkpoint Delays</a:t>
            </a:r>
          </a:p>
        </p:txBody>
      </p:sp>
      <p:pic>
        <p:nvPicPr>
          <p:cNvPr id="3" name="Picture 2" descr="formula_cv_tsa.png"/>
          <p:cNvPicPr>
            <a:picLocks noChangeAspect="1"/>
          </p:cNvPicPr>
          <p:nvPr/>
        </p:nvPicPr>
        <p:blipFill>
          <a:blip r:embed="rId2"/>
          <a:stretch>
            <a:fillRect/>
          </a:stretch>
        </p:blipFill>
        <p:spPr>
          <a:xfrm>
            <a:off x="731520" y="1672547"/>
            <a:ext cx="4754880" cy="861144"/>
          </a:xfrm>
          <a:prstGeom prst="rect">
            <a:avLst/>
          </a:prstGeom>
        </p:spPr>
      </p:pic>
      <p:sp>
        <p:nvSpPr>
          <p:cNvPr id="4" name="TextBox 3"/>
          <p:cNvSpPr txBox="1"/>
          <p:nvPr/>
        </p:nvSpPr>
        <p:spPr>
          <a:xfrm>
            <a:off x="731520" y="2743200"/>
            <a:ext cx="4754880" cy="3566160"/>
          </a:xfrm>
          <a:prstGeom prst="rect">
            <a:avLst/>
          </a:prstGeom>
          <a:noFill/>
        </p:spPr>
        <p:txBody>
          <a:bodyPr wrap="square" lIns="0" rIns="0" tIns="0" bIns="0">
            <a:spAutoFit/>
          </a:bodyPr>
          <a:lstStyle/>
          <a:p>
            <a:pPr>
              <a:defRPr sz="1350" b="1">
                <a:solidFill>
                  <a:srgbClr val="0A2240"/>
                </a:solidFill>
                <a:latin typeface="Calibri"/>
              </a:defRPr>
            </a:pPr>
            <a:r>
              <a:t>•  Scale-Free Burstiness: </a:t>
            </a:r>
            <a:r>
              <a:rPr sz="1300" b="0">
                <a:solidFill>
                  <a:srgbClr val="0F172A"/>
                </a:solidFill>
                <a:latin typeface="Calibri"/>
              </a:rPr>
              <a:t>CV_TSA normalizes arrival dispersion across small vs. mega checkpoints, capturing queue-generating surges.</a:t>
            </a:r>
          </a:p>
          <a:p>
            <a:pPr>
              <a:spcBef>
                <a:spcPts val="1000"/>
              </a:spcBef>
              <a:defRPr sz="1350" b="1">
                <a:solidFill>
                  <a:srgbClr val="0A2240"/>
                </a:solidFill>
                <a:latin typeface="Calibri"/>
              </a:defRPr>
            </a:pPr>
            <a:r>
              <a:t>•  Static Volume Fails: </a:t>
            </a:r>
            <a:r>
              <a:rPr sz="1300" b="0">
                <a:solidFill>
                  <a:srgbClr val="0F172A"/>
                </a:solidFill>
                <a:latin typeface="Calibri"/>
              </a:rPr>
              <a:t>Passenger Headcount vs. Flight Delays: r = -0.062, p = 0.77 (R² = 2.5%). Complete failure to correlate!</a:t>
            </a:r>
          </a:p>
          <a:p>
            <a:pPr>
              <a:spcBef>
                <a:spcPts val="1000"/>
              </a:spcBef>
              <a:defRPr sz="1350" b="1">
                <a:solidFill>
                  <a:srgbClr val="0A2240"/>
                </a:solidFill>
                <a:latin typeface="Calibri"/>
              </a:defRPr>
            </a:pPr>
            <a:r>
              <a:t>•  Volatility Couplings: </a:t>
            </a:r>
            <a:r>
              <a:rPr sz="1300" b="0">
                <a:solidFill>
                  <a:srgbClr val="0F172A"/>
                </a:solidFill>
                <a:latin typeface="Calibri"/>
              </a:rPr>
              <a:t>Throughput Volatility vs. Delay Volatility: r = +0.4373, p &lt; 0.05 (R² = 19.1%). Strong operational coupling!</a:t>
            </a:r>
          </a:p>
          <a:p>
            <a:pPr>
              <a:spcBef>
                <a:spcPts val="1000"/>
              </a:spcBef>
              <a:defRPr sz="1350" b="1">
                <a:solidFill>
                  <a:srgbClr val="0A2240"/>
                </a:solidFill>
                <a:latin typeface="Calibri"/>
              </a:defRPr>
            </a:pPr>
            <a:r>
              <a:t>•  Queuing Theory Rule: </a:t>
            </a:r>
            <a:r>
              <a:rPr sz="1300" b="0">
                <a:solidFill>
                  <a:srgbClr val="0F172A"/>
                </a:solidFill>
                <a:latin typeface="Calibri"/>
              </a:rPr>
              <a:t>Kingman's approximation dictates that arrival variance, not static volume, causes checkpoint queue buildup.</a:t>
            </a:r>
          </a:p>
        </p:txBody>
      </p:sp>
      <p:pic>
        <p:nvPicPr>
          <p:cNvPr id="5" name="Picture 4" descr="OTP volatility.png"/>
          <p:cNvPicPr>
            <a:picLocks noChangeAspect="1"/>
          </p:cNvPicPr>
          <p:nvPr/>
        </p:nvPicPr>
        <p:blipFill>
          <a:blip r:embed="rId3"/>
          <a:stretch>
            <a:fillRect/>
          </a:stretch>
        </p:blipFill>
        <p:spPr>
          <a:xfrm>
            <a:off x="5760720" y="2327136"/>
            <a:ext cx="5669280" cy="330100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LITERATURE BREAKDOWN</a:t>
            </a:r>
          </a:p>
          <a:p>
            <a:pPr>
              <a:spcBef>
                <a:spcPts val="300"/>
              </a:spcBef>
              <a:defRPr sz="2400" b="1">
                <a:solidFill>
                  <a:srgbClr val="0A2240"/>
                </a:solidFill>
                <a:latin typeface="Calibri"/>
              </a:defRPr>
            </a:pPr>
            <a:r>
              <a:t>Deterministic Flight Schedules &amp; Classical Queueing</a:t>
            </a:r>
          </a:p>
          <a:p>
            <a:pPr>
              <a:spcBef>
                <a:spcPts val="200"/>
              </a:spcBef>
              <a:defRPr sz="1200">
                <a:solidFill>
                  <a:srgbClr val="475569"/>
                </a:solidFill>
                <a:latin typeface="Calibri"/>
              </a:defRPr>
            </a:pPr>
            <a:r>
              <a:t>Model 1: Convolving Scheduled Airline Banks Across Empirical Show-Up Curves</a:t>
            </a:r>
          </a:p>
        </p:txBody>
      </p:sp>
      <p:pic>
        <p:nvPicPr>
          <p:cNvPr id="3" name="Picture 2" descr="formula_showup_convolution.png"/>
          <p:cNvPicPr>
            <a:picLocks noChangeAspect="1"/>
          </p:cNvPicPr>
          <p:nvPr/>
        </p:nvPicPr>
        <p:blipFill>
          <a:blip r:embed="rId2"/>
          <a:stretch>
            <a:fillRect/>
          </a:stretch>
        </p:blipFill>
        <p:spPr>
          <a:xfrm>
            <a:off x="731520" y="1672547"/>
            <a:ext cx="4754880" cy="861144"/>
          </a:xfrm>
          <a:prstGeom prst="rect">
            <a:avLst/>
          </a:prstGeom>
        </p:spPr>
      </p:pic>
      <p:sp>
        <p:nvSpPr>
          <p:cNvPr id="4" name="TextBox 3"/>
          <p:cNvSpPr txBox="1"/>
          <p:nvPr/>
        </p:nvSpPr>
        <p:spPr>
          <a:xfrm>
            <a:off x="731520" y="2743200"/>
            <a:ext cx="4754880" cy="3566160"/>
          </a:xfrm>
          <a:prstGeom prst="rect">
            <a:avLst/>
          </a:prstGeom>
          <a:noFill/>
        </p:spPr>
        <p:txBody>
          <a:bodyPr wrap="square" lIns="0" rIns="0" tIns="0" bIns="0">
            <a:spAutoFit/>
          </a:bodyPr>
          <a:lstStyle/>
          <a:p>
            <a:pPr>
              <a:defRPr sz="1350" b="1">
                <a:solidFill>
                  <a:srgbClr val="0A2240"/>
                </a:solidFill>
                <a:latin typeface="Calibri"/>
              </a:defRPr>
            </a:pPr>
            <a:r>
              <a:t>•  Empirical Show-Up Convolution: </a:t>
            </a:r>
            <a:r>
              <a:rPr sz="1300" b="0">
                <a:solidFill>
                  <a:srgbClr val="0F172A"/>
                </a:solidFill>
                <a:latin typeface="Calibri"/>
              </a:rPr>
              <a:t>Convolves scheduled flight seats deflated by connecting share (1 - S_connect) over ACRP Report 40 curves.</a:t>
            </a:r>
          </a:p>
          <a:p>
            <a:pPr>
              <a:spcBef>
                <a:spcPts val="1000"/>
              </a:spcBef>
              <a:defRPr sz="1350" b="1">
                <a:solidFill>
                  <a:srgbClr val="0A2240"/>
                </a:solidFill>
                <a:latin typeface="Calibri"/>
              </a:defRPr>
            </a:pPr>
            <a:r>
              <a:t>•  Zero-Shot Concourse Invariance: </a:t>
            </a:r>
            <a:r>
              <a:rPr sz="1300" b="0">
                <a:solidFill>
                  <a:srgbClr val="0F172A"/>
                </a:solidFill>
                <a:latin typeface="Calibri"/>
              </a:rPr>
              <a:t>Human passenger arrival psychology transfers across airports without requiring local model training.</a:t>
            </a:r>
          </a:p>
          <a:p>
            <a:pPr>
              <a:spcBef>
                <a:spcPts val="1000"/>
              </a:spcBef>
              <a:defRPr sz="1350" b="1">
                <a:solidFill>
                  <a:srgbClr val="0A2240"/>
                </a:solidFill>
                <a:latin typeface="Calibri"/>
              </a:defRPr>
            </a:pPr>
            <a:r>
              <a:t>•  Complete Transparency: </a:t>
            </a:r>
            <a:r>
              <a:rPr sz="1300" b="0">
                <a:solidFill>
                  <a:srgbClr val="0F172A"/>
                </a:solidFill>
                <a:latin typeface="Calibri"/>
              </a:rPr>
              <a:t>100% interpretable; airport operators can trace every forecast directly to airline flight schedules.</a:t>
            </a:r>
          </a:p>
          <a:p>
            <a:pPr>
              <a:spcBef>
                <a:spcPts val="1000"/>
              </a:spcBef>
              <a:defRPr sz="1350" b="1">
                <a:solidFill>
                  <a:srgbClr val="0A2240"/>
                </a:solidFill>
                <a:latin typeface="Calibri"/>
              </a:defRPr>
            </a:pPr>
            <a:r>
              <a:t>•  Blindness to Delays (Fatal Flaw): </a:t>
            </a:r>
            <a:r>
              <a:rPr sz="1300" b="0">
                <a:solidFill>
                  <a:srgbClr val="0F172A"/>
                </a:solidFill>
                <a:latin typeface="Calibri"/>
              </a:rPr>
              <a:t>Fails to incorporate real-time airside telemetry; forecasts passengers that cleared screening hours earlier.</a:t>
            </a:r>
          </a:p>
        </p:txBody>
      </p:sp>
      <p:pic>
        <p:nvPicPr>
          <p:cNvPr id="5" name="Picture 4" descr="pax stochastic arrival.png"/>
          <p:cNvPicPr>
            <a:picLocks noChangeAspect="1"/>
          </p:cNvPicPr>
          <p:nvPr/>
        </p:nvPicPr>
        <p:blipFill>
          <a:blip r:embed="rId3"/>
          <a:stretch>
            <a:fillRect/>
          </a:stretch>
        </p:blipFill>
        <p:spPr>
          <a:xfrm>
            <a:off x="5760720" y="2750492"/>
            <a:ext cx="5669280" cy="245429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LITERATURE BREAKDOWN</a:t>
            </a:r>
          </a:p>
          <a:p>
            <a:pPr>
              <a:spcBef>
                <a:spcPts val="300"/>
              </a:spcBef>
              <a:defRPr sz="2400" b="1">
                <a:solidFill>
                  <a:srgbClr val="0A2240"/>
                </a:solidFill>
                <a:latin typeface="Calibri"/>
              </a:defRPr>
            </a:pPr>
            <a:r>
              <a:t>The Shift to Micro-Simulation Modeling</a:t>
            </a:r>
          </a:p>
          <a:p>
            <a:pPr>
              <a:spcBef>
                <a:spcPts val="200"/>
              </a:spcBef>
              <a:defRPr sz="1200">
                <a:solidFill>
                  <a:srgbClr val="475569"/>
                </a:solidFill>
                <a:latin typeface="Calibri"/>
              </a:defRPr>
            </a:pPr>
            <a:r>
              <a:t>High Spatial Resolution vs. Severe Real-Time Operational Latency</a:t>
            </a:r>
          </a:p>
        </p:txBody>
      </p:sp>
      <p:sp>
        <p:nvSpPr>
          <p:cNvPr id="3" name="Rectangle 2"/>
          <p:cNvSpPr/>
          <p:nvPr/>
        </p:nvSpPr>
        <p:spPr>
          <a:xfrm>
            <a:off x="731520" y="1691640"/>
            <a:ext cx="521208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100">
                <a:solidFill>
                  <a:srgbClr val="166534"/>
                </a:solidFill>
              </a:defRPr>
            </a:pPr>
            <a:r>
              <a:t>HIGH SPATIAL FIDELITY (ADVANTAGES)</a:t>
            </a:r>
          </a:p>
          <a:p>
            <a:pPr>
              <a:spcBef>
                <a:spcPts val="1000"/>
              </a:spcBef>
              <a:defRPr b="1" sz="1100">
                <a:solidFill>
                  <a:srgbClr val="0A2240"/>
                </a:solidFill>
              </a:defRPr>
            </a:pPr>
            <a:r>
              <a:t>•  Granular Physical Paths: </a:t>
            </a:r>
            <a:r>
              <a:rPr sz="1050">
                <a:solidFill>
                  <a:srgbClr val="0F172A"/>
                </a:solidFill>
              </a:rPr>
              <a:t>Resolves individual passenger walking corridors, PreCheck vs. standard screening, and bag divestment.</a:t>
            </a:r>
          </a:p>
          <a:p>
            <a:pPr>
              <a:spcBef>
                <a:spcPts val="1000"/>
              </a:spcBef>
              <a:defRPr b="1" sz="1100">
                <a:solidFill>
                  <a:srgbClr val="0A2240"/>
                </a:solidFill>
              </a:defRPr>
            </a:pPr>
            <a:r>
              <a:t>•  Concourse Layout Sizing: </a:t>
            </a:r>
            <a:r>
              <a:rPr sz="1050">
                <a:solidFill>
                  <a:srgbClr val="0F172A"/>
                </a:solidFill>
              </a:rPr>
              <a:t>Accurately maps stanchion serpentine queues and bottleneck merging (Simio, CAST, ArcSTAR).</a:t>
            </a:r>
          </a:p>
          <a:p>
            <a:pPr>
              <a:spcBef>
                <a:spcPts val="1000"/>
              </a:spcBef>
              <a:defRPr b="1" sz="1100">
                <a:solidFill>
                  <a:srgbClr val="0A2240"/>
                </a:solidFill>
              </a:defRPr>
            </a:pPr>
            <a:r>
              <a:t>•  Capital Planning Standard: </a:t>
            </a:r>
            <a:r>
              <a:rPr sz="1050">
                <a:solidFill>
                  <a:srgbClr val="0F172A"/>
                </a:solidFill>
              </a:rPr>
              <a:t>Indispensable for multi-million dollar terminal concourse expansions and checkpoint lane sizing.</a:t>
            </a:r>
          </a:p>
        </p:txBody>
      </p:sp>
      <p:sp>
        <p:nvSpPr>
          <p:cNvPr id="4" name="Rectangle 3"/>
          <p:cNvSpPr/>
          <p:nvPr/>
        </p:nvSpPr>
        <p:spPr>
          <a:xfrm>
            <a:off x="6217920" y="1691640"/>
            <a:ext cx="5242255"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100">
                <a:solidFill>
                  <a:srgbClr val="B45309"/>
                </a:solidFill>
              </a:defRPr>
            </a:pPr>
            <a:r>
              <a:t>THE DISPATCH LATENCY BARRIER (DISADVANTAGES)</a:t>
            </a:r>
          </a:p>
          <a:p>
            <a:pPr>
              <a:spcBef>
                <a:spcPts val="1000"/>
              </a:spcBef>
              <a:defRPr b="1" sz="1100">
                <a:solidFill>
                  <a:srgbClr val="0A2240"/>
                </a:solidFill>
              </a:defRPr>
            </a:pPr>
            <a:r>
              <a:t>•  20–45 Minute Compute Runtimes: </a:t>
            </a:r>
            <a:r>
              <a:rPr sz="1050">
                <a:solidFill>
                  <a:srgbClr val="0F172A"/>
                </a:solidFill>
              </a:rPr>
              <a:t>Full terminal simulations are far too slow for dynamic, tactical lane rebalancing within the operating hour.</a:t>
            </a:r>
          </a:p>
          <a:p>
            <a:pPr>
              <a:spcBef>
                <a:spcPts val="1000"/>
              </a:spcBef>
              <a:defRPr b="1" sz="1100">
                <a:solidFill>
                  <a:srgbClr val="0A2240"/>
                </a:solidFill>
              </a:defRPr>
            </a:pPr>
            <a:r>
              <a:t>•  Heavy Calibration Overhead: </a:t>
            </a:r>
            <a:r>
              <a:rPr sz="1050">
                <a:solidFill>
                  <a:srgbClr val="0F172A"/>
                </a:solidFill>
              </a:rPr>
              <a:t>Hundreds of micro-parameters (walking speeds, divestment rates) become obsolete during convective storms.</a:t>
            </a:r>
          </a:p>
          <a:p>
            <a:pPr>
              <a:spcBef>
                <a:spcPts val="1000"/>
              </a:spcBef>
              <a:defRPr b="1" sz="1100">
                <a:solidFill>
                  <a:srgbClr val="0A2240"/>
                </a:solidFill>
              </a:defRPr>
            </a:pPr>
            <a:r>
              <a:t>•  Unsuitable for Live Dispatch: </a:t>
            </a:r>
            <a:r>
              <a:rPr sz="1050">
                <a:solidFill>
                  <a:srgbClr val="0F172A"/>
                </a:solidFill>
              </a:rPr>
              <a:t>Cannot dynamically ingest real-time airside telemetry to adjust screening capacity during ground stops.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LITERATURE BREAKDOWN</a:t>
            </a:r>
          </a:p>
          <a:p>
            <a:pPr>
              <a:spcBef>
                <a:spcPts val="300"/>
              </a:spcBef>
              <a:defRPr sz="2400" b="1">
                <a:solidFill>
                  <a:srgbClr val="0A2240"/>
                </a:solidFill>
                <a:latin typeface="Calibri"/>
              </a:defRPr>
            </a:pPr>
            <a:r>
              <a:t>Supervised Machine Learning (Model 2)</a:t>
            </a:r>
          </a:p>
          <a:p>
            <a:pPr>
              <a:spcBef>
                <a:spcPts val="200"/>
              </a:spcBef>
              <a:defRPr sz="1200">
                <a:solidFill>
                  <a:srgbClr val="475569"/>
                </a:solidFill>
                <a:latin typeface="Calibri"/>
              </a:defRPr>
            </a:pPr>
            <a:r>
              <a:t>High Routine Accuracy Coupled with Fragility Under Severe Shock</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24 BTS OTP Operational Features: </a:t>
            </a:r>
            <a:r>
              <a:rPr sz="1300" b="0">
                <a:solidFill>
                  <a:srgbClr val="0F172A"/>
                </a:solidFill>
                <a:latin typeface="Calibri"/>
              </a:rPr>
              <a:t>Ingests arrival/departure delays, cancellations, taxi queues, flight bank dispersion, and aircraft gauge.</a:t>
            </a:r>
          </a:p>
          <a:p>
            <a:pPr>
              <a:spcBef>
                <a:spcPts val="1000"/>
              </a:spcBef>
              <a:defRPr sz="1350" b="1">
                <a:solidFill>
                  <a:srgbClr val="0A2240"/>
                </a:solidFill>
                <a:latin typeface="Calibri"/>
              </a:defRPr>
            </a:pPr>
            <a:r>
              <a:t>•  Routine Pareto Frontier Winner: </a:t>
            </a:r>
            <a:r>
              <a:rPr sz="1300" b="0">
                <a:solidFill>
                  <a:srgbClr val="0F172A"/>
                </a:solidFill>
                <a:latin typeface="Calibri"/>
              </a:rPr>
              <a:t>Delivers outstanding routine accuracy (MASE = 0.680–0.700) with zero feedback latency under nominal operations.</a:t>
            </a:r>
          </a:p>
          <a:p>
            <a:pPr>
              <a:spcBef>
                <a:spcPts val="1000"/>
              </a:spcBef>
              <a:defRPr sz="1350" b="1">
                <a:solidFill>
                  <a:srgbClr val="0A2240"/>
                </a:solidFill>
                <a:latin typeface="Calibri"/>
              </a:defRPr>
            </a:pPr>
            <a:r>
              <a:t>•  The Empty Checkpoint Fallacy: </a:t>
            </a:r>
            <a:r>
              <a:rPr sz="1300" b="0">
                <a:solidFill>
                  <a:srgbClr val="0F172A"/>
                </a:solidFill>
                <a:latin typeface="Calibri"/>
              </a:rPr>
              <a:t>During convective storms, flights cancel from airline feeds. The decision tree predicts zero volume, but lobbies are packed with stranded travelers.</a:t>
            </a:r>
          </a:p>
          <a:p>
            <a:pPr>
              <a:spcBef>
                <a:spcPts val="1000"/>
              </a:spcBef>
              <a:defRPr sz="1350" b="1">
                <a:solidFill>
                  <a:srgbClr val="0A2240"/>
                </a:solidFill>
                <a:latin typeface="Calibri"/>
              </a:defRPr>
            </a:pPr>
            <a:r>
              <a:t>•  Acute Disruption Fragility: </a:t>
            </a:r>
            <a:r>
              <a:rPr sz="1300" b="0">
                <a:solidFill>
                  <a:srgbClr val="0F172A"/>
                </a:solidFill>
                <a:latin typeface="Calibri"/>
              </a:rPr>
              <a:t>Pure ML suffers catastrophic collapse during convective IROPS shocks (Recovery Multiplier R_MASE = 2.14, TTR &gt; 8.0h).</a:t>
            </a:r>
          </a:p>
        </p:txBody>
      </p:sp>
      <p:sp>
        <p:nvSpPr>
          <p:cNvPr id="4" name="Rectangle 3"/>
          <p:cNvSpPr/>
          <p:nvPr/>
        </p:nvSpPr>
        <p:spPr>
          <a:xfrm>
            <a:off x="5760720" y="1691640"/>
            <a:ext cx="566928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65760"/>
          <a:lstStyle/>
          <a:p>
            <a:pPr algn="ctr">
              <a:defRPr sz="4800" b="1">
                <a:solidFill>
                  <a:srgbClr val="0A2240"/>
                </a:solidFill>
              </a:defRPr>
            </a:pPr>
            <a:r>
              <a:t>24</a:t>
            </a:r>
          </a:p>
          <a:p>
            <a:pPr algn="ctr">
              <a:spcBef>
                <a:spcPts val="400"/>
              </a:spcBef>
              <a:defRPr sz="1200" b="1">
                <a:solidFill>
                  <a:srgbClr val="2563EB"/>
                </a:solidFill>
              </a:defRPr>
            </a:pPr>
            <a:r>
              <a:t>BTS OTP &amp; OPERATIONAL FEATURES</a:t>
            </a:r>
          </a:p>
          <a:p>
            <a:pPr>
              <a:spcBef>
                <a:spcPts val="2000"/>
              </a:spcBef>
              <a:defRPr sz="1300" b="1">
                <a:solidFill>
                  <a:srgbClr val="0A2240"/>
                </a:solidFill>
              </a:defRPr>
            </a:pPr>
            <a:r>
              <a:t>Dual Operational Regime Split:</a:t>
            </a:r>
          </a:p>
          <a:p>
            <a:pPr>
              <a:spcBef>
                <a:spcPts val="600"/>
              </a:spcBef>
              <a:defRPr sz="1100">
                <a:solidFill>
                  <a:srgbClr val="0F172A"/>
                </a:solidFill>
              </a:defRPr>
            </a:pPr>
            <a:r>
              <a:t>• Routine Nominal Flow (Delays &lt; 15m): Model 2 wins Pareto efficiency with instantaneous inference and no sensor feedback requirement.</a:t>
            </a:r>
          </a:p>
          <a:p>
            <a:pPr>
              <a:spcBef>
                <a:spcPts val="600"/>
              </a:spcBef>
              <a:defRPr sz="1100">
                <a:solidFill>
                  <a:srgbClr val="B45309"/>
                </a:solidFill>
              </a:defRPr>
            </a:pPr>
            <a:r>
              <a:t>• Severe Convective Shocks (Delays ≥ 45m): Algorithmic blind spot causes severe under-staffing during terminal crisis.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LITERATURE BREAKDOWN</a:t>
            </a:r>
          </a:p>
          <a:p>
            <a:pPr>
              <a:spcBef>
                <a:spcPts val="300"/>
              </a:spcBef>
              <a:defRPr sz="2400" b="1">
                <a:solidFill>
                  <a:srgbClr val="0A2240"/>
                </a:solidFill>
                <a:latin typeface="Calibri"/>
              </a:defRPr>
            </a:pPr>
            <a:r>
              <a:t>Sequential Two-Stage Hybrid Architectures (Model 3)</a:t>
            </a:r>
          </a:p>
          <a:p>
            <a:pPr>
              <a:spcBef>
                <a:spcPts val="200"/>
              </a:spcBef>
              <a:defRPr sz="1200">
                <a:solidFill>
                  <a:srgbClr val="475569"/>
                </a:solidFill>
                <a:latin typeface="Calibri"/>
              </a:defRPr>
            </a:pPr>
            <a:r>
              <a:t>Coupling Macro Flight Schedule Cycles with Real-Time Floor Innovation Feedback</a:t>
            </a:r>
          </a:p>
        </p:txBody>
      </p:sp>
      <p:pic>
        <p:nvPicPr>
          <p:cNvPr id="3" name="Picture 2" descr="formula_two_stage_hybrid.png"/>
          <p:cNvPicPr>
            <a:picLocks noChangeAspect="1"/>
          </p:cNvPicPr>
          <p:nvPr/>
        </p:nvPicPr>
        <p:blipFill>
          <a:blip r:embed="rId2"/>
          <a:stretch>
            <a:fillRect/>
          </a:stretch>
        </p:blipFill>
        <p:spPr>
          <a:xfrm>
            <a:off x="731520" y="1718267"/>
            <a:ext cx="4754880" cy="861144"/>
          </a:xfrm>
          <a:prstGeom prst="rect">
            <a:avLst/>
          </a:prstGeom>
        </p:spPr>
      </p:pic>
      <p:sp>
        <p:nvSpPr>
          <p:cNvPr id="4" name="TextBox 3"/>
          <p:cNvSpPr txBox="1"/>
          <p:nvPr/>
        </p:nvSpPr>
        <p:spPr>
          <a:xfrm>
            <a:off x="731520" y="2834640"/>
            <a:ext cx="4754880" cy="3474720"/>
          </a:xfrm>
          <a:prstGeom prst="rect">
            <a:avLst/>
          </a:prstGeom>
          <a:noFill/>
        </p:spPr>
        <p:txBody>
          <a:bodyPr wrap="square" lIns="0" rIns="0" tIns="0" bIns="0">
            <a:spAutoFit/>
          </a:bodyPr>
          <a:lstStyle/>
          <a:p>
            <a:pPr>
              <a:defRPr sz="1350" b="1">
                <a:solidFill>
                  <a:srgbClr val="0A2240"/>
                </a:solidFill>
                <a:latin typeface="Calibri"/>
              </a:defRPr>
            </a:pPr>
            <a:r>
              <a:t>•  Two-Stage Architecture: </a:t>
            </a:r>
            <a:r>
              <a:rPr sz="1300" b="0">
                <a:solidFill>
                  <a:srgbClr val="0F172A"/>
                </a:solidFill>
                <a:latin typeface="Calibri"/>
              </a:rPr>
              <a:t>Couples an operational flight schedule baseline M_base with real-time floor error feedback α · (Y_{t-1} - Ŷ_{t-1}).</a:t>
            </a:r>
          </a:p>
          <a:p>
            <a:pPr>
              <a:spcBef>
                <a:spcPts val="1000"/>
              </a:spcBef>
              <a:defRPr sz="1350" b="1">
                <a:solidFill>
                  <a:srgbClr val="0A2240"/>
                </a:solidFill>
                <a:latin typeface="Calibri"/>
              </a:defRPr>
            </a:pPr>
            <a:r>
              <a:t>•  Stage 1 (Operational Base): </a:t>
            </a:r>
            <a:r>
              <a:rPr sz="1300" b="0">
                <a:solidFill>
                  <a:srgbClr val="0F172A"/>
                </a:solidFill>
                <a:latin typeface="Calibri"/>
              </a:rPr>
              <a:t>Captures macro flight banks, aircraft seat capacity, day-of-week rhythms, and connecting deflators.</a:t>
            </a:r>
          </a:p>
          <a:p>
            <a:pPr>
              <a:spcBef>
                <a:spcPts val="1000"/>
              </a:spcBef>
              <a:defRPr sz="1350" b="1">
                <a:solidFill>
                  <a:srgbClr val="0A2240"/>
                </a:solidFill>
                <a:latin typeface="Calibri"/>
              </a:defRPr>
            </a:pPr>
            <a:r>
              <a:t>•  Stage 2 (Real-Time Feedback): </a:t>
            </a:r>
            <a:r>
              <a:rPr sz="1300" b="0">
                <a:solidFill>
                  <a:srgbClr val="0F172A"/>
                </a:solidFill>
                <a:latin typeface="Calibri"/>
              </a:rPr>
              <a:t>Injects live prior-hour screening floor innovation (e_{t-1}), immediately correcting stale schedules when severe storms ground departures.</a:t>
            </a:r>
          </a:p>
          <a:p>
            <a:pPr>
              <a:spcBef>
                <a:spcPts val="1000"/>
              </a:spcBef>
              <a:defRPr sz="1350" b="1">
                <a:solidFill>
                  <a:srgbClr val="0A2240"/>
                </a:solidFill>
                <a:latin typeface="Calibri"/>
              </a:defRPr>
            </a:pPr>
            <a:r>
              <a:t>•  Defeats the Fallacy: </a:t>
            </a:r>
            <a:r>
              <a:rPr sz="1300" b="0">
                <a:solidFill>
                  <a:srgbClr val="0F172A"/>
                </a:solidFill>
                <a:latin typeface="Calibri"/>
              </a:rPr>
              <a:t>Prevents the Empty Checkpoint Fallacy: stranded passengers in lobbies are detected instantly by live checkpoint sensors.</a:t>
            </a:r>
          </a:p>
        </p:txBody>
      </p:sp>
      <p:pic>
        <p:nvPicPr>
          <p:cNvPr id="5" name="Picture 4" descr="Model walk through.png"/>
          <p:cNvPicPr>
            <a:picLocks noChangeAspect="1"/>
          </p:cNvPicPr>
          <p:nvPr/>
        </p:nvPicPr>
        <p:blipFill>
          <a:blip r:embed="rId3"/>
          <a:stretch>
            <a:fillRect/>
          </a:stretch>
        </p:blipFill>
        <p:spPr>
          <a:xfrm>
            <a:off x="5760720" y="3048442"/>
            <a:ext cx="5669280" cy="185839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EMPIRICAL DEMARCATION</a:t>
            </a:r>
          </a:p>
          <a:p>
            <a:pPr>
              <a:spcBef>
                <a:spcPts val="300"/>
              </a:spcBef>
              <a:defRPr sz="2400" b="1">
                <a:solidFill>
                  <a:srgbClr val="0A2240"/>
                </a:solidFill>
                <a:latin typeface="Calibri"/>
              </a:defRPr>
            </a:pPr>
            <a:r>
              <a:t>The Structural Impact of COVID-19 Demarcation</a:t>
            </a:r>
          </a:p>
          <a:p>
            <a:pPr>
              <a:spcBef>
                <a:spcPts val="200"/>
              </a:spcBef>
              <a:defRPr sz="1200">
                <a:solidFill>
                  <a:srgbClr val="475569"/>
                </a:solidFill>
                <a:latin typeface="Calibri"/>
              </a:defRPr>
            </a:pPr>
            <a:r>
              <a:t>Purging Pandemic Distortions to Establish Time-Series Stability</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May 1, 2022 Cutoff: </a:t>
            </a:r>
            <a:r>
              <a:rPr sz="1300" b="0">
                <a:solidFill>
                  <a:srgbClr val="0F172A"/>
                </a:solidFill>
                <a:latin typeface="Calibri"/>
              </a:rPr>
              <a:t>Federal transit mask mandate dissolved; commercial air travel patterns normalized across U.S. airports.</a:t>
            </a:r>
          </a:p>
          <a:p>
            <a:pPr>
              <a:spcBef>
                <a:spcPts val="1000"/>
              </a:spcBef>
              <a:defRPr sz="1350" b="1">
                <a:solidFill>
                  <a:srgbClr val="0A2240"/>
                </a:solidFill>
                <a:latin typeface="Calibri"/>
              </a:defRPr>
            </a:pPr>
            <a:r>
              <a:t>•  Chow Break Test: </a:t>
            </a:r>
            <a:r>
              <a:rPr sz="1300" b="0">
                <a:solidFill>
                  <a:srgbClr val="0F172A"/>
                </a:solidFill>
                <a:latin typeface="Calibri"/>
              </a:rPr>
              <a:t>F = 1.42, p = 0.18. Fails to reject null hypothesis; confirms structural parameter stability across 44 months.</a:t>
            </a:r>
          </a:p>
          <a:p>
            <a:pPr>
              <a:spcBef>
                <a:spcPts val="1000"/>
              </a:spcBef>
              <a:defRPr sz="1350" b="1">
                <a:solidFill>
                  <a:srgbClr val="0A2240"/>
                </a:solidFill>
                <a:latin typeface="Calibri"/>
              </a:defRPr>
            </a:pPr>
            <a:r>
              <a:t>•  84.7% Load Factor Recovery: </a:t>
            </a:r>
            <a:r>
              <a:rPr sz="1300" b="0">
                <a:solidFill>
                  <a:srgbClr val="0F172A"/>
                </a:solidFill>
                <a:latin typeface="Calibri"/>
              </a:rPr>
              <a:t>Systemwide load factors fully recovered to historical pre-pandemic baselines.</a:t>
            </a:r>
          </a:p>
          <a:p>
            <a:pPr>
              <a:spcBef>
                <a:spcPts val="1000"/>
              </a:spcBef>
              <a:defRPr sz="1350" b="1">
                <a:solidFill>
                  <a:srgbClr val="0A2240"/>
                </a:solidFill>
                <a:latin typeface="Calibri"/>
              </a:defRPr>
            </a:pPr>
            <a:r>
              <a:t>•  Purging 2020–2021 Data: </a:t>
            </a:r>
            <a:r>
              <a:rPr sz="1300" b="0">
                <a:solidFill>
                  <a:srgbClr val="0F172A"/>
                </a:solidFill>
                <a:latin typeface="Calibri"/>
              </a:rPr>
              <a:t>Recursive CUSUM residuals prove that training models on 2020–2021 induces severe non-stationary bias.</a:t>
            </a:r>
          </a:p>
        </p:txBody>
      </p:sp>
      <p:pic>
        <p:nvPicPr>
          <p:cNvPr id="4" name="Picture 3" descr="post-pandemic justification.png"/>
          <p:cNvPicPr>
            <a:picLocks noChangeAspect="1"/>
          </p:cNvPicPr>
          <p:nvPr/>
        </p:nvPicPr>
        <p:blipFill>
          <a:blip r:embed="rId2"/>
          <a:stretch>
            <a:fillRect/>
          </a:stretch>
        </p:blipFill>
        <p:spPr>
          <a:xfrm>
            <a:off x="5760720" y="2074381"/>
            <a:ext cx="5669280" cy="3806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EVALUATIVE SYNTHESIS</a:t>
            </a:r>
          </a:p>
          <a:p>
            <a:pPr>
              <a:spcBef>
                <a:spcPts val="300"/>
              </a:spcBef>
              <a:defRPr sz="2400" b="1">
                <a:solidFill>
                  <a:srgbClr val="0A2240"/>
                </a:solidFill>
                <a:latin typeface="Calibri"/>
              </a:defRPr>
            </a:pPr>
            <a:r>
              <a:t>Why Aviation Demands Dynamic Performance Measures</a:t>
            </a:r>
          </a:p>
          <a:p>
            <a:pPr>
              <a:spcBef>
                <a:spcPts val="200"/>
              </a:spcBef>
              <a:defRPr sz="1200">
                <a:solidFill>
                  <a:srgbClr val="475569"/>
                </a:solidFill>
                <a:latin typeface="Calibri"/>
              </a:defRPr>
            </a:pPr>
            <a:r>
              <a:t>The Danger of Relying on Global Annual Error Metrics</a:t>
            </a:r>
          </a:p>
        </p:txBody>
      </p:sp>
      <p:sp>
        <p:nvSpPr>
          <p:cNvPr id="3" name="Rectangle 2"/>
          <p:cNvSpPr/>
          <p:nvPr/>
        </p:nvSpPr>
        <p:spPr>
          <a:xfrm>
            <a:off x="731520" y="1691640"/>
            <a:ext cx="10728655"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b="1" sz="1100">
                <a:solidFill>
                  <a:srgbClr val="0A2240"/>
                </a:solidFill>
              </a:defRPr>
            </a:pPr>
            <a:r>
              <a:t>DIMENSION 1: NOMINAL ON-TIME FLOW (ROBUSTNESS)</a:t>
            </a:r>
          </a:p>
          <a:p>
            <a:pPr>
              <a:spcBef>
                <a:spcPts val="200"/>
              </a:spcBef>
              <a:defRPr b="1" sz="950">
                <a:solidFill>
                  <a:srgbClr val="2563EB"/>
                </a:solidFill>
              </a:defRPr>
            </a:pPr>
            <a:r>
              <a:t>FAA A14 Reference Case (Delays &lt; 15m, 0 Cancels)</a:t>
            </a:r>
          </a:p>
          <a:p>
            <a:pPr>
              <a:spcBef>
                <a:spcPts val="300"/>
              </a:spcBef>
              <a:defRPr sz="950">
                <a:solidFill>
                  <a:srgbClr val="0F172A"/>
                </a:solidFill>
              </a:defRPr>
            </a:pPr>
            <a:r>
              <a:t>In routine operations, airport security checkpoints experience predictable morning and evening flight banks. Small residual errors are easily absorbed by standard lane buffers. The operational goal is low computational latency, zero feedback overhead, and reliable baseline staffing.</a:t>
            </a:r>
          </a:p>
        </p:txBody>
      </p:sp>
      <p:sp>
        <p:nvSpPr>
          <p:cNvPr id="4" name="Rectangle 3"/>
          <p:cNvSpPr/>
          <p:nvPr/>
        </p:nvSpPr>
        <p:spPr>
          <a:xfrm>
            <a:off x="731520" y="3264408"/>
            <a:ext cx="10728655"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b="1" sz="1100">
                <a:solidFill>
                  <a:srgbClr val="0A2240"/>
                </a:solidFill>
              </a:defRPr>
            </a:pPr>
            <a:r>
              <a:t>DIMENSION 2: CONVECTIVE STORM SHOCKS (RESILIENCE)</a:t>
            </a:r>
          </a:p>
          <a:p>
            <a:pPr>
              <a:spcBef>
                <a:spcPts val="200"/>
              </a:spcBef>
              <a:defRPr b="1" sz="950">
                <a:solidFill>
                  <a:srgbClr val="2563EB"/>
                </a:solidFill>
              </a:defRPr>
            </a:pPr>
            <a:r>
              <a:t>Irregular Operations / IROPS (Delays ≥ 45m, Cancels ≥ 5)</a:t>
            </a:r>
          </a:p>
          <a:p>
            <a:pPr>
              <a:spcBef>
                <a:spcPts val="300"/>
              </a:spcBef>
              <a:defRPr sz="950">
                <a:solidFill>
                  <a:srgbClr val="0F172A"/>
                </a:solidFill>
              </a:defRPr>
            </a:pPr>
            <a:r>
              <a:t>Terminal crises occur during severe weather ground stops. Airport directors face massive queue surges as flight schedules desynchronize. A model with excellent annual RMSE that fails during storms is operationally hazardous. The goal is shock recovery and rapid time-to-recovery (TTR &lt; 4h).</a:t>
            </a:r>
          </a:p>
        </p:txBody>
      </p:sp>
      <p:sp>
        <p:nvSpPr>
          <p:cNvPr id="5" name="Rectangle 4"/>
          <p:cNvSpPr/>
          <p:nvPr/>
        </p:nvSpPr>
        <p:spPr>
          <a:xfrm>
            <a:off x="731520" y="4837176"/>
            <a:ext cx="10728655"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b="1" sz="1100">
                <a:solidFill>
                  <a:srgbClr val="0A2240"/>
                </a:solidFill>
              </a:defRPr>
            </a:pPr>
            <a:r>
              <a:t>DIMENSION 3: CONCOURSE SPATIAL PORTABILITY (GENERALIZABILITY)</a:t>
            </a:r>
          </a:p>
          <a:p>
            <a:pPr>
              <a:spcBef>
                <a:spcPts val="200"/>
              </a:spcBef>
              <a:defRPr b="1" sz="950">
                <a:solidFill>
                  <a:srgbClr val="2563EB"/>
                </a:solidFill>
              </a:defRPr>
            </a:pPr>
            <a:r>
              <a:t>Zero-Shot Concourse Transfer (EWR → LGA Without Retraining)</a:t>
            </a:r>
          </a:p>
          <a:p>
            <a:pPr>
              <a:spcBef>
                <a:spcPts val="300"/>
              </a:spcBef>
              <a:defRPr sz="950">
                <a:solidFill>
                  <a:srgbClr val="0F172A"/>
                </a:solidFill>
              </a:defRPr>
            </a:pPr>
            <a:r>
              <a:t>Airport authorities regularly open new terminal concourses or reassign airline carriers. Training complex machine learning models requires 12 months of local checkpoint history. The operational goal is zero-shot transferability across unfamiliar physical checkpoint layouts.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METHODOLOGICAL ARCHITECTURE</a:t>
            </a:r>
          </a:p>
          <a:p>
            <a:pPr>
              <a:spcBef>
                <a:spcPts val="300"/>
              </a:spcBef>
              <a:defRPr sz="2400" b="1">
                <a:solidFill>
                  <a:srgbClr val="0A2240"/>
                </a:solidFill>
                <a:latin typeface="Calibri"/>
              </a:defRPr>
            </a:pPr>
            <a:r>
              <a:t>Research Methodology Overview</a:t>
            </a:r>
          </a:p>
          <a:p>
            <a:pPr>
              <a:spcBef>
                <a:spcPts val="200"/>
              </a:spcBef>
              <a:defRPr sz="1200">
                <a:solidFill>
                  <a:srgbClr val="475569"/>
                </a:solidFill>
                <a:latin typeface="Calibri"/>
              </a:defRPr>
            </a:pPr>
            <a:r>
              <a:t>Five-Stage Scientific Architecture Grounded in Federal Aviation Assets</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3.1 Research Approach: </a:t>
            </a:r>
            <a:r>
              <a:rPr sz="1300" b="0">
                <a:solidFill>
                  <a:srgbClr val="0F172A"/>
                </a:solidFill>
                <a:latin typeface="Calibri"/>
              </a:rPr>
              <a:t>Comparative out-of-time evaluation of 4 paradigms across 3 operational pillars.</a:t>
            </a:r>
          </a:p>
          <a:p>
            <a:pPr>
              <a:spcBef>
                <a:spcPts val="1000"/>
              </a:spcBef>
              <a:defRPr sz="1350" b="1">
                <a:solidFill>
                  <a:srgbClr val="0A2240"/>
                </a:solidFill>
                <a:latin typeface="Calibri"/>
              </a:defRPr>
            </a:pPr>
            <a:r>
              <a:t>•  3.2 Sample Cohort: </a:t>
            </a:r>
            <a:r>
              <a:rPr sz="1300" b="0">
                <a:solidFill>
                  <a:srgbClr val="0F172A"/>
                </a:solidFill>
                <a:latin typeface="Calibri"/>
              </a:rPr>
              <a:t>4-tier filtering isolating 9 airports &amp; 12 carrier-exclusive complexes.</a:t>
            </a:r>
          </a:p>
          <a:p>
            <a:pPr>
              <a:spcBef>
                <a:spcPts val="1000"/>
              </a:spcBef>
              <a:defRPr sz="1350" b="1">
                <a:solidFill>
                  <a:srgbClr val="0A2240"/>
                </a:solidFill>
                <a:latin typeface="Calibri"/>
              </a:defRPr>
            </a:pPr>
            <a:r>
              <a:t>•  3.3 Data Sources &amp; ETL: </a:t>
            </a:r>
            <a:r>
              <a:rPr sz="1300" b="0">
                <a:solidFill>
                  <a:srgbClr val="0F172A"/>
                </a:solidFill>
                <a:latin typeface="Calibri"/>
              </a:rPr>
              <a:t>67.2M raw federal records conformed to 42.1M Star Schema rows.</a:t>
            </a:r>
          </a:p>
          <a:p>
            <a:pPr>
              <a:spcBef>
                <a:spcPts val="1000"/>
              </a:spcBef>
              <a:defRPr sz="1350" b="1">
                <a:solidFill>
                  <a:srgbClr val="0A2240"/>
                </a:solidFill>
                <a:latin typeface="Calibri"/>
              </a:defRPr>
            </a:pPr>
            <a:r>
              <a:t>•  3.4 Validity Safeguards: </a:t>
            </a:r>
            <a:r>
              <a:rPr sz="1300" b="0">
                <a:solidFill>
                  <a:srgbClr val="0F172A"/>
                </a:solidFill>
                <a:latin typeface="Calibri"/>
              </a:rPr>
              <a:t>DB1B connecting deflator, carrier isolation, and 168-h purge buffer.</a:t>
            </a:r>
          </a:p>
          <a:p>
            <a:pPr>
              <a:spcBef>
                <a:spcPts val="1000"/>
              </a:spcBef>
              <a:defRPr sz="1350" b="1">
                <a:solidFill>
                  <a:srgbClr val="0A2240"/>
                </a:solidFill>
                <a:latin typeface="Calibri"/>
              </a:defRPr>
            </a:pPr>
            <a:r>
              <a:t>•  3.5 Treatment &amp; Testing: </a:t>
            </a:r>
            <a:r>
              <a:rPr sz="1300" b="0">
                <a:solidFill>
                  <a:srgbClr val="0F172A"/>
                </a:solidFill>
                <a:latin typeface="Calibri"/>
              </a:rPr>
              <a:t>Out-of-time 2025 holdout and Diebold-Mariano statistical tests.</a:t>
            </a:r>
          </a:p>
        </p:txBody>
      </p:sp>
      <p:pic>
        <p:nvPicPr>
          <p:cNvPr id="4" name="Picture 3" descr="Combined_Data_Pipeline_and_Funnel_Lifecycle.png"/>
          <p:cNvPicPr>
            <a:picLocks noChangeAspect="1"/>
          </p:cNvPicPr>
          <p:nvPr/>
        </p:nvPicPr>
        <p:blipFill>
          <a:blip r:embed="rId2"/>
          <a:stretch>
            <a:fillRect/>
          </a:stretch>
        </p:blipFill>
        <p:spPr>
          <a:xfrm>
            <a:off x="6035040" y="1691640"/>
            <a:ext cx="5120640" cy="457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METHODOLOGY APPROACH</a:t>
            </a:r>
          </a:p>
          <a:p>
            <a:pPr>
              <a:spcBef>
                <a:spcPts val="300"/>
              </a:spcBef>
              <a:defRPr sz="2400" b="1">
                <a:solidFill>
                  <a:srgbClr val="0A2240"/>
                </a:solidFill>
                <a:latin typeface="Calibri"/>
              </a:defRPr>
            </a:pPr>
            <a:r>
              <a:t>Forecasting Model Families &amp; Baseline Control</a:t>
            </a:r>
          </a:p>
          <a:p>
            <a:pPr>
              <a:spcBef>
                <a:spcPts val="200"/>
              </a:spcBef>
              <a:defRPr sz="1200">
                <a:solidFill>
                  <a:srgbClr val="475569"/>
                </a:solidFill>
                <a:latin typeface="Calibri"/>
              </a:defRPr>
            </a:pPr>
            <a:r>
              <a:t>Four Candidate Paradigms Representing Distinct Operational Philosophies</a:t>
            </a:r>
          </a:p>
        </p:txBody>
      </p:sp>
      <p:sp>
        <p:nvSpPr>
          <p:cNvPr id="3" name="Rectangle 2"/>
          <p:cNvSpPr/>
          <p:nvPr/>
        </p:nvSpPr>
        <p:spPr>
          <a:xfrm>
            <a:off x="731520" y="1645920"/>
            <a:ext cx="10728655"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050">
                <a:solidFill>
                  <a:srgbClr val="0F172A"/>
                </a:solidFill>
              </a:defRPr>
            </a:pPr>
            <a:r>
              <a:t>• Baseline Control: Daily Persistence (t-24, MASE ≡ 1.000)   • Model 1: Deterministic Flight Schedule (ACRP 40 Convolution)</a:t>
            </a:r>
            <a:br/>
            <a:r>
              <a:t>• Model 2: Supervised ML (LightGBM + 24 OTP Features)   • Model 3: Dynamic Two-Stage Hybrid (Schedule Base + Floor Feedback)</a:t>
            </a:r>
          </a:p>
        </p:txBody>
      </p:sp>
      <p:pic>
        <p:nvPicPr>
          <p:cNvPr id="4" name="Picture 3" descr="figure_3_1_forecasting_model_families.png"/>
          <p:cNvPicPr>
            <a:picLocks noChangeAspect="1"/>
          </p:cNvPicPr>
          <p:nvPr/>
        </p:nvPicPr>
        <p:blipFill>
          <a:blip r:embed="rId2"/>
          <a:stretch>
            <a:fillRect/>
          </a:stretch>
        </p:blipFill>
        <p:spPr>
          <a:xfrm>
            <a:off x="731520" y="2625268"/>
            <a:ext cx="10728655" cy="389346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DESIGN &amp; PROCEDURE</a:t>
            </a:r>
          </a:p>
          <a:p>
            <a:pPr>
              <a:spcBef>
                <a:spcPts val="300"/>
              </a:spcBef>
              <a:defRPr sz="2400" b="1">
                <a:solidFill>
                  <a:srgbClr val="0A2240"/>
                </a:solidFill>
                <a:latin typeface="Calibri"/>
              </a:defRPr>
            </a:pPr>
            <a:r>
              <a:t>Four-Phase Research Execution Lifecycle</a:t>
            </a:r>
          </a:p>
          <a:p>
            <a:pPr>
              <a:spcBef>
                <a:spcPts val="200"/>
              </a:spcBef>
              <a:defRPr sz="1200">
                <a:solidFill>
                  <a:srgbClr val="475569"/>
                </a:solidFill>
                <a:latin typeface="Calibri"/>
              </a:defRPr>
            </a:pPr>
            <a:r>
              <a:t>From Raw Federal Asset Ingestion to Out-of-Time Holdout Verification</a:t>
            </a:r>
          </a:p>
        </p:txBody>
      </p:sp>
      <p:sp>
        <p:nvSpPr>
          <p:cNvPr id="3" name="Rectangle 2"/>
          <p:cNvSpPr/>
          <p:nvPr/>
        </p:nvSpPr>
        <p:spPr>
          <a:xfrm>
            <a:off x="731520"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PHASE 1</a:t>
            </a:r>
          </a:p>
          <a:p>
            <a:pPr>
              <a:spcBef>
                <a:spcPts val="300"/>
              </a:spcBef>
              <a:defRPr b="1" sz="1200">
                <a:solidFill>
                  <a:srgbClr val="0A2240"/>
                </a:solidFill>
              </a:defRPr>
            </a:pPr>
            <a:r>
              <a:t>DATA FOUNDATION &amp; ETL</a:t>
            </a:r>
          </a:p>
          <a:p>
            <a:pPr>
              <a:spcBef>
                <a:spcPts val="1000"/>
              </a:spcBef>
              <a:defRPr sz="1050">
                <a:solidFill>
                  <a:srgbClr val="0F172A"/>
                </a:solidFill>
              </a:defRPr>
            </a:pPr>
            <a:r>
              <a:t>Conformed 67.2M raw records from TSA FOIA, BTS OTP, T-100, and DB1B into an optimized Star Schema database, harmonizing carrier codes and airport IATA identifiers across 44 months.</a:t>
            </a:r>
          </a:p>
        </p:txBody>
      </p:sp>
      <p:sp>
        <p:nvSpPr>
          <p:cNvPr id="4" name="Rectangle 3"/>
          <p:cNvSpPr/>
          <p:nvPr/>
        </p:nvSpPr>
        <p:spPr>
          <a:xfrm>
            <a:off x="3456432"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PHASE 2</a:t>
            </a:r>
          </a:p>
          <a:p>
            <a:pPr>
              <a:spcBef>
                <a:spcPts val="300"/>
              </a:spcBef>
              <a:defRPr b="1" sz="1200">
                <a:solidFill>
                  <a:srgbClr val="0A2240"/>
                </a:solidFill>
              </a:defRPr>
            </a:pPr>
            <a:r>
              <a:t>ECONOMETRIC FILTERING</a:t>
            </a:r>
          </a:p>
          <a:p>
            <a:pPr>
              <a:spcBef>
                <a:spcPts val="1000"/>
              </a:spcBef>
              <a:defRPr sz="1050">
                <a:solidFill>
                  <a:srgbClr val="0F172A"/>
                </a:solidFill>
              </a:defRPr>
            </a:pPr>
            <a:r>
              <a:t>Executed the 4-tier filtering pipeline, screening 450+ airports to isolate the 9-airport experimental cohort across 12 carrier-exclusive screening complexes.</a:t>
            </a:r>
          </a:p>
        </p:txBody>
      </p:sp>
      <p:sp>
        <p:nvSpPr>
          <p:cNvPr id="5" name="Rectangle 4"/>
          <p:cNvSpPr/>
          <p:nvPr/>
        </p:nvSpPr>
        <p:spPr>
          <a:xfrm>
            <a:off x="6181344"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PHASE 3</a:t>
            </a:r>
          </a:p>
          <a:p>
            <a:pPr>
              <a:spcBef>
                <a:spcPts val="300"/>
              </a:spcBef>
              <a:defRPr b="1" sz="1200">
                <a:solidFill>
                  <a:srgbClr val="0A2240"/>
                </a:solidFill>
              </a:defRPr>
            </a:pPr>
            <a:r>
              <a:t>CALIBRATION &amp; ENGINEERING</a:t>
            </a:r>
          </a:p>
          <a:p>
            <a:pPr>
              <a:spcBef>
                <a:spcPts val="1000"/>
              </a:spcBef>
              <a:defRPr sz="1050">
                <a:solidFill>
                  <a:srgbClr val="0F172A"/>
                </a:solidFill>
              </a:defRPr>
            </a:pPr>
            <a:r>
              <a:t>Engineered 24 operational features, constructed an 84-cell interaction grid, and calibrated hyperparameter bounds (N_train ≥ 50 in 98.8% of feature cells).</a:t>
            </a:r>
          </a:p>
        </p:txBody>
      </p:sp>
      <p:sp>
        <p:nvSpPr>
          <p:cNvPr id="6" name="Rectangle 5"/>
          <p:cNvSpPr/>
          <p:nvPr/>
        </p:nvSpPr>
        <p:spPr>
          <a:xfrm>
            <a:off x="8906256"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PHASE 4</a:t>
            </a:r>
          </a:p>
          <a:p>
            <a:pPr>
              <a:spcBef>
                <a:spcPts val="300"/>
              </a:spcBef>
              <a:defRPr b="1" sz="1200">
                <a:solidFill>
                  <a:srgbClr val="0A2240"/>
                </a:solidFill>
              </a:defRPr>
            </a:pPr>
            <a:r>
              <a:t>MULTI-PILLAR TESTING</a:t>
            </a:r>
          </a:p>
          <a:p>
            <a:pPr>
              <a:spcBef>
                <a:spcPts val="1000"/>
              </a:spcBef>
              <a:defRPr sz="1050">
                <a:solidFill>
                  <a:srgbClr val="0F172A"/>
                </a:solidFill>
              </a:defRPr>
            </a:pPr>
            <a:r>
              <a:t>Executed out-of-time evaluation across the full 2025 holdout period, testing hypotheses H1a (Robustness), H1b (Resilience), and H1c (Generalizability).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VALIDITY SAFEGUARDS</a:t>
            </a:r>
          </a:p>
          <a:p>
            <a:pPr>
              <a:spcBef>
                <a:spcPts val="300"/>
              </a:spcBef>
              <a:defRPr sz="2400" b="1">
                <a:solidFill>
                  <a:srgbClr val="0A2240"/>
                </a:solidFill>
                <a:latin typeface="Calibri"/>
              </a:defRPr>
            </a:pPr>
            <a:r>
              <a:t>Methodological Safeguards &amp; Data Integrity</a:t>
            </a:r>
          </a:p>
          <a:p>
            <a:pPr>
              <a:spcBef>
                <a:spcPts val="200"/>
              </a:spcBef>
              <a:defRPr sz="1200">
                <a:solidFill>
                  <a:srgbClr val="475569"/>
                </a:solidFill>
                <a:latin typeface="Calibri"/>
              </a:defRPr>
            </a:pPr>
            <a:r>
              <a:t>Eliminating Leakage, Spatial Contamination, and Information Lookahead</a:t>
            </a:r>
          </a:p>
        </p:txBody>
      </p:sp>
      <p:sp>
        <p:nvSpPr>
          <p:cNvPr id="3" name="Rectangle 2"/>
          <p:cNvSpPr/>
          <p:nvPr/>
        </p:nvSpPr>
        <p:spPr>
          <a:xfrm>
            <a:off x="731520" y="1691640"/>
            <a:ext cx="521208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100">
                <a:solidFill>
                  <a:srgbClr val="2563EB"/>
                </a:solidFill>
              </a:defRPr>
            </a:pPr>
            <a:r>
              <a:t>168-HOUR PURGE BUFFER</a:t>
            </a:r>
          </a:p>
          <a:p>
            <a:pPr>
              <a:spcBef>
                <a:spcPts val="600"/>
              </a:spcBef>
              <a:defRPr sz="1050">
                <a:solidFill>
                  <a:srgbClr val="0F172A"/>
                </a:solidFill>
              </a:defRPr>
            </a:pPr>
            <a:r>
              <a:t>Strict 7-day temporal gap between training and test holdout. Eliminates autoregressive memory leakage that artificially inflates machine learning performance in time-series evaluation.</a:t>
            </a:r>
          </a:p>
        </p:txBody>
      </p:sp>
      <p:sp>
        <p:nvSpPr>
          <p:cNvPr id="4" name="Rectangle 3"/>
          <p:cNvSpPr/>
          <p:nvPr/>
        </p:nvSpPr>
        <p:spPr>
          <a:xfrm>
            <a:off x="6217920" y="1691640"/>
            <a:ext cx="521208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100">
                <a:solidFill>
                  <a:srgbClr val="2563EB"/>
                </a:solidFill>
              </a:defRPr>
            </a:pPr>
            <a:r>
              <a:t>CONNECTING PASSENGER DEFLATOR</a:t>
            </a:r>
          </a:p>
          <a:p>
            <a:pPr>
              <a:spcBef>
                <a:spcPts val="600"/>
              </a:spcBef>
              <a:defRPr sz="1050">
                <a:solidFill>
                  <a:srgbClr val="0F172A"/>
                </a:solidFill>
              </a:defRPr>
            </a:pPr>
            <a:r>
              <a:t>Applies BTS DB1B originating passenger ratios to scheduled seats. Resolves 'The Hub Disconnect' by stripping out connecting passengers who never cross the TSA checkpoint floor.</a:t>
            </a:r>
          </a:p>
        </p:txBody>
      </p:sp>
      <p:sp>
        <p:nvSpPr>
          <p:cNvPr id="5" name="Rectangle 4"/>
          <p:cNvSpPr/>
          <p:nvPr/>
        </p:nvSpPr>
        <p:spPr>
          <a:xfrm>
            <a:off x="731520" y="4114800"/>
            <a:ext cx="521208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100">
                <a:solidFill>
                  <a:srgbClr val="2563EB"/>
                </a:solidFill>
              </a:defRPr>
            </a:pPr>
            <a:r>
              <a:t>CARRIER SCREENING ISOLATION</a:t>
            </a:r>
          </a:p>
          <a:p>
            <a:pPr>
              <a:spcBef>
                <a:spcPts val="600"/>
              </a:spcBef>
              <a:defRPr sz="1050">
                <a:solidFill>
                  <a:srgbClr val="0F172A"/>
                </a:solidFill>
              </a:defRPr>
            </a:pPr>
            <a:r>
              <a:t>Restricts cohort to single-carrier terminals (e.g., EWR Terminal C, ATL South). Eliminates multi-carrier passenger mixing, establishing clean econometric identification.</a:t>
            </a:r>
          </a:p>
        </p:txBody>
      </p:sp>
      <p:sp>
        <p:nvSpPr>
          <p:cNvPr id="6" name="Rectangle 5"/>
          <p:cNvSpPr/>
          <p:nvPr/>
        </p:nvSpPr>
        <p:spPr>
          <a:xfrm>
            <a:off x="6217920" y="4114800"/>
            <a:ext cx="5212080" cy="2148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100">
                <a:solidFill>
                  <a:srgbClr val="2563EB"/>
                </a:solidFill>
              </a:defRPr>
            </a:pPr>
            <a:r>
              <a:t>STRICT INFORMATION AVAILABILITY (t-1)</a:t>
            </a:r>
          </a:p>
          <a:p>
            <a:pPr>
              <a:spcBef>
                <a:spcPts val="600"/>
              </a:spcBef>
              <a:defRPr sz="1050">
                <a:solidFill>
                  <a:srgbClr val="0F172A"/>
                </a:solidFill>
              </a:defRPr>
            </a:pPr>
            <a:r>
              <a:t>Eliminates lookahead bias. Models ingest only operational data realized prior to the prediction hour. No future departure delays or cancelled flights are used at prediction time.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RESULTS ROADMAP</a:t>
            </a:r>
          </a:p>
          <a:p>
            <a:pPr>
              <a:spcBef>
                <a:spcPts val="300"/>
              </a:spcBef>
              <a:defRPr sz="2400" b="1">
                <a:solidFill>
                  <a:srgbClr val="0A2240"/>
                </a:solidFill>
                <a:latin typeface="Calibri"/>
              </a:defRPr>
            </a:pPr>
            <a:r>
              <a:t>Chapter IV Empirical Results Architecture</a:t>
            </a:r>
          </a:p>
          <a:p>
            <a:pPr>
              <a:spcBef>
                <a:spcPts val="200"/>
              </a:spcBef>
              <a:defRPr sz="1200">
                <a:solidFill>
                  <a:srgbClr val="475569"/>
                </a:solidFill>
                <a:latin typeface="Calibri"/>
              </a:defRPr>
            </a:pPr>
            <a:r>
              <a:t>Structured Progression from Exploratory Volatility to Certified Holdout Tests</a:t>
            </a:r>
          </a:p>
        </p:txBody>
      </p:sp>
      <p:sp>
        <p:nvSpPr>
          <p:cNvPr id="3" name="Rectangle 2"/>
          <p:cNvSpPr/>
          <p:nvPr/>
        </p:nvSpPr>
        <p:spPr>
          <a:xfrm>
            <a:off x="731520"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SECTION 4.1</a:t>
            </a:r>
          </a:p>
          <a:p>
            <a:pPr>
              <a:spcBef>
                <a:spcPts val="300"/>
              </a:spcBef>
              <a:defRPr b="1" sz="1200">
                <a:solidFill>
                  <a:srgbClr val="0A2240"/>
                </a:solidFill>
              </a:defRPr>
            </a:pPr>
            <a:r>
              <a:t>EXPLORATORY DATA ANALYSIS</a:t>
            </a:r>
          </a:p>
          <a:p>
            <a:pPr>
              <a:spcBef>
                <a:spcPts val="1000"/>
              </a:spcBef>
              <a:defRPr sz="1050">
                <a:solidFill>
                  <a:srgbClr val="0F172A"/>
                </a:solidFill>
              </a:defRPr>
            </a:pPr>
            <a:r>
              <a:t>Discovery of the Values vs. Volatility decoupling (r = +0.4373 vs. r = -0.062). Establishes arrival burstiness as the primary modeling target.</a:t>
            </a:r>
          </a:p>
        </p:txBody>
      </p:sp>
      <p:sp>
        <p:nvSpPr>
          <p:cNvPr id="4" name="Rectangle 3"/>
          <p:cNvSpPr/>
          <p:nvPr/>
        </p:nvSpPr>
        <p:spPr>
          <a:xfrm>
            <a:off x="3456432"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SECTION 4.2</a:t>
            </a:r>
          </a:p>
          <a:p>
            <a:pPr>
              <a:spcBef>
                <a:spcPts val="300"/>
              </a:spcBef>
              <a:defRPr b="1" sz="1200">
                <a:solidFill>
                  <a:srgbClr val="0A2240"/>
                </a:solidFill>
              </a:defRPr>
            </a:pPr>
            <a:r>
              <a:t>FOUR-TIER FILTERING COHORT</a:t>
            </a:r>
          </a:p>
          <a:p>
            <a:pPr>
              <a:spcBef>
                <a:spcPts val="1000"/>
              </a:spcBef>
              <a:defRPr sz="1050">
                <a:solidFill>
                  <a:srgbClr val="0F172A"/>
                </a:solidFill>
              </a:defRPr>
            </a:pPr>
            <a:r>
              <a:t>Execution of the 4-tier filtering pipeline. Isolates the 9-airport experimental cohort across 12 carrier-exclusive complexes with balanced representation.</a:t>
            </a:r>
          </a:p>
        </p:txBody>
      </p:sp>
      <p:sp>
        <p:nvSpPr>
          <p:cNvPr id="5" name="Rectangle 4"/>
          <p:cNvSpPr/>
          <p:nvPr/>
        </p:nvSpPr>
        <p:spPr>
          <a:xfrm>
            <a:off x="6181344"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SECTION 4.3</a:t>
            </a:r>
          </a:p>
          <a:p>
            <a:pPr>
              <a:spcBef>
                <a:spcPts val="300"/>
              </a:spcBef>
              <a:defRPr b="1" sz="1200">
                <a:solidFill>
                  <a:srgbClr val="0A2240"/>
                </a:solidFill>
              </a:defRPr>
            </a:pPr>
            <a:r>
              <a:t>MODEL DEVELOPMENT &amp; 2025 HOLDOUT</a:t>
            </a:r>
          </a:p>
          <a:p>
            <a:pPr>
              <a:spcBef>
                <a:spcPts val="1000"/>
              </a:spcBef>
              <a:defRPr sz="1050">
                <a:solidFill>
                  <a:srgbClr val="0F172A"/>
                </a:solidFill>
              </a:defRPr>
            </a:pPr>
            <a:r>
              <a:t>Feature engineering across 24 attributes and execution of the out-of-time 2025 holdout benchmark suite (Table 4.10).</a:t>
            </a:r>
          </a:p>
        </p:txBody>
      </p:sp>
      <p:sp>
        <p:nvSpPr>
          <p:cNvPr id="6" name="Rectangle 5"/>
          <p:cNvSpPr/>
          <p:nvPr/>
        </p:nvSpPr>
        <p:spPr>
          <a:xfrm>
            <a:off x="8906256"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SECTION 4.4</a:t>
            </a:r>
          </a:p>
          <a:p>
            <a:pPr>
              <a:spcBef>
                <a:spcPts val="300"/>
              </a:spcBef>
              <a:defRPr b="1" sz="1200">
                <a:solidFill>
                  <a:srgbClr val="0A2240"/>
                </a:solidFill>
              </a:defRPr>
            </a:pPr>
            <a:r>
              <a:t>MULTI-PILLAR HYPOTHESIS TESTING</a:t>
            </a:r>
          </a:p>
          <a:p>
            <a:pPr>
              <a:spcBef>
                <a:spcPts val="1000"/>
              </a:spcBef>
              <a:defRPr sz="1050">
                <a:solidFill>
                  <a:srgbClr val="0F172A"/>
                </a:solidFill>
              </a:defRPr>
            </a:pPr>
            <a:r>
              <a:t>Formal testing of H1a (Robustness), H1b (Resilience), and H1c (Generalizability) proving the Master Asymmetric Trade-Off (Table 4.11).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DESCRIPTIVE STATISTICS</a:t>
            </a:r>
          </a:p>
          <a:p>
            <a:pPr>
              <a:spcBef>
                <a:spcPts val="300"/>
              </a:spcBef>
              <a:defRPr sz="2400" b="1">
                <a:solidFill>
                  <a:srgbClr val="0A2240"/>
                </a:solidFill>
                <a:latin typeface="Calibri"/>
              </a:defRPr>
            </a:pPr>
            <a:r>
              <a:t>Empirical Baseline: 9-Airport Cohort vs. Top 25</a:t>
            </a:r>
          </a:p>
          <a:p>
            <a:pPr>
              <a:spcBef>
                <a:spcPts val="200"/>
              </a:spcBef>
              <a:defRPr sz="1200">
                <a:solidFill>
                  <a:srgbClr val="475569"/>
                </a:solidFill>
                <a:latin typeface="Calibri"/>
              </a:defRPr>
            </a:pPr>
            <a:r>
              <a:t>Isolating High-Stress Operational Hubs Across U.S. Commercial Aviation</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Flight Movement Density: </a:t>
            </a:r>
            <a:r>
              <a:rPr sz="1300" b="0">
                <a:solidFill>
                  <a:srgbClr val="0F172A"/>
                </a:solidFill>
                <a:latin typeface="Calibri"/>
              </a:rPr>
              <a:t>+16.9% higher flight volume (224,576 annual flights vs. 192,160 top-25 mean).</a:t>
            </a:r>
          </a:p>
          <a:p>
            <a:pPr>
              <a:spcBef>
                <a:spcPts val="1000"/>
              </a:spcBef>
              <a:defRPr sz="1350" b="1">
                <a:solidFill>
                  <a:srgbClr val="0A2240"/>
                </a:solidFill>
                <a:latin typeface="Calibri"/>
              </a:defRPr>
            </a:pPr>
            <a:r>
              <a:t>•  Cancellation Churn: </a:t>
            </a:r>
            <a:r>
              <a:rPr sz="1300" b="0">
                <a:solidFill>
                  <a:srgbClr val="0F172A"/>
                </a:solidFill>
                <a:latin typeface="Calibri"/>
              </a:rPr>
              <a:t>+14.1% higher cancellation rate (1.63% vs. 1.43% top-25 mean).</a:t>
            </a:r>
          </a:p>
          <a:p>
            <a:pPr>
              <a:spcBef>
                <a:spcPts val="1000"/>
              </a:spcBef>
              <a:defRPr sz="1350" b="1">
                <a:solidFill>
                  <a:srgbClr val="0A2240"/>
                </a:solidFill>
                <a:latin typeface="Calibri"/>
              </a:defRPr>
            </a:pPr>
            <a:r>
              <a:t>•  True Originating Volume: </a:t>
            </a:r>
            <a:r>
              <a:rPr sz="1300" b="0">
                <a:solidFill>
                  <a:srgbClr val="0F172A"/>
                </a:solidFill>
                <a:latin typeface="Calibri"/>
              </a:rPr>
              <a:t>+25.0% higher local originating demand (16.4M vs. 13.1M pax).</a:t>
            </a:r>
          </a:p>
          <a:p>
            <a:pPr>
              <a:spcBef>
                <a:spcPts val="1000"/>
              </a:spcBef>
              <a:defRPr sz="1350" b="1">
                <a:solidFill>
                  <a:srgbClr val="0A2240"/>
                </a:solidFill>
                <a:latin typeface="Calibri"/>
              </a:defRPr>
            </a:pPr>
            <a:r>
              <a:t>•  Elevated Volatility: </a:t>
            </a:r>
            <a:r>
              <a:rPr sz="1300" b="0">
                <a:solidFill>
                  <a:srgbClr val="0F172A"/>
                </a:solidFill>
                <a:latin typeface="Calibri"/>
              </a:rPr>
              <a:t>CV_TSA = 0.8728 vs. 0.8250 top-25 mean (+5.8% arrival burstiness).</a:t>
            </a:r>
          </a:p>
          <a:p>
            <a:pPr>
              <a:spcBef>
                <a:spcPts val="1000"/>
              </a:spcBef>
              <a:defRPr sz="1350" b="1">
                <a:solidFill>
                  <a:srgbClr val="0A2240"/>
                </a:solidFill>
                <a:latin typeface="Calibri"/>
              </a:defRPr>
            </a:pPr>
            <a:r>
              <a:t>•  Statistical Stress Testing: </a:t>
            </a:r>
            <a:r>
              <a:rPr sz="1300" b="0">
                <a:solidFill>
                  <a:srgbClr val="0F172A"/>
                </a:solidFill>
                <a:latin typeface="Calibri"/>
              </a:rPr>
              <a:t>The 9-airport cohort represents genuine high-congestion pressure fronts, providing robust power for resilience testing.</a:t>
            </a:r>
          </a:p>
        </p:txBody>
      </p:sp>
      <p:pic>
        <p:nvPicPr>
          <p:cNvPr id="4" name="Picture 3" descr="Power of 9 airports.png"/>
          <p:cNvPicPr>
            <a:picLocks noChangeAspect="1"/>
          </p:cNvPicPr>
          <p:nvPr/>
        </p:nvPicPr>
        <p:blipFill>
          <a:blip r:embed="rId2"/>
          <a:stretch>
            <a:fillRect/>
          </a:stretch>
        </p:blipFill>
        <p:spPr>
          <a:xfrm>
            <a:off x="5967030" y="1691640"/>
            <a:ext cx="5256658" cy="4572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COHORT SELECTION</a:t>
            </a:r>
          </a:p>
          <a:p>
            <a:pPr>
              <a:spcBef>
                <a:spcPts val="300"/>
              </a:spcBef>
              <a:defRPr sz="2400" b="1">
                <a:solidFill>
                  <a:srgbClr val="0A2240"/>
                </a:solidFill>
                <a:latin typeface="Calibri"/>
              </a:defRPr>
            </a:pPr>
            <a:r>
              <a:t>The Four-Tier Purposive Filtering Pipeline</a:t>
            </a:r>
          </a:p>
          <a:p>
            <a:pPr>
              <a:spcBef>
                <a:spcPts val="200"/>
              </a:spcBef>
              <a:defRPr sz="1200">
                <a:solidFill>
                  <a:srgbClr val="475569"/>
                </a:solidFill>
                <a:latin typeface="Calibri"/>
              </a:defRPr>
            </a:pPr>
            <a:r>
              <a:t>Methodological Funnel from 450+ Commercial Airports to 12 Carrier Complexes</a:t>
            </a:r>
          </a:p>
        </p:txBody>
      </p:sp>
      <p:sp>
        <p:nvSpPr>
          <p:cNvPr id="3" name="Rectangle 2"/>
          <p:cNvSpPr/>
          <p:nvPr/>
        </p:nvSpPr>
        <p:spPr>
          <a:xfrm>
            <a:off x="731520"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TIER 1</a:t>
            </a:r>
          </a:p>
          <a:p>
            <a:pPr>
              <a:spcBef>
                <a:spcPts val="200"/>
              </a:spcBef>
              <a:defRPr b="1" sz="1200">
                <a:solidFill>
                  <a:srgbClr val="0A2240"/>
                </a:solidFill>
              </a:defRPr>
            </a:pPr>
            <a:r>
              <a:t>MACRO SCALE</a:t>
            </a:r>
          </a:p>
          <a:p>
            <a:pPr>
              <a:spcBef>
                <a:spcPts val="200"/>
              </a:spcBef>
              <a:defRPr b="1" sz="950">
                <a:solidFill>
                  <a:srgbClr val="475569"/>
                </a:solidFill>
              </a:defRPr>
            </a:pPr>
            <a:r>
              <a:t>Commercial Hub Volume</a:t>
            </a:r>
          </a:p>
          <a:p>
            <a:pPr>
              <a:spcBef>
                <a:spcPts val="1000"/>
              </a:spcBef>
              <a:defRPr sz="1000">
                <a:solidFill>
                  <a:srgbClr val="0F172A"/>
                </a:solidFill>
              </a:defRPr>
            </a:pPr>
            <a:r>
              <a:t>Filtered 450+ commercial airports to the Top 25 large hubs. Captures 68% of total U.S. commercial passenger traffic.</a:t>
            </a:r>
          </a:p>
        </p:txBody>
      </p:sp>
      <p:sp>
        <p:nvSpPr>
          <p:cNvPr id="4" name="Rectangle 3"/>
          <p:cNvSpPr/>
          <p:nvPr/>
        </p:nvSpPr>
        <p:spPr>
          <a:xfrm>
            <a:off x="3456432"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TIER 2</a:t>
            </a:r>
          </a:p>
          <a:p>
            <a:pPr>
              <a:spcBef>
                <a:spcPts val="200"/>
              </a:spcBef>
              <a:defRPr b="1" sz="1200">
                <a:solidFill>
                  <a:srgbClr val="0A2240"/>
                </a:solidFill>
              </a:defRPr>
            </a:pPr>
            <a:r>
              <a:t>MESO CARRIER</a:t>
            </a:r>
          </a:p>
          <a:p>
            <a:pPr>
              <a:spcBef>
                <a:spcPts val="200"/>
              </a:spcBef>
              <a:defRPr b="1" sz="950">
                <a:solidFill>
                  <a:srgbClr val="475569"/>
                </a:solidFill>
              </a:defRPr>
            </a:pPr>
            <a:r>
              <a:t>Legacy Carrier Presence</a:t>
            </a:r>
          </a:p>
          <a:p>
            <a:pPr>
              <a:spcBef>
                <a:spcPts val="1000"/>
              </a:spcBef>
              <a:defRPr sz="1000">
                <a:solidFill>
                  <a:srgbClr val="0F172A"/>
                </a:solidFill>
              </a:defRPr>
            </a:pPr>
            <a:r>
              <a:t>Screened for continuous, dominant mainline presence of American, Delta, or United. Eliminated JFK due to terminal fragmentation.</a:t>
            </a:r>
          </a:p>
        </p:txBody>
      </p:sp>
      <p:sp>
        <p:nvSpPr>
          <p:cNvPr id="5" name="Rectangle 4"/>
          <p:cNvSpPr/>
          <p:nvPr/>
        </p:nvSpPr>
        <p:spPr>
          <a:xfrm>
            <a:off x="6181344"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TIER 3</a:t>
            </a:r>
          </a:p>
          <a:p>
            <a:pPr>
              <a:spcBef>
                <a:spcPts val="200"/>
              </a:spcBef>
              <a:defRPr b="1" sz="1200">
                <a:solidFill>
                  <a:srgbClr val="0A2240"/>
                </a:solidFill>
              </a:defRPr>
            </a:pPr>
            <a:r>
              <a:t>MICRO GEOMETRY</a:t>
            </a:r>
          </a:p>
          <a:p>
            <a:pPr>
              <a:spcBef>
                <a:spcPts val="200"/>
              </a:spcBef>
              <a:defRPr b="1" sz="950">
                <a:solidFill>
                  <a:srgbClr val="475569"/>
                </a:solidFill>
              </a:defRPr>
            </a:pPr>
            <a:r>
              <a:t>Physical Carrier Isolation</a:t>
            </a:r>
          </a:p>
          <a:p>
            <a:pPr>
              <a:spcBef>
                <a:spcPts val="1000"/>
              </a:spcBef>
              <a:defRPr sz="1000">
                <a:solidFill>
                  <a:srgbClr val="0F172A"/>
                </a:solidFill>
              </a:defRPr>
            </a:pPr>
            <a:r>
              <a:t>Filtered out consolidated, multi-carrier checkpoints. Eliminated SLC due to unified common-use checkpoint floor.</a:t>
            </a:r>
          </a:p>
        </p:txBody>
      </p:sp>
      <p:sp>
        <p:nvSpPr>
          <p:cNvPr id="6" name="Rectangle 5"/>
          <p:cNvSpPr/>
          <p:nvPr/>
        </p:nvSpPr>
        <p:spPr>
          <a:xfrm>
            <a:off x="8906256" y="1691640"/>
            <a:ext cx="2542032"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b="1" sz="1000">
                <a:solidFill>
                  <a:srgbClr val="2563EB"/>
                </a:solidFill>
              </a:defRPr>
            </a:pPr>
            <a:r>
              <a:t>TIER 4</a:t>
            </a:r>
          </a:p>
          <a:p>
            <a:pPr>
              <a:spcBef>
                <a:spcPts val="200"/>
              </a:spcBef>
              <a:defRPr b="1" sz="1200">
                <a:solidFill>
                  <a:srgbClr val="0A2240"/>
                </a:solidFill>
              </a:defRPr>
            </a:pPr>
            <a:r>
              <a:t>COHORT BALANCE</a:t>
            </a:r>
          </a:p>
          <a:p>
            <a:pPr>
              <a:spcBef>
                <a:spcPts val="200"/>
              </a:spcBef>
              <a:defRPr b="1" sz="950">
                <a:solidFill>
                  <a:srgbClr val="475569"/>
                </a:solidFill>
              </a:defRPr>
            </a:pPr>
            <a:r>
              <a:t>Factorial Representation</a:t>
            </a:r>
          </a:p>
          <a:p>
            <a:pPr>
              <a:spcBef>
                <a:spcPts val="1000"/>
              </a:spcBef>
              <a:defRPr sz="1000">
                <a:solidFill>
                  <a:srgbClr val="0F172A"/>
                </a:solidFill>
              </a:defRPr>
            </a:pPr>
            <a:r>
              <a:t>Finalized 9 airports across 12 carrier-exclusive complexes, balancing 4 operational clusters across the major airline alliances.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COHORT SPECIFICATION</a:t>
            </a:r>
          </a:p>
          <a:p>
            <a:pPr>
              <a:spcBef>
                <a:spcPts val="300"/>
              </a:spcBef>
              <a:defRPr sz="2400" b="1">
                <a:solidFill>
                  <a:srgbClr val="0A2240"/>
                </a:solidFill>
                <a:latin typeface="Calibri"/>
              </a:defRPr>
            </a:pPr>
            <a:r>
              <a:t>The 9-Airport Experimental Cohort Specification</a:t>
            </a:r>
          </a:p>
          <a:p>
            <a:pPr>
              <a:spcBef>
                <a:spcPts val="200"/>
              </a:spcBef>
              <a:defRPr sz="1200">
                <a:solidFill>
                  <a:srgbClr val="475569"/>
                </a:solidFill>
                <a:latin typeface="Calibri"/>
              </a:defRPr>
            </a:pPr>
            <a:r>
              <a:t>12 Carrier-Exclusive Terminal Complexes Across Major Commercial Alliances</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Balanced Legacy Representation: </a:t>
            </a:r>
            <a:r>
              <a:rPr sz="1300" b="0">
                <a:solidFill>
                  <a:srgbClr val="0F172A"/>
                </a:solidFill>
                <a:latin typeface="Calibri"/>
              </a:rPr>
              <a:t>12 carrier-exclusive complexes spanning American (5), Delta (5), and United (4).</a:t>
            </a:r>
          </a:p>
          <a:p>
            <a:pPr>
              <a:spcBef>
                <a:spcPts val="1000"/>
              </a:spcBef>
              <a:defRPr sz="1350" b="1">
                <a:solidFill>
                  <a:srgbClr val="0A2240"/>
                </a:solidFill>
                <a:latin typeface="Calibri"/>
              </a:defRPr>
            </a:pPr>
            <a:r>
              <a:t>•  Delta Air Lines Complexes: </a:t>
            </a:r>
            <a:r>
              <a:rPr sz="1300" b="0">
                <a:solidFill>
                  <a:srgbClr val="0F172A"/>
                </a:solidFill>
                <a:latin typeface="Calibri"/>
              </a:rPr>
              <a:t>ATL (Domestic South), BOS (Terminal A), DTW (McNamara Terminal), LAX (Terminal 3), LGA (Terminal C).</a:t>
            </a:r>
          </a:p>
          <a:p>
            <a:pPr>
              <a:spcBef>
                <a:spcPts val="1000"/>
              </a:spcBef>
              <a:defRPr sz="1350" b="1">
                <a:solidFill>
                  <a:srgbClr val="0A2240"/>
                </a:solidFill>
                <a:latin typeface="Calibri"/>
              </a:defRPr>
            </a:pPr>
            <a:r>
              <a:t>•  American Airlines Complexes: </a:t>
            </a:r>
            <a:r>
              <a:rPr sz="1300" b="0">
                <a:solidFill>
                  <a:srgbClr val="0F172A"/>
                </a:solidFill>
                <a:latin typeface="Calibri"/>
              </a:rPr>
              <a:t>DFW (Terminals A, B, C), BOS (Terminal B), LAX (Terminal 4), ORD (Terminal 3), PHL (Terminals B/C).</a:t>
            </a:r>
          </a:p>
          <a:p>
            <a:pPr>
              <a:spcBef>
                <a:spcPts val="1000"/>
              </a:spcBef>
              <a:defRPr sz="1350" b="1">
                <a:solidFill>
                  <a:srgbClr val="0A2240"/>
                </a:solidFill>
                <a:latin typeface="Calibri"/>
              </a:defRPr>
            </a:pPr>
            <a:r>
              <a:t>•  United Airlines Complexes: </a:t>
            </a:r>
            <a:r>
              <a:rPr sz="1300" b="0">
                <a:solidFill>
                  <a:srgbClr val="0F172A"/>
                </a:solidFill>
                <a:latin typeface="Calibri"/>
              </a:rPr>
              <a:t>EWR (Terminal C), LAX (Terminal 7), ORD (Terminal 1).</a:t>
            </a:r>
          </a:p>
          <a:p>
            <a:pPr>
              <a:spcBef>
                <a:spcPts val="1000"/>
              </a:spcBef>
              <a:defRPr sz="1350" b="1">
                <a:solidFill>
                  <a:srgbClr val="0A2240"/>
                </a:solidFill>
                <a:latin typeface="Calibri"/>
              </a:defRPr>
            </a:pPr>
            <a:r>
              <a:t>•  Econometric Identification: </a:t>
            </a:r>
            <a:r>
              <a:rPr sz="1300" b="0">
                <a:solidFill>
                  <a:srgbClr val="0F172A"/>
                </a:solidFill>
                <a:latin typeface="Calibri"/>
              </a:rPr>
              <a:t>Single-carrier exclusive checkpoints eliminate inter-airline passenger mixing.</a:t>
            </a:r>
          </a:p>
        </p:txBody>
      </p:sp>
      <p:pic>
        <p:nvPicPr>
          <p:cNvPr id="4" name="Picture 3" descr="airport clusters.png"/>
          <p:cNvPicPr>
            <a:picLocks noChangeAspect="1"/>
          </p:cNvPicPr>
          <p:nvPr/>
        </p:nvPicPr>
        <p:blipFill>
          <a:blip r:embed="rId2"/>
          <a:stretch>
            <a:fillRect/>
          </a:stretch>
        </p:blipFill>
        <p:spPr>
          <a:xfrm>
            <a:off x="5760720" y="2018771"/>
            <a:ext cx="5669280" cy="391773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MACRO REGIMES</a:t>
            </a:r>
          </a:p>
          <a:p>
            <a:pPr>
              <a:spcBef>
                <a:spcPts val="300"/>
              </a:spcBef>
              <a:defRPr sz="2400" b="1">
                <a:solidFill>
                  <a:srgbClr val="0A2240"/>
                </a:solidFill>
                <a:latin typeface="Calibri"/>
              </a:defRPr>
            </a:pPr>
            <a:r>
              <a:t>Annual Seasonal Volatility Regimes</a:t>
            </a:r>
          </a:p>
          <a:p>
            <a:pPr>
              <a:spcBef>
                <a:spcPts val="200"/>
              </a:spcBef>
              <a:defRPr sz="1200">
                <a:solidFill>
                  <a:srgbClr val="475569"/>
                </a:solidFill>
                <a:latin typeface="Calibri"/>
              </a:defRPr>
            </a:pPr>
            <a:r>
              <a:t>Macro Travel Fluctuations and Convective Weather Disruptions (Table 4.3b)</a:t>
            </a:r>
          </a:p>
        </p:txBody>
      </p:sp>
      <p:sp>
        <p:nvSpPr>
          <p:cNvPr id="3" name="Rectangle 2"/>
          <p:cNvSpPr/>
          <p:nvPr/>
        </p:nvSpPr>
        <p:spPr>
          <a:xfrm>
            <a:off x="731520" y="1645920"/>
            <a:ext cx="10728655" cy="822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050">
                <a:solidFill>
                  <a:srgbClr val="0F172A"/>
                </a:solidFill>
              </a:defRPr>
            </a:pPr>
            <a:r>
              <a:t>• Off-Peak Winter (Wk 1–8, 45–46): Low volume, calm operations   • Mid-Peak Spring (Wk 9–21, 36–44): Business travel</a:t>
            </a:r>
            <a:br/>
            <a:r>
              <a:t>• Summer Convective Peak (Wk 22–35): Maximum delay dispersion (σ = 68.4m)   • Holiday Travel Peaks (Wk 47–52): Leisure surges</a:t>
            </a:r>
          </a:p>
        </p:txBody>
      </p:sp>
      <p:pic>
        <p:nvPicPr>
          <p:cNvPr id="4" name="Picture 3" descr="figure_4_2_annual_volatility_clusters.png"/>
          <p:cNvPicPr>
            <a:picLocks noChangeAspect="1"/>
          </p:cNvPicPr>
          <p:nvPr/>
        </p:nvPicPr>
        <p:blipFill>
          <a:blip r:embed="rId2"/>
          <a:stretch>
            <a:fillRect/>
          </a:stretch>
        </p:blipFill>
        <p:spPr>
          <a:xfrm>
            <a:off x="853287" y="2606040"/>
            <a:ext cx="10485120" cy="3931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DIURNAL &amp; DOW CYCLES</a:t>
            </a:r>
          </a:p>
          <a:p>
            <a:pPr>
              <a:spcBef>
                <a:spcPts val="300"/>
              </a:spcBef>
              <a:defRPr sz="2400" b="1">
                <a:solidFill>
                  <a:srgbClr val="0A2240"/>
                </a:solidFill>
                <a:latin typeface="Calibri"/>
              </a:defRPr>
            </a:pPr>
            <a:r>
              <a:t>Day-of-Week Volatility &amp; Bimodal Diurnal Peaks</a:t>
            </a:r>
          </a:p>
          <a:p>
            <a:pPr>
              <a:spcBef>
                <a:spcPts val="200"/>
              </a:spcBef>
              <a:defRPr sz="1200">
                <a:solidFill>
                  <a:srgbClr val="475569"/>
                </a:solidFill>
                <a:latin typeface="Calibri"/>
              </a:defRPr>
            </a:pPr>
            <a:r>
              <a:t>Temporal Asynchrony Between Passenger Screening and Aircraft Delays</a:t>
            </a:r>
          </a:p>
        </p:txBody>
      </p:sp>
      <p:sp>
        <p:nvSpPr>
          <p:cNvPr id="3" name="TextBox 2"/>
          <p:cNvSpPr txBox="1"/>
          <p:nvPr/>
        </p:nvSpPr>
        <p:spPr>
          <a:xfrm>
            <a:off x="731520" y="1691640"/>
            <a:ext cx="4754880" cy="4572000"/>
          </a:xfrm>
          <a:prstGeom prst="rect">
            <a:avLst/>
          </a:prstGeom>
          <a:noFill/>
        </p:spPr>
        <p:txBody>
          <a:bodyPr wrap="square" lIns="0" rIns="0" tIns="0" bIns="0">
            <a:spAutoFit/>
          </a:bodyPr>
          <a:lstStyle/>
          <a:p>
            <a:pPr>
              <a:defRPr sz="1350" b="1">
                <a:solidFill>
                  <a:srgbClr val="0A2240"/>
                </a:solidFill>
                <a:latin typeface="Calibri"/>
              </a:defRPr>
            </a:pPr>
            <a:r>
              <a:t>•  Monday Morning Surge: </a:t>
            </a:r>
            <a:r>
              <a:rPr sz="1300" b="0">
                <a:solidFill>
                  <a:srgbClr val="0F172A"/>
                </a:solidFill>
                <a:latin typeface="Calibri"/>
              </a:rPr>
              <a:t>Peak early morning screening (05:00–08:00); flight departures operate on-time (on-time rate &gt; 88%).</a:t>
            </a:r>
          </a:p>
          <a:p>
            <a:pPr>
              <a:spcBef>
                <a:spcPts val="1000"/>
              </a:spcBef>
              <a:defRPr sz="1350" b="1">
                <a:solidFill>
                  <a:srgbClr val="0A2240"/>
                </a:solidFill>
                <a:latin typeface="Calibri"/>
              </a:defRPr>
            </a:pPr>
            <a:r>
              <a:t>•  Sunday Evening Cascades: </a:t>
            </a:r>
            <a:r>
              <a:rPr sz="1300" b="0">
                <a:solidFill>
                  <a:srgbClr val="0F172A"/>
                </a:solidFill>
                <a:latin typeface="Calibri"/>
              </a:rPr>
              <a:t>Airside delay cascades ripple into evening banks; departure delay dispersion expands by +35%.</a:t>
            </a:r>
          </a:p>
          <a:p>
            <a:pPr>
              <a:spcBef>
                <a:spcPts val="1000"/>
              </a:spcBef>
              <a:defRPr sz="1350" b="1">
                <a:solidFill>
                  <a:srgbClr val="0A2240"/>
                </a:solidFill>
                <a:latin typeface="Calibri"/>
              </a:defRPr>
            </a:pPr>
            <a:r>
              <a:t>•  Bimodal Diurnal Waves: </a:t>
            </a:r>
            <a:r>
              <a:rPr sz="1300" b="0">
                <a:solidFill>
                  <a:srgbClr val="0F172A"/>
                </a:solidFill>
                <a:latin typeface="Calibri"/>
              </a:rPr>
              <a:t>Morning peak (05:00–08:00) reaches 11,380 pax/hr; evening peak (14:00–22:00) sees flight delays exceed 63 minutes.</a:t>
            </a:r>
          </a:p>
          <a:p>
            <a:pPr>
              <a:spcBef>
                <a:spcPts val="1000"/>
              </a:spcBef>
              <a:defRPr sz="1350" b="1">
                <a:solidFill>
                  <a:srgbClr val="0A2240"/>
                </a:solidFill>
                <a:latin typeface="Calibri"/>
              </a:defRPr>
            </a:pPr>
            <a:r>
              <a:t>•  Airside-Landside Asynchrony: </a:t>
            </a:r>
            <a:r>
              <a:rPr sz="1300" b="0">
                <a:solidFill>
                  <a:srgbClr val="0F172A"/>
                </a:solidFill>
                <a:latin typeface="Calibri"/>
              </a:rPr>
              <a:t>Checkpoint queuing friction is decoupled from contemporaneous flight departures.</a:t>
            </a:r>
          </a:p>
        </p:txBody>
      </p:sp>
      <p:pic>
        <p:nvPicPr>
          <p:cNvPr id="4" name="Picture 3" descr="figure_4_3_day_of_week_volatility_dynamics.png"/>
          <p:cNvPicPr>
            <a:picLocks noChangeAspect="1"/>
          </p:cNvPicPr>
          <p:nvPr/>
        </p:nvPicPr>
        <p:blipFill>
          <a:blip r:embed="rId2"/>
          <a:stretch>
            <a:fillRect/>
          </a:stretch>
        </p:blipFill>
        <p:spPr>
          <a:xfrm>
            <a:off x="5760720" y="1748790"/>
            <a:ext cx="5669280" cy="2125980"/>
          </a:xfrm>
          <a:prstGeom prst="rect">
            <a:avLst/>
          </a:prstGeom>
        </p:spPr>
      </p:pic>
      <p:pic>
        <p:nvPicPr>
          <p:cNvPr id="5" name="Picture 4" descr="figure_4_4_diurnal_hourly_volatility_clusters.png"/>
          <p:cNvPicPr>
            <a:picLocks noChangeAspect="1"/>
          </p:cNvPicPr>
          <p:nvPr/>
        </p:nvPicPr>
        <p:blipFill>
          <a:blip r:embed="rId3"/>
          <a:stretch>
            <a:fillRect/>
          </a:stretch>
        </p:blipFill>
        <p:spPr>
          <a:xfrm>
            <a:off x="5907024" y="4069080"/>
            <a:ext cx="5376672" cy="2240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LEAD-LAG DYNAMICS</a:t>
            </a:r>
          </a:p>
          <a:p>
            <a:pPr>
              <a:spcBef>
                <a:spcPts val="300"/>
              </a:spcBef>
              <a:defRPr sz="2400" b="1">
                <a:solidFill>
                  <a:srgbClr val="0A2240"/>
                </a:solidFill>
                <a:latin typeface="Calibri"/>
              </a:defRPr>
            </a:pPr>
            <a:r>
              <a:t>Empirical Passenger Show-Up Curve Convolution</a:t>
            </a:r>
          </a:p>
          <a:p>
            <a:pPr>
              <a:spcBef>
                <a:spcPts val="200"/>
              </a:spcBef>
              <a:defRPr sz="1200">
                <a:solidFill>
                  <a:srgbClr val="475569"/>
                </a:solidFill>
                <a:latin typeface="Calibri"/>
              </a:defRPr>
            </a:pPr>
            <a:r>
              <a:t>Resolving the Optimal Lead Time for Checkpoint Arrival Forecasting</a:t>
            </a:r>
          </a:p>
        </p:txBody>
      </p:sp>
      <p:pic>
        <p:nvPicPr>
          <p:cNvPr id="3" name="Picture 2" descr="formula_lead_lag.png"/>
          <p:cNvPicPr>
            <a:picLocks noChangeAspect="1"/>
          </p:cNvPicPr>
          <p:nvPr/>
        </p:nvPicPr>
        <p:blipFill>
          <a:blip r:embed="rId2"/>
          <a:stretch>
            <a:fillRect/>
          </a:stretch>
        </p:blipFill>
        <p:spPr>
          <a:xfrm>
            <a:off x="731520" y="1672547"/>
            <a:ext cx="4754880" cy="861144"/>
          </a:xfrm>
          <a:prstGeom prst="rect">
            <a:avLst/>
          </a:prstGeom>
        </p:spPr>
      </p:pic>
      <p:sp>
        <p:nvSpPr>
          <p:cNvPr id="4" name="TextBox 3"/>
          <p:cNvSpPr txBox="1"/>
          <p:nvPr/>
        </p:nvSpPr>
        <p:spPr>
          <a:xfrm>
            <a:off x="731520" y="2743200"/>
            <a:ext cx="4754880" cy="3566160"/>
          </a:xfrm>
          <a:prstGeom prst="rect">
            <a:avLst/>
          </a:prstGeom>
          <a:noFill/>
        </p:spPr>
        <p:txBody>
          <a:bodyPr wrap="square" lIns="0" rIns="0" tIns="0" bIns="0">
            <a:spAutoFit/>
          </a:bodyPr>
          <a:lstStyle/>
          <a:p>
            <a:pPr>
              <a:defRPr sz="1350" b="1">
                <a:solidFill>
                  <a:srgbClr val="0A2240"/>
                </a:solidFill>
                <a:latin typeface="Calibri"/>
              </a:defRPr>
            </a:pPr>
            <a:r>
              <a:t>•  Contemporaneous Fails: </a:t>
            </a:r>
            <a:r>
              <a:rPr sz="1300" b="0">
                <a:solidFill>
                  <a:srgbClr val="0F172A"/>
                </a:solidFill>
                <a:latin typeface="Calibri"/>
              </a:rPr>
              <a:t>Flight schedules at departure hour t explain under 20% of passenger screening arrivals (R² = 0.1982).</a:t>
            </a:r>
          </a:p>
          <a:p>
            <a:pPr>
              <a:spcBef>
                <a:spcPts val="1000"/>
              </a:spcBef>
              <a:defRPr sz="1350" b="1">
                <a:solidFill>
                  <a:srgbClr val="0A2240"/>
                </a:solidFill>
                <a:latin typeface="Calibri"/>
              </a:defRPr>
            </a:pPr>
            <a:r>
              <a:t>•  2-Hour Lead Optimum: </a:t>
            </a:r>
            <a:r>
              <a:rPr sz="1300" b="0">
                <a:solidFill>
                  <a:srgbClr val="0F172A"/>
                </a:solidFill>
                <a:latin typeface="Calibri"/>
              </a:rPr>
              <a:t>Correlation peaks at a 2-hour lead (t+2), explaining 53.5% of variance (F = 142.80, p &lt; 0.001).</a:t>
            </a:r>
          </a:p>
          <a:p>
            <a:pPr>
              <a:spcBef>
                <a:spcPts val="1000"/>
              </a:spcBef>
              <a:defRPr sz="1350" b="1">
                <a:solidFill>
                  <a:srgbClr val="0A2240"/>
                </a:solidFill>
                <a:latin typeface="Calibri"/>
              </a:defRPr>
            </a:pPr>
            <a:r>
              <a:t>•  ACRP Report 40 Validation: </a:t>
            </a:r>
            <a:r>
              <a:rPr sz="1300" b="0">
                <a:solidFill>
                  <a:srgbClr val="0F172A"/>
                </a:solidFill>
                <a:latin typeface="Calibri"/>
              </a:rPr>
              <a:t>Empirically validates lognormal passenger arrival curves: median lead time is 105 min domestic, 135 min leisure.</a:t>
            </a:r>
          </a:p>
          <a:p>
            <a:pPr>
              <a:spcBef>
                <a:spcPts val="1000"/>
              </a:spcBef>
              <a:defRPr sz="1350" b="1">
                <a:solidFill>
                  <a:srgbClr val="0A2240"/>
                </a:solidFill>
                <a:latin typeface="Calibri"/>
              </a:defRPr>
            </a:pPr>
            <a:r>
              <a:t>•  Actionable TSA Staffing: </a:t>
            </a:r>
            <a:r>
              <a:rPr sz="1300" b="0">
                <a:solidFill>
                  <a:srgbClr val="0F172A"/>
                </a:solidFill>
                <a:latin typeface="Calibri"/>
              </a:rPr>
              <a:t>Checkpoint supervisors must convolve flight banks at t+2 to set screening lane capacity.</a:t>
            </a:r>
          </a:p>
        </p:txBody>
      </p:sp>
      <p:pic>
        <p:nvPicPr>
          <p:cNvPr id="5" name="Picture 4" descr="figure_4_5_lead_lag_convolution_curves.png"/>
          <p:cNvPicPr>
            <a:picLocks noChangeAspect="1"/>
          </p:cNvPicPr>
          <p:nvPr/>
        </p:nvPicPr>
        <p:blipFill>
          <a:blip r:embed="rId3"/>
          <a:stretch>
            <a:fillRect/>
          </a:stretch>
        </p:blipFill>
        <p:spPr>
          <a:xfrm>
            <a:off x="5760720" y="2662422"/>
            <a:ext cx="5669280" cy="2630435"/>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MODEL BENCHMARKS</a:t>
            </a:r>
          </a:p>
          <a:p>
            <a:pPr>
              <a:spcBef>
                <a:spcPts val="300"/>
              </a:spcBef>
              <a:defRPr sz="2400" b="1">
                <a:solidFill>
                  <a:srgbClr val="0A2240"/>
                </a:solidFill>
                <a:latin typeface="Calibri"/>
              </a:defRPr>
            </a:pPr>
            <a:r>
              <a:t>Certified 2025 Out-of-Time Holdout Benchmarks</a:t>
            </a:r>
          </a:p>
          <a:p>
            <a:pPr>
              <a:spcBef>
                <a:spcPts val="200"/>
              </a:spcBef>
              <a:defRPr sz="1200">
                <a:solidFill>
                  <a:srgbClr val="475569"/>
                </a:solidFill>
                <a:latin typeface="Calibri"/>
              </a:defRPr>
            </a:pPr>
            <a:r>
              <a:t>Rigorous Evaluation Across Full Holdout Period (Table 4.10)</a:t>
            </a:r>
          </a:p>
        </p:txBody>
      </p:sp>
      <p:sp>
        <p:nvSpPr>
          <p:cNvPr id="3" name="Rectangle 2"/>
          <p:cNvSpPr/>
          <p:nvPr/>
        </p:nvSpPr>
        <p:spPr>
          <a:xfrm>
            <a:off x="731520" y="1645920"/>
            <a:ext cx="10728655"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50">
                <a:solidFill>
                  <a:srgbClr val="0F172A"/>
                </a:solidFill>
              </a:defRPr>
            </a:pPr>
            <a:r>
              <a:t>• Model 3 (Dynamic Hybrid) DECISIVE WINNER: Lowest RMSE (222.1 pax/h), Lowest MASE (0.662), beating persistence by 33.8% (DM = -4.82, p &lt; 0.001).</a:t>
            </a:r>
            <a:br/>
            <a:r>
              <a:t>• Model 2 (Supervised ML) wins Routine Pareto Efficiency: MASE = 0.779.   • Model 1 (Deterministic): MASE = 0.945.</a:t>
            </a:r>
          </a:p>
        </p:txBody>
      </p:sp>
      <p:pic>
        <p:nvPicPr>
          <p:cNvPr id="4" name="Picture 3" descr="figure_4_6_master_model_benchmark_matrix.png"/>
          <p:cNvPicPr>
            <a:picLocks noChangeAspect="1"/>
          </p:cNvPicPr>
          <p:nvPr/>
        </p:nvPicPr>
        <p:blipFill>
          <a:blip r:embed="rId2"/>
          <a:stretch>
            <a:fillRect/>
          </a:stretch>
        </p:blipFill>
        <p:spPr>
          <a:xfrm>
            <a:off x="3251398" y="2560320"/>
            <a:ext cx="5688897" cy="397763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HYPOTHESIS TESTING</a:t>
            </a:r>
          </a:p>
          <a:p>
            <a:pPr>
              <a:spcBef>
                <a:spcPts val="300"/>
              </a:spcBef>
              <a:defRPr sz="2400" b="1">
                <a:solidFill>
                  <a:srgbClr val="0A2240"/>
                </a:solidFill>
                <a:latin typeface="Calibri"/>
              </a:defRPr>
            </a:pPr>
            <a:r>
              <a:t>Multi-Pillar Hypothesis Testing: The Asymmetric Trade-Off</a:t>
            </a:r>
          </a:p>
          <a:p>
            <a:pPr>
              <a:spcBef>
                <a:spcPts val="200"/>
              </a:spcBef>
              <a:defRPr sz="1200">
                <a:solidFill>
                  <a:srgbClr val="475569"/>
                </a:solidFill>
                <a:latin typeface="Calibri"/>
              </a:defRPr>
            </a:pPr>
            <a:r>
              <a:t>Full Evaluation Across Table 4.11 and Master Hypothesis H₁</a:t>
            </a:r>
          </a:p>
        </p:txBody>
      </p:sp>
      <p:sp>
        <p:nvSpPr>
          <p:cNvPr id="3" name="Rectangle 2"/>
          <p:cNvSpPr/>
          <p:nvPr/>
        </p:nvSpPr>
        <p:spPr>
          <a:xfrm>
            <a:off x="731520" y="1645920"/>
            <a:ext cx="10728655"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0F172A"/>
                </a:solidFill>
              </a:defRPr>
            </a:pPr>
            <a:r>
              <a:t>• Dimension 1 (Robustness): Model 3 lowest RMSE (222.1); Model 2 wins Routine Pareto Efficiency. Confirms H1a.</a:t>
            </a:r>
            <a:br/>
            <a:r>
              <a:t>• Dimension 2 (Resilience): Model 3 DECISIVE WINNER (R = 1.05, TTR = 2.8h). ML collapses (R = 2.14). Confirms H1b.</a:t>
            </a:r>
            <a:br/>
            <a:r>
              <a:t>• Dimension 3 (Generalizability): Model 1 DECISIVE WINNER (RTR = 1.04). Model 3 fails (RTR = 1.19). Confirms H1c.</a:t>
            </a:r>
          </a:p>
        </p:txBody>
      </p:sp>
      <p:pic>
        <p:nvPicPr>
          <p:cNvPr id="4" name="Picture 3" descr="figure_5_4_master_hypothesis_trade_off_dashboard.png"/>
          <p:cNvPicPr>
            <a:picLocks noChangeAspect="1"/>
          </p:cNvPicPr>
          <p:nvPr/>
        </p:nvPicPr>
        <p:blipFill>
          <a:blip r:embed="rId2"/>
          <a:stretch>
            <a:fillRect/>
          </a:stretch>
        </p:blipFill>
        <p:spPr>
          <a:xfrm>
            <a:off x="3332154" y="2560320"/>
            <a:ext cx="5527385" cy="3977639"/>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DEEP-DIVE RESILIENCE</a:t>
            </a:r>
          </a:p>
          <a:p>
            <a:pPr>
              <a:spcBef>
                <a:spcPts val="300"/>
              </a:spcBef>
              <a:defRPr sz="2400" b="1">
                <a:solidFill>
                  <a:srgbClr val="0A2240"/>
                </a:solidFill>
                <a:latin typeface="Calibri"/>
              </a:defRPr>
            </a:pPr>
            <a:r>
              <a:t>Dimension 2: Disruption Resilience &amp; Shock Recovery</a:t>
            </a:r>
          </a:p>
          <a:p>
            <a:pPr>
              <a:spcBef>
                <a:spcPts val="200"/>
              </a:spcBef>
              <a:defRPr sz="1200">
                <a:solidFill>
                  <a:srgbClr val="475569"/>
                </a:solidFill>
                <a:latin typeface="Calibri"/>
              </a:defRPr>
            </a:pPr>
            <a:r>
              <a:t>Convective Weather Ground Stops and the Empty Checkpoint Fallacy</a:t>
            </a:r>
          </a:p>
        </p:txBody>
      </p:sp>
      <p:pic>
        <p:nvPicPr>
          <p:cNvPr id="3" name="Picture 2" descr="formula_r_mase.png"/>
          <p:cNvPicPr>
            <a:picLocks noChangeAspect="1"/>
          </p:cNvPicPr>
          <p:nvPr/>
        </p:nvPicPr>
        <p:blipFill>
          <a:blip r:embed="rId2"/>
          <a:stretch>
            <a:fillRect/>
          </a:stretch>
        </p:blipFill>
        <p:spPr>
          <a:xfrm>
            <a:off x="731520" y="1672547"/>
            <a:ext cx="4754880" cy="861144"/>
          </a:xfrm>
          <a:prstGeom prst="rect">
            <a:avLst/>
          </a:prstGeom>
        </p:spPr>
      </p:pic>
      <p:sp>
        <p:nvSpPr>
          <p:cNvPr id="4" name="TextBox 3"/>
          <p:cNvSpPr txBox="1"/>
          <p:nvPr/>
        </p:nvSpPr>
        <p:spPr>
          <a:xfrm>
            <a:off x="731520" y="2743200"/>
            <a:ext cx="4754880" cy="3566160"/>
          </a:xfrm>
          <a:prstGeom prst="rect">
            <a:avLst/>
          </a:prstGeom>
          <a:noFill/>
        </p:spPr>
        <p:txBody>
          <a:bodyPr wrap="square" lIns="0" rIns="0" tIns="0" bIns="0">
            <a:spAutoFit/>
          </a:bodyPr>
          <a:lstStyle/>
          <a:p>
            <a:pPr>
              <a:defRPr sz="1350" b="1">
                <a:solidFill>
                  <a:srgbClr val="0A2240"/>
                </a:solidFill>
                <a:latin typeface="Calibri"/>
              </a:defRPr>
            </a:pPr>
            <a:r>
              <a:t>•  The Empty Checkpoint Fallacy: </a:t>
            </a:r>
            <a:r>
              <a:rPr sz="1300" b="0">
                <a:solidFill>
                  <a:srgbClr val="0F172A"/>
                </a:solidFill>
                <a:latin typeface="Calibri"/>
              </a:rPr>
              <a:t>Convective storms trigger cancellations. Decision trees infer passenger demand vanished, predicting near-zero arrivals (R = 2.14).</a:t>
            </a:r>
          </a:p>
          <a:p>
            <a:pPr>
              <a:spcBef>
                <a:spcPts val="1000"/>
              </a:spcBef>
              <a:defRPr sz="1350" b="1">
                <a:solidFill>
                  <a:srgbClr val="0A2240"/>
                </a:solidFill>
                <a:latin typeface="Calibri"/>
              </a:defRPr>
            </a:pPr>
            <a:r>
              <a:t>•  Terminal Lobby Crowding: </a:t>
            </a:r>
            <a:r>
              <a:rPr sz="1300" b="0">
                <a:solidFill>
                  <a:srgbClr val="0F172A"/>
                </a:solidFill>
                <a:latin typeface="Calibri"/>
              </a:rPr>
              <a:t>Passengers remain packed in ticket lobbies seeking rebooking and security access; pure ML leaves lanes unstaffed.</a:t>
            </a:r>
          </a:p>
          <a:p>
            <a:pPr>
              <a:spcBef>
                <a:spcPts val="1000"/>
              </a:spcBef>
              <a:defRPr sz="1350" b="1">
                <a:solidFill>
                  <a:srgbClr val="0A2240"/>
                </a:solidFill>
                <a:latin typeface="Calibri"/>
              </a:defRPr>
            </a:pPr>
            <a:r>
              <a:t>•  Hybrid Sensor Feedback Rescue: </a:t>
            </a:r>
            <a:r>
              <a:rPr sz="1300" b="0">
                <a:solidFill>
                  <a:srgbClr val="0F172A"/>
                </a:solidFill>
                <a:latin typeface="Calibri"/>
              </a:rPr>
              <a:t>Model 3 ingests live screening counts (e_{t-1}), instantly overriding stale schedules and restoring accuracy within 2.8 hours (R = 1.05).</a:t>
            </a:r>
          </a:p>
          <a:p>
            <a:pPr>
              <a:spcBef>
                <a:spcPts val="1000"/>
              </a:spcBef>
              <a:defRPr sz="1350" b="1">
                <a:solidFill>
                  <a:srgbClr val="0A2240"/>
                </a:solidFill>
                <a:latin typeface="Calibri"/>
              </a:defRPr>
            </a:pPr>
            <a:r>
              <a:t>•  Operational Outcome: </a:t>
            </a:r>
            <a:r>
              <a:rPr sz="1300" b="0">
                <a:solidFill>
                  <a:srgbClr val="0F172A"/>
                </a:solidFill>
                <a:latin typeface="Calibri"/>
              </a:rPr>
              <a:t>Dynamic error feedback prevents checkpoint queuing crises during severe convective ground stops.</a:t>
            </a:r>
          </a:p>
        </p:txBody>
      </p:sp>
      <p:pic>
        <p:nvPicPr>
          <p:cNvPr id="5" name="Picture 4" descr="figure_5_2_disruption_resilience_and_shock_recovery.png"/>
          <p:cNvPicPr>
            <a:picLocks noChangeAspect="1"/>
          </p:cNvPicPr>
          <p:nvPr/>
        </p:nvPicPr>
        <p:blipFill>
          <a:blip r:embed="rId3"/>
          <a:stretch>
            <a:fillRect/>
          </a:stretch>
        </p:blipFill>
        <p:spPr>
          <a:xfrm>
            <a:off x="5760720" y="1783504"/>
            <a:ext cx="5669280" cy="438827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DEEP-DIVE GENERALIZABILITY</a:t>
            </a:r>
          </a:p>
          <a:p>
            <a:pPr>
              <a:spcBef>
                <a:spcPts val="300"/>
              </a:spcBef>
              <a:defRPr sz="2400" b="1">
                <a:solidFill>
                  <a:srgbClr val="0A2240"/>
                </a:solidFill>
                <a:latin typeface="Calibri"/>
              </a:defRPr>
            </a:pPr>
            <a:r>
              <a:t>Dimension 3: Generalizability &amp; Spatial Transfer</a:t>
            </a:r>
          </a:p>
          <a:p>
            <a:pPr>
              <a:spcBef>
                <a:spcPts val="200"/>
              </a:spcBef>
              <a:defRPr sz="1200">
                <a:solidFill>
                  <a:srgbClr val="475569"/>
                </a:solidFill>
                <a:latin typeface="Calibri"/>
              </a:defRPr>
            </a:pPr>
            <a:r>
              <a:t>Zero-Shot Spatial Transfer from Newark (EWR) to LaGuardia (LGA)</a:t>
            </a:r>
          </a:p>
        </p:txBody>
      </p:sp>
      <p:pic>
        <p:nvPicPr>
          <p:cNvPr id="3" name="Picture 2" descr="formula_rtr.png"/>
          <p:cNvPicPr>
            <a:picLocks noChangeAspect="1"/>
          </p:cNvPicPr>
          <p:nvPr/>
        </p:nvPicPr>
        <p:blipFill>
          <a:blip r:embed="rId2"/>
          <a:stretch>
            <a:fillRect/>
          </a:stretch>
        </p:blipFill>
        <p:spPr>
          <a:xfrm>
            <a:off x="731520" y="1672547"/>
            <a:ext cx="4754880" cy="861144"/>
          </a:xfrm>
          <a:prstGeom prst="rect">
            <a:avLst/>
          </a:prstGeom>
        </p:spPr>
      </p:pic>
      <p:sp>
        <p:nvSpPr>
          <p:cNvPr id="4" name="TextBox 3"/>
          <p:cNvSpPr txBox="1"/>
          <p:nvPr/>
        </p:nvSpPr>
        <p:spPr>
          <a:xfrm>
            <a:off x="731520" y="2743200"/>
            <a:ext cx="4754880" cy="3566160"/>
          </a:xfrm>
          <a:prstGeom prst="rect">
            <a:avLst/>
          </a:prstGeom>
          <a:noFill/>
        </p:spPr>
        <p:txBody>
          <a:bodyPr wrap="square" lIns="0" rIns="0" tIns="0" bIns="0">
            <a:spAutoFit/>
          </a:bodyPr>
          <a:lstStyle/>
          <a:p>
            <a:pPr>
              <a:defRPr sz="1350" b="1">
                <a:solidFill>
                  <a:srgbClr val="0A2240"/>
                </a:solidFill>
                <a:latin typeface="Calibri"/>
              </a:defRPr>
            </a:pPr>
            <a:r>
              <a:t>•  Model 1 Wins Transfer (Physics): </a:t>
            </a:r>
            <a:r>
              <a:rPr sz="1300" b="0">
                <a:solidFill>
                  <a:srgbClr val="0F172A"/>
                </a:solidFill>
                <a:latin typeface="Calibri"/>
              </a:rPr>
              <a:t>RTR = 1.04, ΔMASE = +4.0%. Passenger arrival psychology (ACRP 40) is invariant across airports, transferring seamlessly.</a:t>
            </a:r>
          </a:p>
          <a:p>
            <a:pPr>
              <a:spcBef>
                <a:spcPts val="1000"/>
              </a:spcBef>
              <a:defRPr sz="1350" b="1">
                <a:solidFill>
                  <a:srgbClr val="0A2240"/>
                </a:solidFill>
                <a:latin typeface="Calibri"/>
              </a:defRPr>
            </a:pPr>
            <a:r>
              <a:t>•  Model 3 Decisively Fails (Overfitting): </a:t>
            </a:r>
            <a:r>
              <a:rPr sz="1300" b="0">
                <a:solidFill>
                  <a:srgbClr val="0F172A"/>
                </a:solidFill>
                <a:latin typeface="Calibri"/>
              </a:rPr>
              <a:t>RTR = 1.19, ΔMASE = +21.5%. Decision tree splits overfit to Newark Terminal C's unique taxiway delays and concourse geometry.</a:t>
            </a:r>
          </a:p>
          <a:p>
            <a:pPr>
              <a:spcBef>
                <a:spcPts val="1000"/>
              </a:spcBef>
              <a:defRPr sz="1350" b="1">
                <a:solidFill>
                  <a:srgbClr val="0A2240"/>
                </a:solidFill>
                <a:latin typeface="Calibri"/>
              </a:defRPr>
            </a:pPr>
            <a:r>
              <a:t>•  Feedback Distortion: </a:t>
            </a:r>
            <a:r>
              <a:rPr sz="1300" b="0">
                <a:solidFill>
                  <a:srgbClr val="0F172A"/>
                </a:solidFill>
                <a:latin typeface="Calibri"/>
              </a:rPr>
              <a:t>When transferred without retraining, distorted predictions cause error feedback to amplify rather than correct errors.</a:t>
            </a:r>
          </a:p>
          <a:p>
            <a:pPr>
              <a:spcBef>
                <a:spcPts val="1000"/>
              </a:spcBef>
              <a:defRPr sz="1350" b="1">
                <a:solidFill>
                  <a:srgbClr val="0A2240"/>
                </a:solidFill>
                <a:latin typeface="Calibri"/>
              </a:defRPr>
            </a:pPr>
            <a:r>
              <a:t>•  Strategic Rule: </a:t>
            </a:r>
            <a:r>
              <a:rPr sz="1300" b="0">
                <a:solidFill>
                  <a:srgbClr val="0F172A"/>
                </a:solidFill>
                <a:latin typeface="Calibri"/>
              </a:rPr>
              <a:t>Deploy deterministic schedule physics for new concourses until 6–12 months of local checkpoint history is accumulated.</a:t>
            </a:r>
          </a:p>
        </p:txBody>
      </p:sp>
      <p:pic>
        <p:nvPicPr>
          <p:cNvPr id="5" name="Picture 4" descr="figure_5_3_generalizability_and_spatial_transfer.png"/>
          <p:cNvPicPr>
            <a:picLocks noChangeAspect="1"/>
          </p:cNvPicPr>
          <p:nvPr/>
        </p:nvPicPr>
        <p:blipFill>
          <a:blip r:embed="rId3"/>
          <a:stretch>
            <a:fillRect/>
          </a:stretch>
        </p:blipFill>
        <p:spPr>
          <a:xfrm>
            <a:off x="5760720" y="2770537"/>
            <a:ext cx="5669280" cy="2414205"/>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OPERATIONAL IMPLEMENTATION</a:t>
            </a:r>
          </a:p>
          <a:p>
            <a:pPr>
              <a:spcBef>
                <a:spcPts val="300"/>
              </a:spcBef>
              <a:defRPr sz="2400" b="1">
                <a:solidFill>
                  <a:srgbClr val="0A2240"/>
                </a:solidFill>
                <a:latin typeface="Calibri"/>
              </a:defRPr>
            </a:pPr>
            <a:r>
              <a:t>Real-World Aviation Application: The Operator's Playbook</a:t>
            </a:r>
          </a:p>
          <a:p>
            <a:pPr>
              <a:spcBef>
                <a:spcPts val="200"/>
              </a:spcBef>
              <a:defRPr sz="1200">
                <a:solidFill>
                  <a:srgbClr val="475569"/>
                </a:solidFill>
                <a:latin typeface="Calibri"/>
              </a:defRPr>
            </a:pPr>
            <a:r>
              <a:t>Translating Empirical Findings into Actionable TSA Screening Policy</a:t>
            </a:r>
          </a:p>
        </p:txBody>
      </p:sp>
      <p:sp>
        <p:nvSpPr>
          <p:cNvPr id="3" name="Rectangle 2"/>
          <p:cNvSpPr/>
          <p:nvPr/>
        </p:nvSpPr>
        <p:spPr>
          <a:xfrm>
            <a:off x="731520" y="1691640"/>
            <a:ext cx="342900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b="1" sz="1000">
                <a:solidFill>
                  <a:srgbClr val="2563EB"/>
                </a:solidFill>
              </a:defRPr>
            </a:pPr>
            <a:r>
              <a:t>STRATEGY 01</a:t>
            </a:r>
          </a:p>
          <a:p>
            <a:pPr>
              <a:spcBef>
                <a:spcPts val="300"/>
              </a:spcBef>
              <a:defRPr b="1" sz="1300">
                <a:solidFill>
                  <a:srgbClr val="0A2240"/>
                </a:solidFill>
              </a:defRPr>
            </a:pPr>
            <a:r>
              <a:t>DYNAMIC CHECKPOINT ROSTERING</a:t>
            </a:r>
          </a:p>
          <a:p>
            <a:pPr>
              <a:spcBef>
                <a:spcPts val="1000"/>
              </a:spcBef>
              <a:defRPr sz="1050">
                <a:solidFill>
                  <a:srgbClr val="0F172A"/>
                </a:solidFill>
              </a:defRPr>
            </a:pPr>
            <a:r>
              <a:t>Abandon static historical volume tables.</a:t>
            </a:r>
            <a:br/>
            <a:br/>
            <a:r>
              <a:t>• Roster checkpoint screening lanes based on t+2 flight bank convolutions convolved with empirical show-up curves.</a:t>
            </a:r>
            <a:br/>
            <a:r>
              <a:t>• Apply conformal quantile (q85) safety buffers (+1.2 lanes during peak banks) to absorb heavy-traffic arrival burstiness without creating catastrophic queue surges.</a:t>
            </a:r>
          </a:p>
        </p:txBody>
      </p:sp>
      <p:sp>
        <p:nvSpPr>
          <p:cNvPr id="4" name="Rectangle 3"/>
          <p:cNvSpPr/>
          <p:nvPr/>
        </p:nvSpPr>
        <p:spPr>
          <a:xfrm>
            <a:off x="4379976" y="1691640"/>
            <a:ext cx="342900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b="1" sz="1000">
                <a:solidFill>
                  <a:srgbClr val="2563EB"/>
                </a:solidFill>
              </a:defRPr>
            </a:pPr>
            <a:r>
              <a:t>STRATEGY 02</a:t>
            </a:r>
          </a:p>
          <a:p>
            <a:pPr>
              <a:spcBef>
                <a:spcPts val="300"/>
              </a:spcBef>
              <a:defRPr b="1" sz="1300">
                <a:solidFill>
                  <a:srgbClr val="0A2240"/>
                </a:solidFill>
              </a:defRPr>
            </a:pPr>
            <a:r>
              <a:t>CONNECTING PASSENGER DEFLATION</a:t>
            </a:r>
          </a:p>
          <a:p>
            <a:pPr>
              <a:spcBef>
                <a:spcPts val="1000"/>
              </a:spcBef>
              <a:defRPr sz="1050">
                <a:solidFill>
                  <a:srgbClr val="0F172A"/>
                </a:solidFill>
              </a:defRPr>
            </a:pPr>
            <a:r>
              <a:t>Stop over-staffing connecting mega-hubs.</a:t>
            </a:r>
            <a:br/>
            <a:br/>
            <a:r>
              <a:t>• Ingest BTS DB1B ticket survey originating ratios directly into checkpoint capacity planning algorithms.</a:t>
            </a:r>
            <a:br/>
            <a:r>
              <a:t>• Deflating flight seat capacity by local originating share (1 - S_connect) prevents the costly misallocation of TSA security personnel to passengers who never enter landside terminals.</a:t>
            </a:r>
          </a:p>
        </p:txBody>
      </p:sp>
      <p:sp>
        <p:nvSpPr>
          <p:cNvPr id="5" name="Rectangle 4"/>
          <p:cNvSpPr/>
          <p:nvPr/>
        </p:nvSpPr>
        <p:spPr>
          <a:xfrm>
            <a:off x="8028432" y="1691640"/>
            <a:ext cx="3429000" cy="4572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b="1" sz="1000">
                <a:solidFill>
                  <a:srgbClr val="2563EB"/>
                </a:solidFill>
              </a:defRPr>
            </a:pPr>
            <a:r>
              <a:t>STRATEGY 03</a:t>
            </a:r>
          </a:p>
          <a:p>
            <a:pPr>
              <a:spcBef>
                <a:spcPts val="300"/>
              </a:spcBef>
              <a:defRPr b="1" sz="1300">
                <a:solidFill>
                  <a:srgbClr val="0A2240"/>
                </a:solidFill>
              </a:defRPr>
            </a:pPr>
            <a:r>
              <a:t>REGIME-SWITCHED GATED ENGINE</a:t>
            </a:r>
          </a:p>
          <a:p>
            <a:pPr>
              <a:spcBef>
                <a:spcPts val="1000"/>
              </a:spcBef>
              <a:defRPr sz="1050">
                <a:solidFill>
                  <a:srgbClr val="0F172A"/>
                </a:solidFill>
              </a:defRPr>
            </a:pPr>
            <a:r>
              <a:t>Deploy the hybrid operational policy.</a:t>
            </a:r>
            <a:br/>
            <a:br/>
            <a:r>
              <a:t>• Nominal Operations (Delays &lt; 15m): Execute pure Supervised ML (Model 2) for zero-latency, low-compute Pareto efficiency.</a:t>
            </a:r>
            <a:br/>
            <a:r>
              <a:t>• Severe Convective Storms (Delays ≥ 45m): Automatically switch to Dynamic Hybrid (Model 3) with floor feedback to eliminate the Empty Checkpoint Fallacy.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a:defRPr sz="1000" b="1">
                <a:solidFill>
                  <a:srgbClr val="2563EB"/>
                </a:solidFill>
                <a:latin typeface="Calibri"/>
              </a:defRPr>
            </a:pPr>
            <a:r>
              <a:t>RESEARCH SYNTHESIS</a:t>
            </a:r>
          </a:p>
          <a:p>
            <a:pPr>
              <a:spcBef>
                <a:spcPts val="300"/>
              </a:spcBef>
              <a:defRPr sz="2400" b="1">
                <a:solidFill>
                  <a:srgbClr val="0A2240"/>
                </a:solidFill>
                <a:latin typeface="Calibri"/>
              </a:defRPr>
            </a:pPr>
            <a:r>
              <a:t>Research Synthesis &amp; Concluding Takeaway</a:t>
            </a:r>
          </a:p>
          <a:p>
            <a:pPr>
              <a:spcBef>
                <a:spcPts val="200"/>
              </a:spcBef>
              <a:defRPr sz="1200">
                <a:solidFill>
                  <a:srgbClr val="475569"/>
                </a:solidFill>
                <a:latin typeface="Calibri"/>
              </a:defRPr>
            </a:pPr>
            <a:r>
              <a:t>Transforming Airport Security Screening from Reactive Firefighting to Resilient Synchronization</a:t>
            </a:r>
          </a:p>
        </p:txBody>
      </p:sp>
      <p:sp>
        <p:nvSpPr>
          <p:cNvPr id="3" name="Rectangle 2"/>
          <p:cNvSpPr/>
          <p:nvPr/>
        </p:nvSpPr>
        <p:spPr>
          <a:xfrm>
            <a:off x="731520" y="1691640"/>
            <a:ext cx="10728655" cy="1005840"/>
          </a:xfrm>
          <a:prstGeom prst="rect">
            <a:avLst/>
          </a:prstGeom>
          <a:solidFill>
            <a:srgbClr val="0A2240"/>
          </a:solidFill>
          <a:ln w="12700">
            <a:solidFill>
              <a:srgbClr val="0A224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b="1" sz="1000">
                <a:solidFill>
                  <a:srgbClr val="FFFFFF"/>
                </a:solidFill>
              </a:defRPr>
            </a:pPr>
            <a:r>
              <a:t>CORE RESEARCH SYNTHESIS</a:t>
            </a:r>
          </a:p>
          <a:p>
            <a:pPr>
              <a:spcBef>
                <a:spcPts val="200"/>
              </a:spcBef>
              <a:defRPr b="1" sz="1350">
                <a:solidFill>
                  <a:srgbClr val="FFFFFF"/>
                </a:solidFill>
                <a:latin typeface="Georgia"/>
              </a:defRPr>
            </a:pPr>
            <a:r>
              <a:t>Transforming Airport Security Screening from Reactive Firefighting to Resilient Stochastic Synchronization</a:t>
            </a:r>
          </a:p>
        </p:txBody>
      </p:sp>
      <p:sp>
        <p:nvSpPr>
          <p:cNvPr id="4" name="Rectangle 3"/>
          <p:cNvSpPr/>
          <p:nvPr/>
        </p:nvSpPr>
        <p:spPr>
          <a:xfrm>
            <a:off x="731520" y="2834640"/>
            <a:ext cx="10728655" cy="3429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100">
                <a:solidFill>
                  <a:srgbClr val="0A2240"/>
                </a:solidFill>
              </a:defRPr>
            </a:pPr>
            <a:r>
              <a:t>•  The Values vs. Volatility Imperative: </a:t>
            </a:r>
            <a:r>
              <a:rPr sz="1050" b="0">
                <a:solidFill>
                  <a:srgbClr val="0F172A"/>
                </a:solidFill>
              </a:rPr>
              <a:t>Arrival volatility (σ_TSA, CV_TSA), not static passenger headcounts, dictates checkpoint queue formation under Kingman's heavy-traffic formula. Terminal planning must model stochastic arrival variance.</a:t>
            </a:r>
          </a:p>
          <a:p>
            <a:pPr>
              <a:spcBef>
                <a:spcPts val="800"/>
              </a:spcBef>
              <a:defRPr b="1" sz="1100">
                <a:solidFill>
                  <a:srgbClr val="0A2240"/>
                </a:solidFill>
              </a:defRPr>
            </a:pPr>
            <a:r>
              <a:t>•  Proof of the Master Hypothesis (H₁): </a:t>
            </a:r>
            <a:r>
              <a:rPr sz="1050" b="0">
                <a:solidFill>
                  <a:srgbClr val="0F172A"/>
                </a:solidFill>
              </a:rPr>
              <a:t>Proved the Asymmetric Trade-Off: No single predictive model is universally superior. Model 3 wins Robustness (RMSE) and Resilience; Model 2 wins Routine Pareto Efficiency; Model 1 wins Zero-Shot Spatial Portability.</a:t>
            </a:r>
          </a:p>
          <a:p>
            <a:pPr>
              <a:spcBef>
                <a:spcPts val="800"/>
              </a:spcBef>
              <a:defRPr b="1" sz="1100">
                <a:solidFill>
                  <a:srgbClr val="0A2240"/>
                </a:solidFill>
              </a:defRPr>
            </a:pPr>
            <a:r>
              <a:t>•  Eliminating the Empty Checkpoint Fallacy: </a:t>
            </a:r>
            <a:r>
              <a:rPr sz="1050" b="0">
                <a:solidFill>
                  <a:srgbClr val="0F172A"/>
                </a:solidFill>
              </a:rPr>
              <a:t>Real-time prior-hour screening floor innovation feedback (e_{t-1}) rescues forecasting during severe convective storms, cutting recovery time to 2.8 hours.</a:t>
            </a:r>
          </a:p>
          <a:p>
            <a:pPr>
              <a:spcBef>
                <a:spcPts val="800"/>
              </a:spcBef>
              <a:defRPr b="1" sz="1100">
                <a:solidFill>
                  <a:srgbClr val="0A2240"/>
                </a:solidFill>
              </a:defRPr>
            </a:pPr>
            <a:r>
              <a:t>•  The Regime-Switched Gated Engine: </a:t>
            </a:r>
            <a:r>
              <a:rPr sz="1050" b="0">
                <a:solidFill>
                  <a:srgbClr val="0F172A"/>
                </a:solidFill>
              </a:rPr>
              <a:t>A practical, context-aware operational framework that bridges airside flight schedules and landside passenger screening, delivering operational resilience without unnecessary computational overhead.</a:t>
            </a:r>
          </a:p>
          <a:p>
            <a:pPr algn="ctr">
              <a:spcBef>
                <a:spcPts val="1400"/>
              </a:spcBef>
              <a:defRPr b="1" i="1" sz="1200">
                <a:solidFill>
                  <a:srgbClr val="2563EB"/>
                </a:solidFill>
                <a:latin typeface="Georgia"/>
              </a:defRPr>
            </a:pPr>
            <a:r>
              <a:t>Thank you for your guidance, mentorship, and support.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