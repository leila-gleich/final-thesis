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28600"/>
          </a:xfrm>
          <a:prstGeom prst="rect">
            <a:avLst/>
          </a:prstGeom>
          <a:solidFill>
            <a:srgbClr val="0A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362895" cy="4389120"/>
          </a:xfrm>
          <a:prstGeom prst="rect">
            <a:avLst/>
          </a:prstGeom>
          <a:noFill/>
        </p:spPr>
        <p:txBody>
          <a:bodyPr wrap="square">
            <a:spAutoFit/>
          </a:bodyPr>
          <a:lstStyle/>
          <a:p>
            <a:pPr>
              <a:defRPr sz="1200" b="1">
                <a:solidFill>
                  <a:srgbClr val="2563EB"/>
                </a:solidFill>
                <a:latin typeface="Calibri"/>
              </a:defRPr>
            </a:pPr>
            <a:r>
              <a:t>EMBRY-RIDDLE AERONAUTICAL UNIVERSITY  |  GRADUATE THESIS DEFENSE</a:t>
            </a:r>
          </a:p>
          <a:p>
            <a:pPr>
              <a:spcBef>
                <a:spcPts val="1600"/>
              </a:spcBef>
              <a:spcAft>
                <a:spcPts val="1600"/>
              </a:spcAft>
              <a:defRPr sz="3800" b="1">
                <a:solidFill>
                  <a:srgbClr val="0A2240"/>
                </a:solidFill>
                <a:latin typeface="Calibri"/>
              </a:defRPr>
            </a:pPr>
            <a:r>
              <a:t>Evaluating Predictive Techniques to Model</a:t>
            </a:r>
            <a:br/>
            <a:r>
              <a:t>Stochastic Airport Passenger Flow</a:t>
            </a:r>
          </a:p>
          <a:p>
            <a:pPr>
              <a:defRPr sz="1600">
                <a:solidFill>
                  <a:srgbClr val="475569"/>
                </a:solidFill>
                <a:latin typeface="Calibri"/>
              </a:defRPr>
            </a:pPr>
            <a:r>
              <a:t>An Evaluation of Multi-Pillar Performance Measures for TSA Throughput Volatility</a:t>
            </a:r>
          </a:p>
          <a:p>
            <a:pPr>
              <a:spcBef>
                <a:spcPts val="3800"/>
              </a:spcBef>
              <a:defRPr sz="1300">
                <a:solidFill>
                  <a:srgbClr val="64748B"/>
                </a:solidFill>
                <a:latin typeface="Calibri"/>
              </a:defRPr>
            </a:pPr>
            <a:r>
              <a:t>Candidate: Leila Gleich  ·  Master of Science in Aeronautics (MSAA / Gleich 700B)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EXECUTIVE ROADMAP</a:t>
            </a:r>
          </a:p>
          <a:p>
            <a:pPr>
              <a:spcBef>
                <a:spcPts val="300"/>
              </a:spcBef>
              <a:defRPr sz="2200" b="1">
                <a:solidFill>
                  <a:srgbClr val="0A2240"/>
                </a:solidFill>
                <a:latin typeface="Calibri"/>
              </a:defRPr>
            </a:pPr>
            <a:r>
              <a:t>Defense Presentation Roadmap</a:t>
            </a:r>
          </a:p>
          <a:p>
            <a:pPr>
              <a:spcBef>
                <a:spcPts val="200"/>
              </a:spcBef>
              <a:defRPr sz="1200">
                <a:solidFill>
                  <a:srgbClr val="475569"/>
                </a:solidFill>
                <a:latin typeface="Calibri"/>
              </a:defRPr>
            </a:pPr>
            <a:r>
              <a:t>25-Minute Structured Oral Examination across Six Operational Phases</a:t>
            </a:r>
          </a:p>
        </p:txBody>
      </p:sp>
      <p:sp>
        <p:nvSpPr>
          <p:cNvPr id="3" name="Rectangle 2"/>
          <p:cNvSpPr/>
          <p:nvPr/>
        </p:nvSpPr>
        <p:spPr>
          <a:xfrm>
            <a:off x="731520" y="1691640"/>
            <a:ext cx="3429000" cy="20116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000" b="1">
                <a:solidFill>
                  <a:srgbClr val="2563EB"/>
                </a:solidFill>
                <a:latin typeface="Calibri"/>
              </a:defRPr>
            </a:pPr>
            <a:r>
              <a:t>SECTION 01</a:t>
            </a:r>
          </a:p>
          <a:p>
            <a:pPr>
              <a:spcBef>
                <a:spcPts val="300"/>
              </a:spcBef>
              <a:defRPr sz="1400" b="1">
                <a:solidFill>
                  <a:srgbClr val="0A2240"/>
                </a:solidFill>
                <a:latin typeface="Calibri"/>
              </a:defRPr>
            </a:pPr>
            <a:r>
              <a:t>The Research Problem</a:t>
            </a:r>
          </a:p>
          <a:p>
            <a:pPr>
              <a:spcBef>
                <a:spcPts val="600"/>
              </a:spcBef>
              <a:defRPr sz="1050">
                <a:solidFill>
                  <a:srgbClr val="475569"/>
                </a:solidFill>
                <a:latin typeface="Calibri"/>
              </a:defRPr>
            </a:pPr>
            <a:r>
              <a:t>Queuing Friction, Kingman's heavy-traffic law &amp; terminal capacity limits</a:t>
            </a:r>
          </a:p>
        </p:txBody>
      </p:sp>
      <p:sp>
        <p:nvSpPr>
          <p:cNvPr id="4" name="Rectangle 3"/>
          <p:cNvSpPr/>
          <p:nvPr/>
        </p:nvSpPr>
        <p:spPr>
          <a:xfrm>
            <a:off x="4379976" y="1691640"/>
            <a:ext cx="3429000" cy="20116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000" b="1">
                <a:solidFill>
                  <a:srgbClr val="2563EB"/>
                </a:solidFill>
                <a:latin typeface="Calibri"/>
              </a:defRPr>
            </a:pPr>
            <a:r>
              <a:t>SECTION 02</a:t>
            </a:r>
          </a:p>
          <a:p>
            <a:pPr>
              <a:spcBef>
                <a:spcPts val="300"/>
              </a:spcBef>
              <a:defRPr sz="1400" b="1">
                <a:solidFill>
                  <a:srgbClr val="0A2240"/>
                </a:solidFill>
                <a:latin typeface="Calibri"/>
              </a:defRPr>
            </a:pPr>
            <a:r>
              <a:t>Evolution of Literature</a:t>
            </a:r>
          </a:p>
          <a:p>
            <a:pPr>
              <a:spcBef>
                <a:spcPts val="600"/>
              </a:spcBef>
              <a:defRPr sz="1050">
                <a:solidFill>
                  <a:srgbClr val="475569"/>
                </a:solidFill>
                <a:latin typeface="Calibri"/>
              </a:defRPr>
            </a:pPr>
            <a:r>
              <a:t>Schedules, micro-simulation, ML fragility &amp; dynamic two-stage hybrids</a:t>
            </a:r>
          </a:p>
        </p:txBody>
      </p:sp>
      <p:sp>
        <p:nvSpPr>
          <p:cNvPr id="5" name="Rectangle 4"/>
          <p:cNvSpPr/>
          <p:nvPr/>
        </p:nvSpPr>
        <p:spPr>
          <a:xfrm>
            <a:off x="8028432" y="1691640"/>
            <a:ext cx="3429000" cy="20116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000" b="1">
                <a:solidFill>
                  <a:srgbClr val="2563EB"/>
                </a:solidFill>
                <a:latin typeface="Calibri"/>
              </a:defRPr>
            </a:pPr>
            <a:r>
              <a:t>SECTION 03</a:t>
            </a:r>
          </a:p>
          <a:p>
            <a:pPr>
              <a:spcBef>
                <a:spcPts val="300"/>
              </a:spcBef>
              <a:defRPr sz="1400" b="1">
                <a:solidFill>
                  <a:srgbClr val="0A2240"/>
                </a:solidFill>
                <a:latin typeface="Calibri"/>
              </a:defRPr>
            </a:pPr>
            <a:r>
              <a:t>Econometric Data Pipeline</a:t>
            </a:r>
          </a:p>
          <a:p>
            <a:pPr>
              <a:spcBef>
                <a:spcPts val="600"/>
              </a:spcBef>
              <a:defRPr sz="1050">
                <a:solidFill>
                  <a:srgbClr val="475569"/>
                </a:solidFill>
                <a:latin typeface="Calibri"/>
              </a:defRPr>
            </a:pPr>
            <a:r>
              <a:t>Star schema, 4-tier filtering, carrier isolation &amp; leakage purge buffer</a:t>
            </a:r>
          </a:p>
        </p:txBody>
      </p:sp>
      <p:sp>
        <p:nvSpPr>
          <p:cNvPr id="6" name="Rectangle 5"/>
          <p:cNvSpPr/>
          <p:nvPr/>
        </p:nvSpPr>
        <p:spPr>
          <a:xfrm>
            <a:off x="731520" y="3931920"/>
            <a:ext cx="3429000" cy="20116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000" b="1">
                <a:solidFill>
                  <a:srgbClr val="2563EB"/>
                </a:solidFill>
                <a:latin typeface="Calibri"/>
              </a:defRPr>
            </a:pPr>
            <a:r>
              <a:t>SECTION 04</a:t>
            </a:r>
          </a:p>
          <a:p>
            <a:pPr>
              <a:spcBef>
                <a:spcPts val="300"/>
              </a:spcBef>
              <a:defRPr sz="1400" b="1">
                <a:solidFill>
                  <a:srgbClr val="0A2240"/>
                </a:solidFill>
                <a:latin typeface="Calibri"/>
              </a:defRPr>
            </a:pPr>
            <a:r>
              <a:t>Empirical Volatility Regimes</a:t>
            </a:r>
          </a:p>
          <a:p>
            <a:pPr>
              <a:spcBef>
                <a:spcPts val="600"/>
              </a:spcBef>
              <a:defRPr sz="1050">
                <a:solidFill>
                  <a:srgbClr val="475569"/>
                </a:solidFill>
                <a:latin typeface="Calibri"/>
              </a:defRPr>
            </a:pPr>
            <a:r>
              <a:t>Values vs. volatility discovery, macro seasonality &amp; diurnal asynchrony</a:t>
            </a:r>
          </a:p>
        </p:txBody>
      </p:sp>
      <p:sp>
        <p:nvSpPr>
          <p:cNvPr id="7" name="Rectangle 6"/>
          <p:cNvSpPr/>
          <p:nvPr/>
        </p:nvSpPr>
        <p:spPr>
          <a:xfrm>
            <a:off x="4379976" y="3931920"/>
            <a:ext cx="3429000" cy="20116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000" b="1">
                <a:solidFill>
                  <a:srgbClr val="2563EB"/>
                </a:solidFill>
                <a:latin typeface="Calibri"/>
              </a:defRPr>
            </a:pPr>
            <a:r>
              <a:t>SECTION 05</a:t>
            </a:r>
          </a:p>
          <a:p>
            <a:pPr>
              <a:spcBef>
                <a:spcPts val="300"/>
              </a:spcBef>
              <a:defRPr sz="1400" b="1">
                <a:solidFill>
                  <a:srgbClr val="0A2240"/>
                </a:solidFill>
                <a:latin typeface="Calibri"/>
              </a:defRPr>
            </a:pPr>
            <a:r>
              <a:t>Holdout &amp; Hypothesis Testing</a:t>
            </a:r>
          </a:p>
          <a:p>
            <a:pPr>
              <a:spcBef>
                <a:spcPts val="600"/>
              </a:spcBef>
              <a:defRPr sz="1050">
                <a:solidFill>
                  <a:srgbClr val="475569"/>
                </a:solidFill>
                <a:latin typeface="Calibri"/>
              </a:defRPr>
            </a:pPr>
            <a:r>
              <a:t>2025 out-of-time evaluation across Robustness, Resilience &amp; Generalizability</a:t>
            </a:r>
          </a:p>
        </p:txBody>
      </p:sp>
      <p:sp>
        <p:nvSpPr>
          <p:cNvPr id="8" name="Rectangle 7"/>
          <p:cNvSpPr/>
          <p:nvPr/>
        </p:nvSpPr>
        <p:spPr>
          <a:xfrm>
            <a:off x="8028432" y="3931920"/>
            <a:ext cx="3429000" cy="20116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000" b="1">
                <a:solidFill>
                  <a:srgbClr val="2563EB"/>
                </a:solidFill>
                <a:latin typeface="Calibri"/>
              </a:defRPr>
            </a:pPr>
            <a:r>
              <a:t>SECTION 06</a:t>
            </a:r>
          </a:p>
          <a:p>
            <a:pPr>
              <a:spcBef>
                <a:spcPts val="300"/>
              </a:spcBef>
              <a:defRPr sz="1400" b="1">
                <a:solidFill>
                  <a:srgbClr val="0A2240"/>
                </a:solidFill>
                <a:latin typeface="Calibri"/>
              </a:defRPr>
            </a:pPr>
            <a:r>
              <a:t>Operational Playbook</a:t>
            </a:r>
          </a:p>
          <a:p>
            <a:pPr>
              <a:spcBef>
                <a:spcPts val="600"/>
              </a:spcBef>
              <a:defRPr sz="1050">
                <a:solidFill>
                  <a:srgbClr val="475569"/>
                </a:solidFill>
                <a:latin typeface="Calibri"/>
              </a:defRPr>
            </a:pPr>
            <a:r>
              <a:t>Dynamic checkpoint rostering, connecting deflator &amp; regime-switched engine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THEORETICAL FOUNDATION</a:t>
            </a:r>
          </a:p>
          <a:p>
            <a:pPr>
              <a:spcBef>
                <a:spcPts val="300"/>
              </a:spcBef>
              <a:defRPr sz="2200" b="1">
                <a:solidFill>
                  <a:srgbClr val="0A2240"/>
                </a:solidFill>
                <a:latin typeface="Calibri"/>
              </a:defRPr>
            </a:pPr>
            <a:r>
              <a:t>The Terminal Queuing Problem</a:t>
            </a:r>
          </a:p>
          <a:p>
            <a:pPr>
              <a:spcBef>
                <a:spcPts val="200"/>
              </a:spcBef>
              <a:defRPr sz="1200">
                <a:solidFill>
                  <a:srgbClr val="475569"/>
                </a:solidFill>
                <a:latin typeface="Calibri"/>
              </a:defRPr>
            </a:pPr>
            <a:r>
              <a:t>Why Heavy-Traffic Checkpoints Fail Under Static Capacity Assumptions</a:t>
            </a:r>
          </a:p>
        </p:txBody>
      </p:sp>
      <p:sp>
        <p:nvSpPr>
          <p:cNvPr id="3" name="Rectangle 2"/>
          <p:cNvSpPr/>
          <p:nvPr/>
        </p:nvSpPr>
        <p:spPr>
          <a:xfrm>
            <a:off x="731520" y="1691640"/>
            <a:ext cx="521208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bIns="137160"/>
          <a:lstStyle/>
          <a:p>
            <a:pPr algn="ctr">
              <a:defRPr sz="1000" b="1">
                <a:solidFill>
                  <a:srgbClr val="2563EB"/>
                </a:solidFill>
                <a:latin typeface="Calibri"/>
              </a:defRPr>
            </a:pPr>
            <a:r>
              <a:t>KINGMAN'S HEAVY-TRAFFIC APPROXIMATION</a:t>
            </a:r>
          </a:p>
          <a:p>
            <a:pPr algn="ctr">
              <a:spcBef>
                <a:spcPts val="600"/>
              </a:spcBef>
              <a:spcAft>
                <a:spcPts val="600"/>
              </a:spcAft>
              <a:defRPr sz="1800" b="1">
                <a:solidFill>
                  <a:srgbClr val="0A2240"/>
                </a:solidFill>
                <a:latin typeface="Georgia"/>
              </a:defRPr>
            </a:pPr>
            <a:r>
              <a:t>W̄q  ≈  ( ρ / (1 - ρ) ) · [ ( Ca² + Cs² ) / 2 ] · ( 1 / μ )</a:t>
            </a:r>
          </a:p>
          <a:p>
            <a:pPr algn="ctr">
              <a:spcBef>
                <a:spcPts val="200"/>
              </a:spcBef>
              <a:defRPr sz="1050">
                <a:solidFill>
                  <a:srgbClr val="475569"/>
                </a:solidFill>
                <a:latin typeface="Calibri"/>
              </a:defRPr>
            </a:pPr>
            <a:r>
              <a:t>ρ → 1.0 : Checkpoint lane utilization approaching saturation capacity</a:t>
            </a:r>
          </a:p>
          <a:p>
            <a:pPr algn="ctr">
              <a:spcBef>
                <a:spcPts val="200"/>
              </a:spcBef>
              <a:defRPr sz="1050">
                <a:solidFill>
                  <a:srgbClr val="475569"/>
                </a:solidFill>
                <a:latin typeface="Calibri"/>
              </a:defRPr>
            </a:pPr>
            <a:r>
              <a:t>Ca² : Arrival burstiness. Queuing delay scales QUADRATICALLY with arrival volatility!</a:t>
            </a:r>
          </a:p>
          <a:p>
            <a:pPr algn="ctr">
              <a:spcBef>
                <a:spcPts val="200"/>
              </a:spcBef>
              <a:defRPr sz="1050">
                <a:solidFill>
                  <a:srgbClr val="475569"/>
                </a:solidFill>
                <a:latin typeface="Calibri"/>
              </a:defRPr>
            </a:pPr>
            <a:r>
              <a:t>Cs² : Screening inspection variability across passenger streams</a:t>
            </a:r>
          </a:p>
          <a:p>
            <a:pPr algn="ctr">
              <a:spcBef>
                <a:spcPts val="200"/>
              </a:spcBef>
              <a:defRPr sz="1050">
                <a:solidFill>
                  <a:srgbClr val="475569"/>
                </a:solidFill>
                <a:latin typeface="Calibri"/>
              </a:defRPr>
            </a:pPr>
            <a:r>
              <a:t>μ : Sustainable service throughput per active AIT lane</a:t>
            </a:r>
          </a:p>
          <a:p>
            <a:pPr algn="ctr">
              <a:spcBef>
                <a:spcPts val="200"/>
              </a:spcBef>
              <a:defRPr sz="1050">
                <a:solidFill>
                  <a:srgbClr val="475569"/>
                </a:solidFill>
                <a:latin typeface="Calibri"/>
              </a:defRPr>
            </a:pPr>
          </a:p>
          <a:p>
            <a:pPr algn="ctr">
              <a:spcBef>
                <a:spcPts val="200"/>
              </a:spcBef>
              <a:defRPr sz="1050">
                <a:solidFill>
                  <a:srgbClr val="475569"/>
                </a:solidFill>
                <a:latin typeface="Calibri"/>
              </a:defRPr>
            </a:pPr>
            <a:r>
              <a:t>Core Takeaway: Under peak flight banks, arrival volatility</a:t>
            </a:r>
          </a:p>
          <a:p>
            <a:pPr algn="ctr">
              <a:spcBef>
                <a:spcPts val="200"/>
              </a:spcBef>
              <a:defRPr sz="1050">
                <a:solidFill>
                  <a:srgbClr val="475569"/>
                </a:solidFill>
                <a:latin typeface="Calibri"/>
              </a:defRPr>
            </a:pPr>
            <a:r>
              <a:t>drives catastrophic queuing surges even when mean volume is stable.</a:t>
            </a:r>
          </a:p>
        </p:txBody>
      </p:sp>
      <p:sp>
        <p:nvSpPr>
          <p:cNvPr id="4" name="Rectangle 3"/>
          <p:cNvSpPr/>
          <p:nvPr/>
        </p:nvSpPr>
        <p:spPr>
          <a:xfrm>
            <a:off x="6217920" y="1691640"/>
            <a:ext cx="5242255" cy="2148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100">
                <a:solidFill>
                  <a:srgbClr val="B45309"/>
                </a:solidFill>
              </a:defRPr>
            </a:pPr>
            <a:r>
              <a:t>INFLEXIBLE PHYSICAL CAPACITY</a:t>
            </a:r>
          </a:p>
          <a:p>
            <a:pPr>
              <a:spcBef>
                <a:spcPts val="600"/>
              </a:spcBef>
              <a:defRPr sz="1100">
                <a:solidFill>
                  <a:srgbClr val="0F172A"/>
                </a:solidFill>
              </a:defRPr>
            </a:pPr>
            <a:r>
              <a:t>Physical AIT screening lanes and certified TSO shifts cannot flex instantaneously to meet sudden passenger spikes. Rosters are locked weeks in advance, leaving checkpoints vulnerable to demand shocks.</a:t>
            </a:r>
          </a:p>
        </p:txBody>
      </p:sp>
      <p:sp>
        <p:nvSpPr>
          <p:cNvPr id="5" name="Rectangle 4"/>
          <p:cNvSpPr/>
          <p:nvPr/>
        </p:nvSpPr>
        <p:spPr>
          <a:xfrm>
            <a:off x="6217920" y="4114800"/>
            <a:ext cx="5242255" cy="2148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100">
                <a:solidFill>
                  <a:srgbClr val="2563EB"/>
                </a:solidFill>
              </a:defRPr>
            </a:pPr>
            <a:r>
              <a:t>TEMPORAL ASYNCHRONY &amp; LEAD TIME</a:t>
            </a:r>
          </a:p>
          <a:p>
            <a:pPr>
              <a:spcBef>
                <a:spcPts val="600"/>
              </a:spcBef>
              <a:defRPr sz="1100">
                <a:solidFill>
                  <a:srgbClr val="0F172A"/>
                </a:solidFill>
              </a:defRPr>
            </a:pPr>
            <a:r>
              <a:t>Passenger screening arrivals precede flight departures by 2 hours (t-2). Flight delays cascade into late afternoon and evening banks, decoupling flight schedules from checkpoint demand and creating severe operational friction.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RESEARCH FORMULATION</a:t>
            </a:r>
          </a:p>
          <a:p>
            <a:pPr>
              <a:spcBef>
                <a:spcPts val="300"/>
              </a:spcBef>
              <a:defRPr sz="2200" b="1">
                <a:solidFill>
                  <a:srgbClr val="0A2240"/>
                </a:solidFill>
                <a:latin typeface="Calibri"/>
              </a:defRPr>
            </a:pPr>
            <a:r>
              <a:t>Research Purpose &amp; Operational Objectives</a:t>
            </a:r>
          </a:p>
          <a:p>
            <a:pPr>
              <a:spcBef>
                <a:spcPts val="200"/>
              </a:spcBef>
              <a:defRPr sz="1200">
                <a:solidFill>
                  <a:srgbClr val="475569"/>
                </a:solidFill>
                <a:latin typeface="Calibri"/>
              </a:defRPr>
            </a:pPr>
            <a:r>
              <a:t>Pivoting from Static Headcounts to Stochastic Volatility Dynamics</a:t>
            </a:r>
          </a:p>
        </p:txBody>
      </p:sp>
      <p:sp>
        <p:nvSpPr>
          <p:cNvPr id="3" name="Rectangle 2"/>
          <p:cNvSpPr/>
          <p:nvPr/>
        </p:nvSpPr>
        <p:spPr>
          <a:xfrm>
            <a:off x="731520" y="1691640"/>
            <a:ext cx="342900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b="1" sz="1000">
                <a:solidFill>
                  <a:srgbClr val="2563EB"/>
                </a:solidFill>
              </a:defRPr>
            </a:pPr>
            <a:r>
              <a:t>OBJECTIVE 01</a:t>
            </a:r>
          </a:p>
          <a:p>
            <a:pPr>
              <a:spcBef>
                <a:spcPts val="400"/>
              </a:spcBef>
              <a:defRPr b="1" sz="1400">
                <a:solidFill>
                  <a:srgbClr val="0A2240"/>
                </a:solidFill>
              </a:defRPr>
            </a:pPr>
            <a:r>
              <a:t>PIVOT TO VOLATILITY</a:t>
            </a:r>
          </a:p>
          <a:p>
            <a:pPr>
              <a:spcBef>
                <a:spcPts val="1200"/>
              </a:spcBef>
              <a:defRPr sz="1100">
                <a:solidFill>
                  <a:srgbClr val="0F172A"/>
                </a:solidFill>
              </a:defRPr>
            </a:pPr>
            <a:r>
              <a:t>Shift the modeling target away from static hourly headcounts to throughput volatility: standard deviation (σ_TSA) and scale-free burstiness (CV_TSA). Queuing theory dictates that arrival variance governs delay cascades.</a:t>
            </a:r>
          </a:p>
        </p:txBody>
      </p:sp>
      <p:sp>
        <p:nvSpPr>
          <p:cNvPr id="4" name="Rectangle 3"/>
          <p:cNvSpPr/>
          <p:nvPr/>
        </p:nvSpPr>
        <p:spPr>
          <a:xfrm>
            <a:off x="4379976" y="1691640"/>
            <a:ext cx="342900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b="1" sz="1000">
                <a:solidFill>
                  <a:srgbClr val="2563EB"/>
                </a:solidFill>
              </a:defRPr>
            </a:pPr>
            <a:r>
              <a:t>OBJECTIVE 02</a:t>
            </a:r>
          </a:p>
          <a:p>
            <a:pPr>
              <a:spcBef>
                <a:spcPts val="400"/>
              </a:spcBef>
              <a:defRPr b="1" sz="1400">
                <a:solidFill>
                  <a:srgbClr val="0A2240"/>
                </a:solidFill>
              </a:defRPr>
            </a:pPr>
            <a:r>
              <a:t>MULTI-PARADIGM BENCHMARK</a:t>
            </a:r>
          </a:p>
          <a:p>
            <a:pPr>
              <a:spcBef>
                <a:spcPts val="1200"/>
              </a:spcBef>
              <a:defRPr sz="1100">
                <a:solidFill>
                  <a:srgbClr val="0F172A"/>
                </a:solidFill>
              </a:defRPr>
            </a:pPr>
            <a:r>
              <a:t>Conduct a rigorous out-of-time evaluation benchmarking 3 distinct candidate paradigms—Deterministic Schedules, Supervised Machine Learning, and Dynamic Hybrids—against a non-parametric persistence control.</a:t>
            </a:r>
          </a:p>
        </p:txBody>
      </p:sp>
      <p:sp>
        <p:nvSpPr>
          <p:cNvPr id="5" name="Rectangle 4"/>
          <p:cNvSpPr/>
          <p:nvPr/>
        </p:nvSpPr>
        <p:spPr>
          <a:xfrm>
            <a:off x="8028432" y="1691640"/>
            <a:ext cx="342900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b="1" sz="1000">
                <a:solidFill>
                  <a:srgbClr val="2563EB"/>
                </a:solidFill>
              </a:defRPr>
            </a:pPr>
            <a:r>
              <a:t>OBJECTIVE 03</a:t>
            </a:r>
          </a:p>
          <a:p>
            <a:pPr>
              <a:spcBef>
                <a:spcPts val="400"/>
              </a:spcBef>
              <a:defRPr b="1" sz="1400">
                <a:solidFill>
                  <a:srgbClr val="0A2240"/>
                </a:solidFill>
              </a:defRPr>
            </a:pPr>
            <a:r>
              <a:t>CONTEXT-AWARE OPTIMALITY</a:t>
            </a:r>
          </a:p>
          <a:p>
            <a:pPr>
              <a:spcBef>
                <a:spcPts val="1200"/>
              </a:spcBef>
              <a:defRPr sz="1100">
                <a:solidFill>
                  <a:srgbClr val="0F172A"/>
                </a:solidFill>
              </a:defRPr>
            </a:pPr>
            <a:r>
              <a:t>Prove that model superiority is strictly contingent upon the operational priority: routine accuracy (Robustness), storm shock recovery (Resilience), or zero-shot spatial transfer (Generalizability).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CORE INQUIRY</a:t>
            </a:r>
          </a:p>
          <a:p>
            <a:pPr>
              <a:spcBef>
                <a:spcPts val="300"/>
              </a:spcBef>
              <a:defRPr sz="2200" b="1">
                <a:solidFill>
                  <a:srgbClr val="0A2240"/>
                </a:solidFill>
                <a:latin typeface="Calibri"/>
              </a:defRPr>
            </a:pPr>
            <a:r>
              <a:t>Primary Research Question</a:t>
            </a:r>
          </a:p>
          <a:p>
            <a:pPr>
              <a:spcBef>
                <a:spcPts val="200"/>
              </a:spcBef>
              <a:defRPr sz="1200">
                <a:solidFill>
                  <a:srgbClr val="475569"/>
                </a:solidFill>
                <a:latin typeface="Calibri"/>
              </a:defRPr>
            </a:pPr>
            <a:r>
              <a:t>Formalizing Model Selection Across Three Disparate Operational Dimensions</a:t>
            </a:r>
          </a:p>
        </p:txBody>
      </p:sp>
      <p:sp>
        <p:nvSpPr>
          <p:cNvPr id="3" name="Rectangle 2"/>
          <p:cNvSpPr/>
          <p:nvPr/>
        </p:nvSpPr>
        <p:spPr>
          <a:xfrm>
            <a:off x="731520" y="1691640"/>
            <a:ext cx="10728655" cy="182880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182880"/>
          <a:lstStyle/>
          <a:p>
            <a:pPr algn="ctr">
              <a:defRPr b="1" sz="1000">
                <a:solidFill>
                  <a:srgbClr val="2563EB"/>
                </a:solidFill>
              </a:defRPr>
            </a:pPr>
            <a:r>
              <a:t>PRIMARY RESEARCH QUESTION (RQ₁)</a:t>
            </a:r>
          </a:p>
          <a:p>
            <a:pPr>
              <a:spcBef>
                <a:spcPts val="600"/>
              </a:spcBef>
              <a:defRPr sz="1300" i="1">
                <a:solidFill>
                  <a:srgbClr val="0A2240"/>
                </a:solidFill>
                <a:latin typeface="Georgia"/>
              </a:defRPr>
            </a:pPr>
            <a:r>
              <a:t>“Which predictive modeling frameworks—spanning deterministic persistence controls, deterministic schedule baselines, supervised machine learning, and dynamic two-stage hybrids—are most effective for forecasting airport passenger security screening throughput volatility when prioritizing Robustness, Resilience, or Generalizability as the primary operational evaluation metric?”</a:t>
            </a:r>
          </a:p>
        </p:txBody>
      </p:sp>
      <p:sp>
        <p:nvSpPr>
          <p:cNvPr id="4" name="Rectangle 3"/>
          <p:cNvSpPr/>
          <p:nvPr/>
        </p:nvSpPr>
        <p:spPr>
          <a:xfrm>
            <a:off x="731520" y="3794760"/>
            <a:ext cx="3429000" cy="24688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950">
                <a:solidFill>
                  <a:srgbClr val="2563EB"/>
                </a:solidFill>
              </a:defRPr>
            </a:pPr>
            <a:r>
              <a:t>PRIORITY 1</a:t>
            </a:r>
          </a:p>
          <a:p>
            <a:pPr>
              <a:spcBef>
                <a:spcPts val="200"/>
              </a:spcBef>
              <a:defRPr b="1" sz="1300">
                <a:solidFill>
                  <a:srgbClr val="0A2240"/>
                </a:solidFill>
              </a:defRPr>
            </a:pPr>
            <a:r>
              <a:t>ROBUSTNESS</a:t>
            </a:r>
          </a:p>
          <a:p>
            <a:pPr>
              <a:spcBef>
                <a:spcPts val="200"/>
              </a:spcBef>
              <a:defRPr sz="1000" b="1">
                <a:solidFill>
                  <a:srgbClr val="475569"/>
                </a:solidFill>
              </a:defRPr>
            </a:pPr>
            <a:r>
              <a:t>Routine Daily Operations</a:t>
            </a:r>
          </a:p>
          <a:p>
            <a:pPr>
              <a:spcBef>
                <a:spcPts val="600"/>
              </a:spcBef>
              <a:defRPr sz="1000">
                <a:solidFill>
                  <a:srgbClr val="0F172A"/>
                </a:solidFill>
              </a:defRPr>
            </a:pPr>
            <a:r>
              <a:t>Delays &lt; 15 min, 0 cancellations (FAA A14 reference). Focus is minimizing daily error (MASE &lt; 0.700) and compute latency.</a:t>
            </a:r>
          </a:p>
        </p:txBody>
      </p:sp>
      <p:sp>
        <p:nvSpPr>
          <p:cNvPr id="5" name="Rectangle 4"/>
          <p:cNvSpPr/>
          <p:nvPr/>
        </p:nvSpPr>
        <p:spPr>
          <a:xfrm>
            <a:off x="4379976" y="3794760"/>
            <a:ext cx="3429000" cy="24688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950">
                <a:solidFill>
                  <a:srgbClr val="2563EB"/>
                </a:solidFill>
              </a:defRPr>
            </a:pPr>
            <a:r>
              <a:t>PRIORITY 2</a:t>
            </a:r>
          </a:p>
          <a:p>
            <a:pPr>
              <a:spcBef>
                <a:spcPts val="200"/>
              </a:spcBef>
              <a:defRPr b="1" sz="1300">
                <a:solidFill>
                  <a:srgbClr val="0A2240"/>
                </a:solidFill>
              </a:defRPr>
            </a:pPr>
            <a:r>
              <a:t>RESILIENCE</a:t>
            </a:r>
          </a:p>
          <a:p>
            <a:pPr>
              <a:spcBef>
                <a:spcPts val="200"/>
              </a:spcBef>
              <a:defRPr sz="1000" b="1">
                <a:solidFill>
                  <a:srgbClr val="475569"/>
                </a:solidFill>
              </a:defRPr>
            </a:pPr>
            <a:r>
              <a:t>Irregular Operations (IROPS)</a:t>
            </a:r>
          </a:p>
          <a:p>
            <a:pPr>
              <a:spcBef>
                <a:spcPts val="600"/>
              </a:spcBef>
              <a:defRPr sz="1000">
                <a:solidFill>
                  <a:srgbClr val="0F172A"/>
                </a:solidFill>
              </a:defRPr>
            </a:pPr>
            <a:r>
              <a:t>Convective storms, ground stops, delays ≥ 45 min, cancellations ≥ 5. Focus is shock recovery multiplier (R_MASE ≈ 1.00) and TTR &lt; 4.0h.</a:t>
            </a:r>
          </a:p>
        </p:txBody>
      </p:sp>
      <p:sp>
        <p:nvSpPr>
          <p:cNvPr id="6" name="Rectangle 5"/>
          <p:cNvSpPr/>
          <p:nvPr/>
        </p:nvSpPr>
        <p:spPr>
          <a:xfrm>
            <a:off x="8028432" y="3794760"/>
            <a:ext cx="3429000" cy="24688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950">
                <a:solidFill>
                  <a:srgbClr val="2563EB"/>
                </a:solidFill>
              </a:defRPr>
            </a:pPr>
            <a:r>
              <a:t>PRIORITY 3</a:t>
            </a:r>
          </a:p>
          <a:p>
            <a:pPr>
              <a:spcBef>
                <a:spcPts val="200"/>
              </a:spcBef>
              <a:defRPr b="1" sz="1300">
                <a:solidFill>
                  <a:srgbClr val="0A2240"/>
                </a:solidFill>
              </a:defRPr>
            </a:pPr>
            <a:r>
              <a:t>GENERALIZABILITY</a:t>
            </a:r>
          </a:p>
          <a:p>
            <a:pPr>
              <a:spcBef>
                <a:spcPts val="200"/>
              </a:spcBef>
              <a:defRPr sz="1000" b="1">
                <a:solidFill>
                  <a:srgbClr val="475569"/>
                </a:solidFill>
              </a:defRPr>
            </a:pPr>
            <a:r>
              <a:t>Zero-Shot Spatial Transfer</a:t>
            </a:r>
          </a:p>
          <a:p>
            <a:pPr>
              <a:spcBef>
                <a:spcPts val="600"/>
              </a:spcBef>
              <a:defRPr sz="1000">
                <a:solidFill>
                  <a:srgbClr val="0F172A"/>
                </a:solidFill>
              </a:defRPr>
            </a:pPr>
            <a:r>
              <a:t>Concourse portability without local retraining (EWR → LGA). Focus is transfer ratio (RTR ≤ 1.05) and ΔMASE ≤ 10.0%.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THEORETICAL FORMULATION</a:t>
            </a:r>
          </a:p>
          <a:p>
            <a:pPr>
              <a:spcBef>
                <a:spcPts val="300"/>
              </a:spcBef>
              <a:defRPr sz="2200" b="1">
                <a:solidFill>
                  <a:srgbClr val="0A2240"/>
                </a:solidFill>
                <a:latin typeface="Calibri"/>
              </a:defRPr>
            </a:pPr>
            <a:r>
              <a:t>Hypothesis: The Asymmetric Trade-Off (H₁)</a:t>
            </a:r>
          </a:p>
          <a:p>
            <a:pPr>
              <a:spcBef>
                <a:spcPts val="200"/>
              </a:spcBef>
              <a:defRPr sz="1200">
                <a:solidFill>
                  <a:srgbClr val="475569"/>
                </a:solidFill>
                <a:latin typeface="Calibri"/>
              </a:defRPr>
            </a:pPr>
            <a:r>
              <a:t>Proving that Model Superiority is Inherently Context-Dependent</a:t>
            </a:r>
          </a:p>
        </p:txBody>
      </p:sp>
      <p:sp>
        <p:nvSpPr>
          <p:cNvPr id="3" name="Rectangle 2"/>
          <p:cNvSpPr/>
          <p:nvPr/>
        </p:nvSpPr>
        <p:spPr>
          <a:xfrm>
            <a:off x="731520" y="1691640"/>
            <a:ext cx="10728655" cy="1097280"/>
          </a:xfrm>
          <a:prstGeom prst="rect">
            <a:avLst/>
          </a:prstGeom>
          <a:solidFill>
            <a:srgbClr val="0A2240"/>
          </a:solidFill>
          <a:ln w="12700">
            <a:solidFill>
              <a:srgbClr val="0A224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b="1" sz="1000">
                <a:solidFill>
                  <a:srgbClr val="FFFFFF"/>
                </a:solidFill>
              </a:defRPr>
            </a:pPr>
            <a:r>
              <a:t>MASTER HYPOTHESIS (H₁)</a:t>
            </a:r>
          </a:p>
          <a:p>
            <a:pPr>
              <a:spcBef>
                <a:spcPts val="200"/>
              </a:spcBef>
              <a:defRPr b="1" sz="1400">
                <a:solidFill>
                  <a:srgbClr val="FFFFFF"/>
                </a:solidFill>
                <a:latin typeface="Georgia"/>
              </a:defRPr>
            </a:pPr>
            <a:r>
              <a:t>Across candidate paradigms, no individual model is universally dominant across all three performance measures.</a:t>
            </a:r>
          </a:p>
        </p:txBody>
      </p:sp>
      <p:sp>
        <p:nvSpPr>
          <p:cNvPr id="4" name="Rectangle 3"/>
          <p:cNvSpPr/>
          <p:nvPr/>
        </p:nvSpPr>
        <p:spPr>
          <a:xfrm>
            <a:off x="731520" y="3017520"/>
            <a:ext cx="3429000" cy="3246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b="1" sz="1000">
                <a:solidFill>
                  <a:srgbClr val="2563EB"/>
                </a:solidFill>
              </a:defRPr>
            </a:pPr>
            <a:r>
              <a:t>H1a</a:t>
            </a:r>
          </a:p>
          <a:p>
            <a:pPr>
              <a:spcBef>
                <a:spcPts val="200"/>
              </a:spcBef>
              <a:defRPr b="1" sz="1200">
                <a:solidFill>
                  <a:srgbClr val="0A2240"/>
                </a:solidFill>
              </a:defRPr>
            </a:pPr>
            <a:r>
              <a:t>ROBUSTNESS HYPOTHESIS</a:t>
            </a:r>
          </a:p>
          <a:p>
            <a:pPr>
              <a:spcBef>
                <a:spcPts val="400"/>
              </a:spcBef>
              <a:defRPr b="1" sz="1000">
                <a:solidFill>
                  <a:srgbClr val="475569"/>
                </a:solidFill>
              </a:defRPr>
            </a:pPr>
            <a:r>
              <a:t>Machine Learning &amp; Hybrids Satisfy Target</a:t>
            </a:r>
          </a:p>
          <a:p>
            <a:pPr>
              <a:spcBef>
                <a:spcPts val="1000"/>
              </a:spcBef>
              <a:defRPr sz="1050">
                <a:solidFill>
                  <a:srgbClr val="0F172A"/>
                </a:solidFill>
              </a:defRPr>
            </a:pPr>
            <a:r>
              <a:t>Under nominal conditions (delays &lt; 15m), Supervised ML (Model 2) and Dynamic Hybrid (Model 3) achieve MASE &lt; 0.700. Deterministic flight schedules fail to meet the target due to rigid capacity assumptions.</a:t>
            </a:r>
          </a:p>
        </p:txBody>
      </p:sp>
      <p:sp>
        <p:nvSpPr>
          <p:cNvPr id="5" name="Rectangle 4"/>
          <p:cNvSpPr/>
          <p:nvPr/>
        </p:nvSpPr>
        <p:spPr>
          <a:xfrm>
            <a:off x="4379976" y="3017520"/>
            <a:ext cx="3429000" cy="3246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b="1" sz="1000">
                <a:solidFill>
                  <a:srgbClr val="2563EB"/>
                </a:solidFill>
              </a:defRPr>
            </a:pPr>
            <a:r>
              <a:t>H1b</a:t>
            </a:r>
          </a:p>
          <a:p>
            <a:pPr>
              <a:spcBef>
                <a:spcPts val="200"/>
              </a:spcBef>
              <a:defRPr b="1" sz="1200">
                <a:solidFill>
                  <a:srgbClr val="0A2240"/>
                </a:solidFill>
              </a:defRPr>
            </a:pPr>
            <a:r>
              <a:t>RESILIENCE HYPOTHESIS</a:t>
            </a:r>
          </a:p>
          <a:p>
            <a:pPr>
              <a:spcBef>
                <a:spcPts val="400"/>
              </a:spcBef>
              <a:defRPr b="1" sz="1000">
                <a:solidFill>
                  <a:srgbClr val="475569"/>
                </a:solidFill>
              </a:defRPr>
            </a:pPr>
            <a:r>
              <a:t>Dynamic Hybrid is Sole Resilient Winner</a:t>
            </a:r>
          </a:p>
          <a:p>
            <a:pPr>
              <a:spcBef>
                <a:spcPts val="1000"/>
              </a:spcBef>
              <a:defRPr sz="1050">
                <a:solidFill>
                  <a:srgbClr val="0F172A"/>
                </a:solidFill>
              </a:defRPr>
            </a:pPr>
            <a:r>
              <a:t>Under convective IROPS shocks (delays ≥ 45m), Dynamic Hybrid (Model 3) maintains shock stability (R_MASE ≈ 1.05). Supervised ML collapses (R = 2.14) due to the Empty Checkpoint Fallacy.</a:t>
            </a:r>
          </a:p>
        </p:txBody>
      </p:sp>
      <p:sp>
        <p:nvSpPr>
          <p:cNvPr id="6" name="Rectangle 5"/>
          <p:cNvSpPr/>
          <p:nvPr/>
        </p:nvSpPr>
        <p:spPr>
          <a:xfrm>
            <a:off x="8028432" y="3017520"/>
            <a:ext cx="3429000" cy="3246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b="1" sz="1000">
                <a:solidFill>
                  <a:srgbClr val="2563EB"/>
                </a:solidFill>
              </a:defRPr>
            </a:pPr>
            <a:r>
              <a:t>H1c</a:t>
            </a:r>
          </a:p>
          <a:p>
            <a:pPr>
              <a:spcBef>
                <a:spcPts val="200"/>
              </a:spcBef>
              <a:defRPr b="1" sz="1200">
                <a:solidFill>
                  <a:srgbClr val="0A2240"/>
                </a:solidFill>
              </a:defRPr>
            </a:pPr>
            <a:r>
              <a:t>GENERALIZABILITY HYPOTHESIS</a:t>
            </a:r>
          </a:p>
          <a:p>
            <a:pPr>
              <a:spcBef>
                <a:spcPts val="400"/>
              </a:spcBef>
              <a:defRPr b="1" sz="1000">
                <a:solidFill>
                  <a:srgbClr val="475569"/>
                </a:solidFill>
              </a:defRPr>
            </a:pPr>
            <a:r>
              <a:t>Deterministic Schedules Win Spatial Transfer</a:t>
            </a:r>
          </a:p>
          <a:p>
            <a:pPr>
              <a:spcBef>
                <a:spcPts val="1000"/>
              </a:spcBef>
              <a:defRPr sz="1050">
                <a:solidFill>
                  <a:srgbClr val="0F172A"/>
                </a:solidFill>
              </a:defRPr>
            </a:pPr>
            <a:r>
              <a:t>Under zero-shot concourse transfer (EWR → LGA), Deterministic Schedule (Model 1) achieves ΔMASE ≤ 10%. Dynamic Hybrids fail (ΔMASE = +21.5%) due to decision tree terminal geometry overfitting.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EVALUATIVE TRIO</a:t>
            </a:r>
          </a:p>
          <a:p>
            <a:pPr>
              <a:spcBef>
                <a:spcPts val="300"/>
              </a:spcBef>
              <a:defRPr sz="2200" b="1">
                <a:solidFill>
                  <a:srgbClr val="0A2240"/>
                </a:solidFill>
                <a:latin typeface="Calibri"/>
              </a:defRPr>
            </a:pPr>
            <a:r>
              <a:t>The Multi-Pillar Performance Framework</a:t>
            </a:r>
          </a:p>
          <a:p>
            <a:pPr>
              <a:spcBef>
                <a:spcPts val="200"/>
              </a:spcBef>
              <a:defRPr sz="1200">
                <a:solidFill>
                  <a:srgbClr val="475569"/>
                </a:solidFill>
                <a:latin typeface="Calibri"/>
              </a:defRPr>
            </a:pPr>
            <a:r>
              <a:t>Why Single Global Metrics Fail Operational Decision-Makers</a:t>
            </a:r>
          </a:p>
        </p:txBody>
      </p:sp>
      <p:sp>
        <p:nvSpPr>
          <p:cNvPr id="3" name="Rectangle 2"/>
          <p:cNvSpPr/>
          <p:nvPr/>
        </p:nvSpPr>
        <p:spPr>
          <a:xfrm>
            <a:off x="731520" y="1691640"/>
            <a:ext cx="512064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b="1" sz="1100">
                <a:solidFill>
                  <a:srgbClr val="2563EB"/>
                </a:solidFill>
              </a:defRPr>
            </a:pPr>
            <a:r>
              <a:t>THE ASYMMETRIC TRADE-OFF SPACE</a:t>
            </a:r>
          </a:p>
          <a:p>
            <a:pPr>
              <a:spcBef>
                <a:spcPts val="400"/>
              </a:spcBef>
              <a:defRPr b="1" sz="1400">
                <a:solidFill>
                  <a:srgbClr val="0A2240"/>
                </a:solidFill>
              </a:defRPr>
            </a:pPr>
            <a:r>
              <a:t>Operational Reality vs. Algorithmic Specialization</a:t>
            </a:r>
          </a:p>
          <a:p>
            <a:pPr>
              <a:spcBef>
                <a:spcPts val="800"/>
              </a:spcBef>
              <a:defRPr sz="1050">
                <a:solidFill>
                  <a:srgbClr val="0F172A"/>
                </a:solidFill>
              </a:defRPr>
            </a:pPr>
            <a:r>
              <a:t>•  Traditional evaluations rely on annual aggregate RMSE, pooling all 8,760 hours of the year into a single metric.</a:t>
            </a:r>
          </a:p>
          <a:p>
            <a:pPr>
              <a:spcBef>
                <a:spcPts val="800"/>
              </a:spcBef>
              <a:defRPr sz="1050">
                <a:solidFill>
                  <a:srgbClr val="0F172A"/>
                </a:solidFill>
              </a:defRPr>
            </a:pPr>
            <a:r>
              <a:t>•  Aggregate error is 90% dominated by routine, calm hours. A model can boast excellent annual RMSE while completely collapsing during severe afternoon storms.</a:t>
            </a:r>
          </a:p>
          <a:p>
            <a:pPr>
              <a:spcBef>
                <a:spcPts val="800"/>
              </a:spcBef>
              <a:defRPr sz="1050">
                <a:solidFill>
                  <a:srgbClr val="0F172A"/>
                </a:solidFill>
              </a:defRPr>
            </a:pPr>
            <a:r>
              <a:t>•  Airport directors cannot manage checkpoints with a single metric: morning peak staffing requires low latency, convective storms demand shock resilience, and terminal expansion requires zero-shot spatial transfer.</a:t>
            </a:r>
          </a:p>
          <a:p>
            <a:pPr>
              <a:spcBef>
                <a:spcPts val="800"/>
              </a:spcBef>
              <a:defRPr sz="1050">
                <a:solidFill>
                  <a:srgbClr val="0F172A"/>
                </a:solidFill>
              </a:defRPr>
            </a:pPr>
            <a:r>
              <a:t>•  Conclusion: Model selection must be formulated across three mutually non-collinear operational pillars.</a:t>
            </a:r>
          </a:p>
        </p:txBody>
      </p:sp>
      <p:sp>
        <p:nvSpPr>
          <p:cNvPr id="4" name="Rectangle 3"/>
          <p:cNvSpPr/>
          <p:nvPr/>
        </p:nvSpPr>
        <p:spPr>
          <a:xfrm>
            <a:off x="6126480" y="1691640"/>
            <a:ext cx="5333695" cy="141732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37160"/>
          <a:lstStyle/>
          <a:p>
            <a:pPr algn="ctr">
              <a:defRPr b="1" sz="1050">
                <a:solidFill>
                  <a:srgbClr val="0A2240"/>
                </a:solidFill>
              </a:defRPr>
            </a:pPr>
            <a:r>
              <a:t>PILLAR 1: ROBUSTNESS</a:t>
            </a:r>
          </a:p>
          <a:p>
            <a:pPr>
              <a:spcBef>
                <a:spcPts val="200"/>
              </a:spcBef>
              <a:defRPr b="1" sz="950">
                <a:solidFill>
                  <a:srgbClr val="2563EB"/>
                </a:solidFill>
              </a:defRPr>
            </a:pPr>
            <a:r>
              <a:t>Routine Daily Operations (Nominal)</a:t>
            </a:r>
          </a:p>
          <a:p>
            <a:pPr>
              <a:spcBef>
                <a:spcPts val="300"/>
              </a:spcBef>
              <a:defRPr sz="950">
                <a:solidFill>
                  <a:srgbClr val="0F172A"/>
                </a:solidFill>
              </a:defRPr>
            </a:pPr>
            <a:r>
              <a:t>Evaluates accuracy under calm conditions (delays &lt; 15m, 0 cancels).</a:t>
            </a:r>
            <a:br/>
            <a:r>
              <a:t>• Stated Target: MASE &lt; 0.700</a:t>
            </a:r>
            <a:br/>
            <a:r>
              <a:t>• Focus: Lowest routine RMSE and zero-latency inference dispatch.</a:t>
            </a:r>
          </a:p>
        </p:txBody>
      </p:sp>
      <p:sp>
        <p:nvSpPr>
          <p:cNvPr id="5" name="Rectangle 4"/>
          <p:cNvSpPr/>
          <p:nvPr/>
        </p:nvSpPr>
        <p:spPr>
          <a:xfrm>
            <a:off x="6126480" y="3264408"/>
            <a:ext cx="5333695" cy="141732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37160"/>
          <a:lstStyle/>
          <a:p>
            <a:pPr algn="ctr">
              <a:defRPr b="1" sz="1050">
                <a:solidFill>
                  <a:srgbClr val="0A2240"/>
                </a:solidFill>
              </a:defRPr>
            </a:pPr>
            <a:r>
              <a:t>PILLAR 2: RESILIENCE</a:t>
            </a:r>
          </a:p>
          <a:p>
            <a:pPr>
              <a:spcBef>
                <a:spcPts val="200"/>
              </a:spcBef>
              <a:defRPr b="1" sz="950">
                <a:solidFill>
                  <a:srgbClr val="2563EB"/>
                </a:solidFill>
              </a:defRPr>
            </a:pPr>
            <a:r>
              <a:t>Disruption Shock Stability (IROPS)</a:t>
            </a:r>
          </a:p>
          <a:p>
            <a:pPr>
              <a:spcBef>
                <a:spcPts val="300"/>
              </a:spcBef>
              <a:defRPr sz="950">
                <a:solidFill>
                  <a:srgbClr val="0F172A"/>
                </a:solidFill>
              </a:defRPr>
            </a:pPr>
            <a:r>
              <a:t>Evaluates model stability under convective storms (delays ≥ 45m, cancels ≥ 5).</a:t>
            </a:r>
            <a:br/>
            <a:r>
              <a:t>• Stated Target: R_MASE ≈ 1.00 &amp; TTR &lt; 4.0h</a:t>
            </a:r>
            <a:br/>
            <a:r>
              <a:t>• Focus: Overcoming the Empty Checkpoint Fallacy.</a:t>
            </a:r>
          </a:p>
        </p:txBody>
      </p:sp>
      <p:sp>
        <p:nvSpPr>
          <p:cNvPr id="6" name="Rectangle 5"/>
          <p:cNvSpPr/>
          <p:nvPr/>
        </p:nvSpPr>
        <p:spPr>
          <a:xfrm>
            <a:off x="6126480" y="4837176"/>
            <a:ext cx="5333695" cy="141732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37160"/>
          <a:lstStyle/>
          <a:p>
            <a:pPr algn="ctr">
              <a:defRPr b="1" sz="1050">
                <a:solidFill>
                  <a:srgbClr val="0A2240"/>
                </a:solidFill>
              </a:defRPr>
            </a:pPr>
            <a:r>
              <a:t>PILLAR 3: GENERALIZABILITY</a:t>
            </a:r>
          </a:p>
          <a:p>
            <a:pPr>
              <a:spcBef>
                <a:spcPts val="200"/>
              </a:spcBef>
              <a:defRPr b="1" sz="950">
                <a:solidFill>
                  <a:srgbClr val="2563EB"/>
                </a:solidFill>
              </a:defRPr>
            </a:pPr>
            <a:r>
              <a:t>Zero-Shot Spatial Transferability</a:t>
            </a:r>
          </a:p>
          <a:p>
            <a:pPr>
              <a:spcBef>
                <a:spcPts val="300"/>
              </a:spcBef>
              <a:defRPr sz="950">
                <a:solidFill>
                  <a:srgbClr val="0F172A"/>
                </a:solidFill>
              </a:defRPr>
            </a:pPr>
            <a:r>
              <a:t>Evaluates model transfer from EWR to LGA without concourse retraining.</a:t>
            </a:r>
            <a:br/>
            <a:r>
              <a:t>• Stated Target: Relative Transfer Ratio RTR ≤ 1.05 &amp; ΔMASE ≤ 10.0%</a:t>
            </a:r>
            <a:br/>
            <a:r>
              <a:t>• Focus: Invariance to physical checkpoint terminal layouts.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THEORETICAL EVOLUTION</a:t>
            </a:r>
          </a:p>
          <a:p>
            <a:pPr>
              <a:spcBef>
                <a:spcPts val="300"/>
              </a:spcBef>
              <a:defRPr sz="2200" b="1">
                <a:solidFill>
                  <a:srgbClr val="0A2240"/>
                </a:solidFill>
                <a:latin typeface="Calibri"/>
              </a:defRPr>
            </a:pPr>
            <a:r>
              <a:t>Evolution of Terminal Flow Literature</a:t>
            </a:r>
          </a:p>
          <a:p>
            <a:pPr>
              <a:spcBef>
                <a:spcPts val="200"/>
              </a:spcBef>
              <a:defRPr sz="1200">
                <a:solidFill>
                  <a:srgbClr val="475569"/>
                </a:solidFill>
                <a:latin typeface="Calibri"/>
              </a:defRPr>
            </a:pPr>
            <a:r>
              <a:t>From Static Flight Bank Convolutions to Dynamic Error Feedback</a:t>
            </a:r>
          </a:p>
        </p:txBody>
      </p:sp>
      <p:sp>
        <p:nvSpPr>
          <p:cNvPr id="3" name="Rectangle 2"/>
          <p:cNvSpPr/>
          <p:nvPr/>
        </p:nvSpPr>
        <p:spPr>
          <a:xfrm>
            <a:off x="731520" y="1691640"/>
            <a:ext cx="2558719" cy="118872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0A2240"/>
                </a:solidFill>
                <a:latin typeface="Calibri"/>
              </a:defRPr>
            </a:pPr>
            <a:r>
              <a:t>1990s  ·  Deterministic Schedules</a:t>
            </a:r>
          </a:p>
          <a:p>
            <a:pPr>
              <a:spcBef>
                <a:spcPts val="300"/>
              </a:spcBef>
              <a:defRPr sz="950">
                <a:solidFill>
                  <a:srgbClr val="475569"/>
                </a:solidFill>
                <a:latin typeface="Calibri"/>
              </a:defRPr>
            </a:pPr>
            <a:r>
              <a:t>Flight bank show-up curves (ACRP Report 40). Transparent, but blind to delay cascades.</a:t>
            </a:r>
          </a:p>
        </p:txBody>
      </p:sp>
      <p:sp>
        <p:nvSpPr>
          <p:cNvPr id="4" name="Rectangle 3"/>
          <p:cNvSpPr/>
          <p:nvPr/>
        </p:nvSpPr>
        <p:spPr>
          <a:xfrm>
            <a:off x="3454831" y="1691640"/>
            <a:ext cx="2558719" cy="118872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0A2240"/>
                </a:solidFill>
                <a:latin typeface="Calibri"/>
              </a:defRPr>
            </a:pPr>
            <a:r>
              <a:t>2000s  ·  Micro-Simulation</a:t>
            </a:r>
          </a:p>
          <a:p>
            <a:pPr>
              <a:spcBef>
                <a:spcPts val="300"/>
              </a:spcBef>
              <a:defRPr sz="950">
                <a:solidFill>
                  <a:srgbClr val="475569"/>
                </a:solidFill>
                <a:latin typeface="Calibri"/>
              </a:defRPr>
            </a:pPr>
            <a:r>
              <a:t>Agent-based models (Simio, CAST). High spatial fidelity, but severe 45m compute latency.</a:t>
            </a:r>
          </a:p>
        </p:txBody>
      </p:sp>
      <p:sp>
        <p:nvSpPr>
          <p:cNvPr id="5" name="Rectangle 4"/>
          <p:cNvSpPr/>
          <p:nvPr/>
        </p:nvSpPr>
        <p:spPr>
          <a:xfrm>
            <a:off x="6178143" y="1691640"/>
            <a:ext cx="2558719" cy="118872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0A2240"/>
                </a:solidFill>
                <a:latin typeface="Calibri"/>
              </a:defRPr>
            </a:pPr>
            <a:r>
              <a:t>2015+  ·  Supervised Machine Learning</a:t>
            </a:r>
          </a:p>
          <a:p>
            <a:pPr>
              <a:spcBef>
                <a:spcPts val="300"/>
              </a:spcBef>
              <a:defRPr sz="950">
                <a:solidFill>
                  <a:srgbClr val="475569"/>
                </a:solidFill>
                <a:latin typeface="Calibri"/>
              </a:defRPr>
            </a:pPr>
            <a:r>
              <a:t>Tree ensembles (GBRT, Random Forest). High routine accuracy; fragile during severe IROPS.</a:t>
            </a:r>
          </a:p>
        </p:txBody>
      </p:sp>
      <p:sp>
        <p:nvSpPr>
          <p:cNvPr id="6" name="Rectangle 5"/>
          <p:cNvSpPr/>
          <p:nvPr/>
        </p:nvSpPr>
        <p:spPr>
          <a:xfrm>
            <a:off x="8901455" y="1691640"/>
            <a:ext cx="2558719" cy="1188720"/>
          </a:xfrm>
          <a:prstGeom prst="rect">
            <a:avLst/>
          </a:prstGeom>
          <a:solidFill>
            <a:srgbClr val="0A2240"/>
          </a:solidFill>
          <a:ln w="12700">
            <a:solidFill>
              <a:srgbClr val="0A224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Calibri"/>
              </a:defRPr>
            </a:pPr>
            <a:r>
              <a:t>Today  ·  Two-Stage Dynamic Hybrids</a:t>
            </a:r>
          </a:p>
          <a:p>
            <a:pPr>
              <a:spcBef>
                <a:spcPts val="300"/>
              </a:spcBef>
              <a:defRPr sz="950">
                <a:solidFill>
                  <a:srgbClr val="64748B"/>
                </a:solidFill>
                <a:latin typeface="Calibri"/>
              </a:defRPr>
            </a:pPr>
            <a:r>
              <a:t>Couples recurring flight schedules with live floor error feedback (e_t-1).</a:t>
            </a:r>
          </a:p>
        </p:txBody>
      </p:sp>
      <p:sp>
        <p:nvSpPr>
          <p:cNvPr id="7" name="Rectangle 6"/>
          <p:cNvSpPr/>
          <p:nvPr/>
        </p:nvSpPr>
        <p:spPr>
          <a:xfrm>
            <a:off x="731520" y="3154680"/>
            <a:ext cx="5212080" cy="31089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100">
                <a:solidFill>
                  <a:srgbClr val="166534"/>
                </a:solidFill>
              </a:defRPr>
            </a:pPr>
            <a:r>
              <a:t>THEORETICAL ADVANCEMENTS (STRENGTHS)</a:t>
            </a:r>
          </a:p>
          <a:p>
            <a:pPr>
              <a:spcBef>
                <a:spcPts val="600"/>
              </a:spcBef>
              <a:defRPr sz="1050">
                <a:solidFill>
                  <a:srgbClr val="0F172A"/>
                </a:solidFill>
              </a:defRPr>
            </a:pPr>
            <a:r>
              <a:t>•  Deterministic Physics: Captures flight bank periodicity and aircraft seat gauge without requiring historical training data.</a:t>
            </a:r>
          </a:p>
          <a:p>
            <a:pPr>
              <a:spcBef>
                <a:spcPts val="600"/>
              </a:spcBef>
              <a:defRPr sz="1050">
                <a:solidFill>
                  <a:srgbClr val="0F172A"/>
                </a:solidFill>
              </a:defRPr>
            </a:pPr>
            <a:r>
              <a:t>•  Micro-Simulation: Accurately maps physical walking corridors, PreCheck lane splits, and baggage screening bottlenecks.</a:t>
            </a:r>
          </a:p>
          <a:p>
            <a:pPr>
              <a:spcBef>
                <a:spcPts val="600"/>
              </a:spcBef>
              <a:defRPr sz="1050">
                <a:solidFill>
                  <a:srgbClr val="0F172A"/>
                </a:solidFill>
              </a:defRPr>
            </a:pPr>
            <a:r>
              <a:t>•  Supervised ML: Efficiently processes complex non-linear interactions across 24 BTS OTP delay metrics and taxi times.</a:t>
            </a:r>
          </a:p>
        </p:txBody>
      </p:sp>
      <p:sp>
        <p:nvSpPr>
          <p:cNvPr id="8" name="Rectangle 7"/>
          <p:cNvSpPr/>
          <p:nvPr/>
        </p:nvSpPr>
        <p:spPr>
          <a:xfrm>
            <a:off x="6217920" y="3154680"/>
            <a:ext cx="5242255" cy="31089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100">
                <a:solidFill>
                  <a:srgbClr val="B45309"/>
                </a:solidFill>
              </a:defRPr>
            </a:pPr>
            <a:r>
              <a:t>OPERATIONAL SHORTCOMINGS (THE GAPS)</a:t>
            </a:r>
          </a:p>
          <a:p>
            <a:pPr>
              <a:spcBef>
                <a:spcPts val="600"/>
              </a:spcBef>
              <a:defRPr sz="1050">
                <a:solidFill>
                  <a:srgbClr val="0F172A"/>
                </a:solidFill>
              </a:defRPr>
            </a:pPr>
            <a:r>
              <a:t>•  The Static Volume Fallacy: Prior literature targets raw hourly headcounts, completely ignoring arrival burstiness (Kingman's Ca²).</a:t>
            </a:r>
          </a:p>
          <a:p>
            <a:pPr>
              <a:spcBef>
                <a:spcPts val="600"/>
              </a:spcBef>
              <a:defRPr sz="1050">
                <a:solidFill>
                  <a:srgbClr val="0F172A"/>
                </a:solidFill>
              </a:defRPr>
            </a:pPr>
            <a:r>
              <a:t>•  The Dispatch Latency Barrier: 45-minute simulation runs cannot support real-time tactical lane opening during flight ground stops.</a:t>
            </a:r>
          </a:p>
          <a:p>
            <a:pPr>
              <a:spcBef>
                <a:spcPts val="600"/>
              </a:spcBef>
              <a:defRPr sz="1050">
                <a:solidFill>
                  <a:srgbClr val="0F172A"/>
                </a:solidFill>
              </a:defRPr>
            </a:pPr>
            <a:r>
              <a:t>•  The Empty Checkpoint Fallacy: ML algorithms predict zero passengers when flights cancel, leaving airports blind to stranded crowds.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LITERATURE GAP</a:t>
            </a:r>
          </a:p>
          <a:p>
            <a:pPr>
              <a:spcBef>
                <a:spcPts val="300"/>
              </a:spcBef>
              <a:defRPr sz="2200" b="1">
                <a:solidFill>
                  <a:srgbClr val="0A2240"/>
                </a:solidFill>
                <a:latin typeface="Calibri"/>
              </a:defRPr>
            </a:pPr>
            <a:r>
              <a:t>The Static Fallacy in Terminal Modeling</a:t>
            </a:r>
          </a:p>
          <a:p>
            <a:pPr>
              <a:spcBef>
                <a:spcPts val="200"/>
              </a:spcBef>
              <a:defRPr sz="1200">
                <a:solidFill>
                  <a:srgbClr val="475569"/>
                </a:solidFill>
                <a:latin typeface="Calibri"/>
              </a:defRPr>
            </a:pPr>
            <a:r>
              <a:t>Why Static Passenger Volumes Fail to Explain Checkpoint Delays</a:t>
            </a:r>
          </a:p>
        </p:txBody>
      </p:sp>
      <p:sp>
        <p:nvSpPr>
          <p:cNvPr id="3" name="Rectangle 2"/>
          <p:cNvSpPr/>
          <p:nvPr/>
        </p:nvSpPr>
        <p:spPr>
          <a:xfrm>
            <a:off x="731520" y="1691640"/>
            <a:ext cx="521208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bIns="137160"/>
          <a:lstStyle/>
          <a:p>
            <a:pPr algn="ctr">
              <a:defRPr sz="1000" b="1">
                <a:solidFill>
                  <a:srgbClr val="2563EB"/>
                </a:solidFill>
                <a:latin typeface="Calibri"/>
              </a:defRPr>
            </a:pPr>
            <a:r>
              <a:t>SCALE-FREE RELATIVE VOLATILITY METRIC</a:t>
            </a:r>
          </a:p>
          <a:p>
            <a:pPr algn="ctr">
              <a:spcBef>
                <a:spcPts val="600"/>
              </a:spcBef>
              <a:spcAft>
                <a:spcPts val="600"/>
              </a:spcAft>
              <a:defRPr sz="1800" b="1">
                <a:solidFill>
                  <a:srgbClr val="0A2240"/>
                </a:solidFill>
                <a:latin typeface="Georgia"/>
              </a:defRPr>
            </a:pPr>
            <a:r>
              <a:t>CV_TSA  =  σ_TSA  /  μ_TSA</a:t>
            </a:r>
          </a:p>
          <a:p>
            <a:pPr algn="ctr">
              <a:spcBef>
                <a:spcPts val="200"/>
              </a:spcBef>
              <a:defRPr sz="1050">
                <a:solidFill>
                  <a:srgbClr val="475569"/>
                </a:solidFill>
                <a:latin typeface="Calibri"/>
              </a:defRPr>
            </a:pPr>
            <a:r>
              <a:t>σ_TSA : Standard deviation of passenger screening arrivals across the day</a:t>
            </a:r>
          </a:p>
          <a:p>
            <a:pPr algn="ctr">
              <a:spcBef>
                <a:spcPts val="200"/>
              </a:spcBef>
              <a:defRPr sz="1050">
                <a:solidFill>
                  <a:srgbClr val="475569"/>
                </a:solidFill>
                <a:latin typeface="Calibri"/>
              </a:defRPr>
            </a:pPr>
            <a:r>
              <a:t>μ_TSA : Mean hourly screening volume across active operating hours</a:t>
            </a:r>
          </a:p>
          <a:p>
            <a:pPr algn="ctr">
              <a:spcBef>
                <a:spcPts val="200"/>
              </a:spcBef>
              <a:defRPr sz="1050">
                <a:solidFill>
                  <a:srgbClr val="475569"/>
                </a:solidFill>
                <a:latin typeface="Calibri"/>
              </a:defRPr>
            </a:pPr>
          </a:p>
          <a:p>
            <a:pPr algn="ctr">
              <a:spcBef>
                <a:spcPts val="200"/>
              </a:spcBef>
              <a:defRPr sz="1050">
                <a:solidFill>
                  <a:srgbClr val="475569"/>
                </a:solidFill>
                <a:latin typeface="Calibri"/>
              </a:defRPr>
            </a:pPr>
            <a:r>
              <a:t>Why Volatility Governs Heavy-Traffic Queuing:</a:t>
            </a:r>
          </a:p>
          <a:p>
            <a:pPr algn="ctr">
              <a:spcBef>
                <a:spcPts val="200"/>
              </a:spcBef>
              <a:defRPr sz="1050">
                <a:solidFill>
                  <a:srgbClr val="475569"/>
                </a:solidFill>
                <a:latin typeface="Calibri"/>
              </a:defRPr>
            </a:pPr>
            <a:r>
              <a:t>• Dimensionless metric normalizing burstiness across small vs. mega hubs</a:t>
            </a:r>
          </a:p>
          <a:p>
            <a:pPr algn="ctr">
              <a:spcBef>
                <a:spcPts val="200"/>
              </a:spcBef>
              <a:defRPr sz="1050">
                <a:solidFill>
                  <a:srgbClr val="475569"/>
                </a:solidFill>
                <a:latin typeface="Calibri"/>
              </a:defRPr>
            </a:pPr>
            <a:r>
              <a:t>• Kingman's formula proves waiting time is proportional to Ca²</a:t>
            </a:r>
          </a:p>
          <a:p>
            <a:pPr algn="ctr">
              <a:spcBef>
                <a:spcPts val="200"/>
              </a:spcBef>
              <a:defRPr sz="1050">
                <a:solidFill>
                  <a:srgbClr val="475569"/>
                </a:solidFill>
                <a:latin typeface="Calibri"/>
              </a:defRPr>
            </a:pPr>
            <a:r>
              <a:t>• Volume headcounts hide intra-hour peaking that overwhelms lanes.</a:t>
            </a:r>
          </a:p>
        </p:txBody>
      </p:sp>
      <p:sp>
        <p:nvSpPr>
          <p:cNvPr id="4" name="Rectangle 3"/>
          <p:cNvSpPr/>
          <p:nvPr/>
        </p:nvSpPr>
        <p:spPr>
          <a:xfrm>
            <a:off x="6217920" y="1691640"/>
            <a:ext cx="5242255"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b="1" sz="1100">
                <a:solidFill>
                  <a:srgbClr val="0A2240"/>
                </a:solidFill>
              </a:defRPr>
            </a:pPr>
            <a:r>
              <a:t>THE VALUES VERSUS VOLATILITY DISCOVERY</a:t>
            </a:r>
          </a:p>
          <a:p>
            <a:pPr>
              <a:spcBef>
                <a:spcPts val="400"/>
              </a:spcBef>
              <a:defRPr b="1" sz="1300">
                <a:solidFill>
                  <a:srgbClr val="2563EB"/>
                </a:solidFill>
              </a:defRPr>
            </a:pPr>
            <a:r>
              <a:t>Empirical Correlation Analysis Across 9-Airport Cohort</a:t>
            </a:r>
          </a:p>
          <a:p>
            <a:pPr>
              <a:spcBef>
                <a:spcPts val="1200"/>
              </a:spcBef>
              <a:defRPr b="1" sz="1100">
                <a:solidFill>
                  <a:srgbClr val="B45309"/>
                </a:solidFill>
              </a:defRPr>
            </a:pPr>
            <a:r>
              <a:t>1. Static Passenger Volume (y_t) vs. Flight Delays:</a:t>
            </a:r>
          </a:p>
          <a:p>
            <a:pPr>
              <a:spcBef>
                <a:spcPts val="200"/>
              </a:spcBef>
              <a:defRPr b="1" sz="1200">
                <a:solidFill>
                  <a:srgbClr val="0F172A"/>
                </a:solidFill>
                <a:latin typeface="Georgia"/>
              </a:defRPr>
            </a:pPr>
            <a:r>
              <a:t>r = -0.062,  p = 0.77  ⟹  R² = 2.5%  (Complete Failure!)</a:t>
            </a:r>
          </a:p>
          <a:p>
            <a:pPr>
              <a:spcBef>
                <a:spcPts val="200"/>
              </a:spcBef>
              <a:defRPr sz="1000">
                <a:solidFill>
                  <a:srgbClr val="475569"/>
                </a:solidFill>
              </a:defRPr>
            </a:pPr>
            <a:r>
              <a:t>Raw volume displays zero statistically significant relationship with airline departure delays. Staffing for volume leaves checkpoints blind.</a:t>
            </a:r>
          </a:p>
          <a:p>
            <a:pPr>
              <a:spcBef>
                <a:spcPts val="1400"/>
              </a:spcBef>
              <a:defRPr b="1" sz="1100">
                <a:solidFill>
                  <a:srgbClr val="166534"/>
                </a:solidFill>
              </a:defRPr>
            </a:pPr>
            <a:r>
              <a:t>2. Throughput Volatility (CV_TSA) vs. Delay Volatility (CV_delay):</a:t>
            </a:r>
          </a:p>
          <a:p>
            <a:pPr>
              <a:spcBef>
                <a:spcPts val="200"/>
              </a:spcBef>
              <a:defRPr b="1" sz="1200">
                <a:solidFill>
                  <a:srgbClr val="0F172A"/>
                </a:solidFill>
                <a:latin typeface="Georgia"/>
              </a:defRPr>
            </a:pPr>
            <a:r>
              <a:t>r = +0.4373,  p &lt; 0.05  ⟹  R² = 19.1%  (Strong Coupling!)</a:t>
            </a:r>
          </a:p>
          <a:p>
            <a:pPr>
              <a:spcBef>
                <a:spcPts val="200"/>
              </a:spcBef>
              <a:defRPr sz="1000">
                <a:solidFill>
                  <a:srgbClr val="475569"/>
                </a:solidFill>
              </a:defRPr>
            </a:pPr>
            <a:r>
              <a:t>Checkpoint arrival volatility is directly coupled with flight departure delay dispersion, confirming that volatility modeling is the correct target.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LITERATURE BREAKDOWN</a:t>
            </a:r>
          </a:p>
          <a:p>
            <a:pPr>
              <a:spcBef>
                <a:spcPts val="300"/>
              </a:spcBef>
              <a:defRPr sz="2200" b="1">
                <a:solidFill>
                  <a:srgbClr val="0A2240"/>
                </a:solidFill>
                <a:latin typeface="Calibri"/>
              </a:defRPr>
            </a:pPr>
            <a:r>
              <a:t>Deterministic Flight Schedules &amp; Classical Queueing</a:t>
            </a:r>
          </a:p>
          <a:p>
            <a:pPr>
              <a:spcBef>
                <a:spcPts val="200"/>
              </a:spcBef>
              <a:defRPr sz="1200">
                <a:solidFill>
                  <a:srgbClr val="475569"/>
                </a:solidFill>
                <a:latin typeface="Calibri"/>
              </a:defRPr>
            </a:pPr>
            <a:r>
              <a:t>Model 1: Convolving Scheduled Airline Banks Across Empirical Show-Up Curves</a:t>
            </a:r>
          </a:p>
        </p:txBody>
      </p:sp>
      <p:sp>
        <p:nvSpPr>
          <p:cNvPr id="3" name="Rectangle 2"/>
          <p:cNvSpPr/>
          <p:nvPr/>
        </p:nvSpPr>
        <p:spPr>
          <a:xfrm>
            <a:off x="731520" y="1691640"/>
            <a:ext cx="521208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bIns="137160"/>
          <a:lstStyle/>
          <a:p>
            <a:pPr algn="ctr">
              <a:defRPr sz="1000" b="1">
                <a:solidFill>
                  <a:srgbClr val="2563EB"/>
                </a:solidFill>
                <a:latin typeface="Calibri"/>
              </a:defRPr>
            </a:pPr>
            <a:r>
              <a:t>PASSENGER SHOW-UP CURVE CONVOLUTION</a:t>
            </a:r>
          </a:p>
          <a:p>
            <a:pPr algn="ctr">
              <a:spcBef>
                <a:spcPts val="600"/>
              </a:spcBef>
              <a:spcAft>
                <a:spcPts val="600"/>
              </a:spcAft>
              <a:defRPr sz="1800" b="1">
                <a:solidFill>
                  <a:srgbClr val="0A2240"/>
                </a:solidFill>
                <a:latin typeface="Georgia"/>
              </a:defRPr>
            </a:pPr>
            <a:r>
              <a:t>Ŷ_t  =  ∑ [ Seats_i · (1 - S_connect) · P(t - DEP_i) ]</a:t>
            </a:r>
          </a:p>
          <a:p>
            <a:pPr algn="ctr">
              <a:spcBef>
                <a:spcPts val="200"/>
              </a:spcBef>
              <a:defRPr sz="1050">
                <a:solidFill>
                  <a:srgbClr val="475569"/>
                </a:solidFill>
                <a:latin typeface="Calibri"/>
              </a:defRPr>
            </a:pPr>
            <a:r>
              <a:t>Seats_i : Total available seats on scheduled departing flight i</a:t>
            </a:r>
          </a:p>
          <a:p>
            <a:pPr algn="ctr">
              <a:spcBef>
                <a:spcPts val="200"/>
              </a:spcBef>
              <a:defRPr sz="1050">
                <a:solidFill>
                  <a:srgbClr val="475569"/>
                </a:solidFill>
                <a:latin typeface="Calibri"/>
              </a:defRPr>
            </a:pPr>
            <a:r>
              <a:t>S_connect : Connecting passenger share (deflated via BTS DB1B)</a:t>
            </a:r>
          </a:p>
          <a:p>
            <a:pPr algn="ctr">
              <a:spcBef>
                <a:spcPts val="200"/>
              </a:spcBef>
              <a:defRPr sz="1050">
                <a:solidFill>
                  <a:srgbClr val="475569"/>
                </a:solidFill>
                <a:latin typeface="Calibri"/>
              </a:defRPr>
            </a:pPr>
            <a:r>
              <a:t>P(τ) : Empirical lognormal show-up probability density (ACRP Report 40)</a:t>
            </a:r>
          </a:p>
          <a:p>
            <a:pPr algn="ctr">
              <a:spcBef>
                <a:spcPts val="200"/>
              </a:spcBef>
              <a:defRPr sz="1050">
                <a:solidFill>
                  <a:srgbClr val="475569"/>
                </a:solidFill>
                <a:latin typeface="Calibri"/>
              </a:defRPr>
            </a:pPr>
            <a:r>
              <a:t>DEP_i : Scheduled flight departure timestamp</a:t>
            </a:r>
          </a:p>
          <a:p>
            <a:pPr algn="ctr">
              <a:spcBef>
                <a:spcPts val="200"/>
              </a:spcBef>
              <a:defRPr sz="1050">
                <a:solidFill>
                  <a:srgbClr val="475569"/>
                </a:solidFill>
                <a:latin typeface="Calibri"/>
              </a:defRPr>
            </a:pPr>
          </a:p>
          <a:p>
            <a:pPr algn="ctr">
              <a:spcBef>
                <a:spcPts val="200"/>
              </a:spcBef>
              <a:defRPr sz="1050">
                <a:solidFill>
                  <a:srgbClr val="475569"/>
                </a:solidFill>
                <a:latin typeface="Calibri"/>
              </a:defRPr>
            </a:pPr>
            <a:r>
              <a:t>Operational Philosophy:</a:t>
            </a:r>
          </a:p>
          <a:p>
            <a:pPr algn="ctr">
              <a:spcBef>
                <a:spcPts val="200"/>
              </a:spcBef>
              <a:defRPr sz="1050">
                <a:solidFill>
                  <a:srgbClr val="475569"/>
                </a:solidFill>
                <a:latin typeface="Calibri"/>
              </a:defRPr>
            </a:pPr>
            <a:r>
              <a:t>Transparent, physics-based baseline. Zero historical training</a:t>
            </a:r>
          </a:p>
          <a:p>
            <a:pPr algn="ctr">
              <a:spcBef>
                <a:spcPts val="200"/>
              </a:spcBef>
              <a:defRPr sz="1050">
                <a:solidFill>
                  <a:srgbClr val="475569"/>
                </a:solidFill>
                <a:latin typeface="Calibri"/>
              </a:defRPr>
            </a:pPr>
            <a:r>
              <a:t>required; captures macro scheduled bank rhythms directly.</a:t>
            </a:r>
          </a:p>
        </p:txBody>
      </p:sp>
      <p:sp>
        <p:nvSpPr>
          <p:cNvPr id="4" name="Rectangle 3"/>
          <p:cNvSpPr/>
          <p:nvPr/>
        </p:nvSpPr>
        <p:spPr>
          <a:xfrm>
            <a:off x="6217920" y="1691640"/>
            <a:ext cx="5242255"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b="1" sz="1100">
                <a:solidFill>
                  <a:srgbClr val="2563EB"/>
                </a:solidFill>
              </a:defRPr>
            </a:pPr>
            <a:r>
              <a:t>OPERATIONAL APPRAISAL: MODEL 1</a:t>
            </a:r>
          </a:p>
          <a:p>
            <a:pPr>
              <a:spcBef>
                <a:spcPts val="400"/>
              </a:spcBef>
              <a:defRPr b="1" sz="1400">
                <a:solidFill>
                  <a:srgbClr val="0A2240"/>
                </a:solidFill>
              </a:defRPr>
            </a:pPr>
            <a:r>
              <a:t>Strengths &amp; Structural Vulnerabilities</a:t>
            </a:r>
          </a:p>
          <a:p>
            <a:pPr>
              <a:spcBef>
                <a:spcPts val="1000"/>
              </a:spcBef>
              <a:defRPr b="1" sz="1100">
                <a:solidFill>
                  <a:srgbClr val="0F172A"/>
                </a:solidFill>
              </a:defRPr>
            </a:pPr>
            <a:r>
              <a:t>•  Zero-Shot Spatial Invariance (Major Strength)</a:t>
            </a:r>
          </a:p>
          <a:p>
            <a:pPr>
              <a:spcBef>
                <a:spcPts val="200"/>
              </a:spcBef>
              <a:defRPr sz="1000">
                <a:solidFill>
                  <a:srgbClr val="475569"/>
                </a:solidFill>
              </a:defRPr>
            </a:pPr>
            <a:r>
              <a:t>Because passenger arrival psychology is governed by human show-up behavior rather than local concourse geometry, Model 1 transfers seamlessly to new airports without calibration.</a:t>
            </a:r>
          </a:p>
          <a:p>
            <a:pPr>
              <a:spcBef>
                <a:spcPts val="1000"/>
              </a:spcBef>
              <a:defRPr b="1" sz="1100">
                <a:solidFill>
                  <a:srgbClr val="0F172A"/>
                </a:solidFill>
              </a:defRPr>
            </a:pPr>
            <a:r>
              <a:t>•  Complete Transparency</a:t>
            </a:r>
          </a:p>
          <a:p>
            <a:pPr>
              <a:spcBef>
                <a:spcPts val="200"/>
              </a:spcBef>
              <a:defRPr sz="1000">
                <a:solidFill>
                  <a:srgbClr val="475569"/>
                </a:solidFill>
              </a:defRPr>
            </a:pPr>
            <a:r>
              <a:t>100% interpretable. Airport operators and airlines can trace every passenger forecast back to explicit flight numbers and aircraft seat configurations.</a:t>
            </a:r>
          </a:p>
          <a:p>
            <a:pPr>
              <a:spcBef>
                <a:spcPts val="1000"/>
              </a:spcBef>
              <a:defRPr b="1" sz="1100">
                <a:solidFill>
                  <a:srgbClr val="0F172A"/>
                </a:solidFill>
              </a:defRPr>
            </a:pPr>
            <a:r>
              <a:t>•  Blindness to Delays (Fatal Flaw)</a:t>
            </a:r>
          </a:p>
          <a:p>
            <a:pPr>
              <a:spcBef>
                <a:spcPts val="200"/>
              </a:spcBef>
              <a:defRPr sz="1000">
                <a:solidFill>
                  <a:srgbClr val="475569"/>
                </a:solidFill>
              </a:defRPr>
            </a:pPr>
            <a:r>
              <a:t>Fails to incorporate real-time airside telemetry. When afternoon storms cause 2-hour departure delays, Model 1 predicts passenger arrivals that have already cleared screening hours earlier.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LITERATURE BREAKDOWN</a:t>
            </a:r>
          </a:p>
          <a:p>
            <a:pPr>
              <a:spcBef>
                <a:spcPts val="300"/>
              </a:spcBef>
              <a:defRPr sz="2200" b="1">
                <a:solidFill>
                  <a:srgbClr val="0A2240"/>
                </a:solidFill>
                <a:latin typeface="Calibri"/>
              </a:defRPr>
            </a:pPr>
            <a:r>
              <a:t>The Shift to Micro-Simulation Modeling</a:t>
            </a:r>
          </a:p>
          <a:p>
            <a:pPr>
              <a:spcBef>
                <a:spcPts val="200"/>
              </a:spcBef>
              <a:defRPr sz="1200">
                <a:solidFill>
                  <a:srgbClr val="475569"/>
                </a:solidFill>
                <a:latin typeface="Calibri"/>
              </a:defRPr>
            </a:pPr>
            <a:r>
              <a:t>High Spatial Resolution vs. Severe Real-Time Operational Latency</a:t>
            </a:r>
          </a:p>
        </p:txBody>
      </p:sp>
      <p:sp>
        <p:nvSpPr>
          <p:cNvPr id="3" name="Rectangle 2"/>
          <p:cNvSpPr/>
          <p:nvPr/>
        </p:nvSpPr>
        <p:spPr>
          <a:xfrm>
            <a:off x="731520" y="1691640"/>
            <a:ext cx="521208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b="1" sz="1100">
                <a:solidFill>
                  <a:srgbClr val="166534"/>
                </a:solidFill>
              </a:defRPr>
            </a:pPr>
            <a:r>
              <a:t>HIGH SPATIAL FIDELITY (ADVANTAGES)</a:t>
            </a:r>
          </a:p>
          <a:p>
            <a:pPr>
              <a:spcBef>
                <a:spcPts val="400"/>
              </a:spcBef>
              <a:defRPr b="1" sz="1400">
                <a:solidFill>
                  <a:srgbClr val="0A2240"/>
                </a:solidFill>
              </a:defRPr>
            </a:pPr>
            <a:r>
              <a:t>Discrete-Event Agent-Based Micro-Simulation</a:t>
            </a:r>
          </a:p>
          <a:p>
            <a:pPr>
              <a:spcBef>
                <a:spcPts val="1000"/>
              </a:spcBef>
              <a:defRPr sz="1050">
                <a:solidFill>
                  <a:srgbClr val="0F172A"/>
                </a:solidFill>
              </a:defRPr>
            </a:pPr>
            <a:r>
              <a:t>•  Resolves individual passenger walking corridors, PreCheck vs. standard lane splits, and carry-on divestment times.</a:t>
            </a:r>
          </a:p>
          <a:p>
            <a:pPr>
              <a:spcBef>
                <a:spcPts val="1000"/>
              </a:spcBef>
              <a:defRPr sz="1050">
                <a:solidFill>
                  <a:srgbClr val="0F172A"/>
                </a:solidFill>
              </a:defRPr>
            </a:pPr>
            <a:r>
              <a:t>•  Captures physical layout constraints: stanchion queuing serpentine geometry and lane merging bottlenecks.</a:t>
            </a:r>
          </a:p>
          <a:p>
            <a:pPr>
              <a:spcBef>
                <a:spcPts val="1000"/>
              </a:spcBef>
              <a:defRPr sz="1050">
                <a:solidFill>
                  <a:srgbClr val="0F172A"/>
                </a:solidFill>
              </a:defRPr>
            </a:pPr>
            <a:r>
              <a:t>•  Gold standard for capital infrastructure planning: sizing future terminal concourses and evaluating multi-million dollar checkpoint expansions.</a:t>
            </a:r>
          </a:p>
          <a:p>
            <a:pPr>
              <a:spcBef>
                <a:spcPts val="1000"/>
              </a:spcBef>
              <a:defRPr sz="1050">
                <a:solidFill>
                  <a:srgbClr val="0F172A"/>
                </a:solidFill>
              </a:defRPr>
            </a:pPr>
            <a:r>
              <a:t>•  Platforms: Simio, CAST, ArcSTAR, and Arena airport simulation suites.</a:t>
            </a:r>
          </a:p>
        </p:txBody>
      </p:sp>
      <p:sp>
        <p:nvSpPr>
          <p:cNvPr id="4" name="Rectangle 3"/>
          <p:cNvSpPr/>
          <p:nvPr/>
        </p:nvSpPr>
        <p:spPr>
          <a:xfrm>
            <a:off x="6217920" y="1691640"/>
            <a:ext cx="5242255"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b="1" sz="1100">
                <a:solidFill>
                  <a:srgbClr val="B45309"/>
                </a:solidFill>
              </a:defRPr>
            </a:pPr>
            <a:r>
              <a:t>THE DISPATCH LATENCY BARRIER (DISADVANTAGES)</a:t>
            </a:r>
          </a:p>
          <a:p>
            <a:pPr>
              <a:spcBef>
                <a:spcPts val="400"/>
              </a:spcBef>
              <a:defRPr b="1" sz="1400">
                <a:solidFill>
                  <a:srgbClr val="0A2240"/>
                </a:solidFill>
              </a:defRPr>
            </a:pPr>
            <a:r>
              <a:t>Why Micro-Simulation Fails in Real-Time Operations</a:t>
            </a:r>
          </a:p>
          <a:p>
            <a:pPr>
              <a:spcBef>
                <a:spcPts val="1000"/>
              </a:spcBef>
              <a:defRPr sz="1050">
                <a:solidFill>
                  <a:srgbClr val="0F172A"/>
                </a:solidFill>
              </a:defRPr>
            </a:pPr>
            <a:r>
              <a:t>•  20–45 Minute Computation Time: A 24-hour terminal simulation requires up to 45 minutes to execute—far too slow for tactical within-hour lane adjustments.</a:t>
            </a:r>
          </a:p>
          <a:p>
            <a:pPr>
              <a:spcBef>
                <a:spcPts val="1000"/>
              </a:spcBef>
              <a:defRPr sz="1050">
                <a:solidFill>
                  <a:srgbClr val="0F172A"/>
                </a:solidFill>
              </a:defRPr>
            </a:pPr>
            <a:r>
              <a:t>•  High Calibration Overhead: Requires hundreds of micro-parameters (walking speeds, divest rates, escorts) that become obsolete during weather shocks.</a:t>
            </a:r>
          </a:p>
          <a:p>
            <a:pPr>
              <a:spcBef>
                <a:spcPts val="1000"/>
              </a:spcBef>
              <a:defRPr sz="1050">
                <a:solidFill>
                  <a:srgbClr val="0F172A"/>
                </a:solidFill>
              </a:defRPr>
            </a:pPr>
            <a:r>
              <a:t>•  Inflexible to Shock Cascades: When a ground stop hits, stochastic simulation cannot dynamically ingest live sensor telemetry to rebalance queues.</a:t>
            </a:r>
          </a:p>
          <a:p>
            <a:pPr>
              <a:spcBef>
                <a:spcPts val="1000"/>
              </a:spcBef>
              <a:defRPr sz="1050">
                <a:solidFill>
                  <a:srgbClr val="0F172A"/>
                </a:solidFill>
              </a:defRPr>
            </a:pPr>
            <a:r>
              <a:t>•  Operational Verdict: Excellent for multi-year capital planning, but unsuitable for automated intraday lane dispatch.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LITERATURE BREAKDOWN</a:t>
            </a:r>
          </a:p>
          <a:p>
            <a:pPr>
              <a:spcBef>
                <a:spcPts val="300"/>
              </a:spcBef>
              <a:defRPr sz="2200" b="1">
                <a:solidFill>
                  <a:srgbClr val="0A2240"/>
                </a:solidFill>
                <a:latin typeface="Calibri"/>
              </a:defRPr>
            </a:pPr>
            <a:r>
              <a:t>Supervised Machine Learning (Model 2)</a:t>
            </a:r>
          </a:p>
          <a:p>
            <a:pPr>
              <a:spcBef>
                <a:spcPts val="200"/>
              </a:spcBef>
              <a:defRPr sz="1200">
                <a:solidFill>
                  <a:srgbClr val="475569"/>
                </a:solidFill>
                <a:latin typeface="Calibri"/>
              </a:defRPr>
            </a:pPr>
            <a:r>
              <a:t>High Routine Accuracy Coupled with Fragility Under Severe Shock</a:t>
            </a:r>
          </a:p>
        </p:txBody>
      </p:sp>
      <p:sp>
        <p:nvSpPr>
          <p:cNvPr id="3" name="Rectangle 2"/>
          <p:cNvSpPr/>
          <p:nvPr/>
        </p:nvSpPr>
        <p:spPr>
          <a:xfrm>
            <a:off x="731520" y="1691640"/>
            <a:ext cx="329184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bIns="137160"/>
          <a:lstStyle/>
          <a:p>
            <a:pPr algn="ctr">
              <a:defRPr sz="2800" b="1">
                <a:solidFill>
                  <a:srgbClr val="0A2240"/>
                </a:solidFill>
                <a:latin typeface="Calibri"/>
              </a:defRPr>
            </a:pPr>
            <a:r>
              <a:t>24</a:t>
            </a:r>
          </a:p>
          <a:p>
            <a:pPr algn="ctr">
              <a:spcBef>
                <a:spcPts val="400"/>
              </a:spcBef>
              <a:defRPr sz="1000" b="1">
                <a:solidFill>
                  <a:srgbClr val="2563EB"/>
                </a:solidFill>
                <a:latin typeface="Calibri"/>
              </a:defRPr>
            </a:pPr>
            <a:r>
              <a:t>OPERATIONAL FEATURES</a:t>
            </a:r>
          </a:p>
          <a:p>
            <a:pPr algn="ctr">
              <a:spcBef>
                <a:spcPts val="400"/>
              </a:spcBef>
              <a:defRPr sz="950">
                <a:solidFill>
                  <a:srgbClr val="475569"/>
                </a:solidFill>
                <a:latin typeface="Calibri"/>
              </a:defRPr>
            </a:pPr>
            <a:r>
              <a:t>BTS OTP Delay Attributes,</a:t>
            </a:r>
            <a:br/>
            <a:r>
              <a:t>Flight Bank Dispersion,</a:t>
            </a:r>
            <a:br/>
            <a:r>
              <a:t>Taxi-out Queues &amp; Weather</a:t>
            </a:r>
          </a:p>
        </p:txBody>
      </p:sp>
      <p:sp>
        <p:nvSpPr>
          <p:cNvPr id="4" name="Rectangle 3"/>
          <p:cNvSpPr/>
          <p:nvPr/>
        </p:nvSpPr>
        <p:spPr>
          <a:xfrm>
            <a:off x="4297680" y="1691640"/>
            <a:ext cx="7162495"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a:lstStyle/>
          <a:p>
            <a:pPr algn="ctr">
              <a:defRPr b="1" sz="1100">
                <a:solidFill>
                  <a:srgbClr val="2563EB"/>
                </a:solidFill>
              </a:defRPr>
            </a:pPr>
            <a:r>
              <a:t>OPERATIONAL REGIME SPLIT: SUPERVISED ML</a:t>
            </a:r>
          </a:p>
          <a:p>
            <a:pPr>
              <a:spcBef>
                <a:spcPts val="400"/>
              </a:spcBef>
              <a:defRPr b="1" sz="1400">
                <a:solidFill>
                  <a:srgbClr val="0A2240"/>
                </a:solidFill>
              </a:defRPr>
            </a:pPr>
            <a:r>
              <a:t>Routine Efficiency vs. The Empty Checkpoint Fallacy</a:t>
            </a:r>
          </a:p>
          <a:p>
            <a:pPr>
              <a:spcBef>
                <a:spcPts val="1200"/>
              </a:spcBef>
              <a:defRPr b="1" sz="1150">
                <a:solidFill>
                  <a:srgbClr val="166534"/>
                </a:solidFill>
              </a:defRPr>
            </a:pPr>
            <a:r>
              <a:t>1. Routine Daily Operations (Pareto Frontier Winner):</a:t>
            </a:r>
          </a:p>
          <a:p>
            <a:pPr>
              <a:spcBef>
                <a:spcPts val="300"/>
              </a:spcBef>
              <a:defRPr sz="1050">
                <a:solidFill>
                  <a:srgbClr val="0F172A"/>
                </a:solidFill>
              </a:defRPr>
            </a:pPr>
            <a:r>
              <a:t>• Delivers outstanding routine accuracy (MASE = 0.680–0.700) under calm conditions.</a:t>
            </a:r>
            <a:br/>
            <a:r>
              <a:t>• Zero feedback latency: generates multi-hour forecasts instantly without requiring live sensor streams.</a:t>
            </a:r>
            <a:br/>
            <a:r>
              <a:t>• Captures complex non-linear delay interactions across airline carriers.</a:t>
            </a:r>
          </a:p>
          <a:p>
            <a:pPr>
              <a:spcBef>
                <a:spcPts val="1400"/>
              </a:spcBef>
              <a:defRPr b="1" sz="1150">
                <a:solidFill>
                  <a:srgbClr val="B45309"/>
                </a:solidFill>
              </a:defRPr>
            </a:pPr>
            <a:r>
              <a:t>2. Convective Storm Shocks (The Empty Checkpoint Fallacy):</a:t>
            </a:r>
          </a:p>
          <a:p>
            <a:pPr>
              <a:spcBef>
                <a:spcPts val="300"/>
              </a:spcBef>
              <a:defRPr sz="1050">
                <a:solidFill>
                  <a:srgbClr val="0F172A"/>
                </a:solidFill>
              </a:defRPr>
            </a:pPr>
            <a:r>
              <a:t>• When convective weather grounds departures, flights are cancelled from airline feeds.</a:t>
            </a:r>
            <a:br/>
            <a:r>
              <a:t>• The decision tree sees cancelled flights and predicts near-zero passenger throughput.</a:t>
            </a:r>
            <a:br/>
            <a:r>
              <a:t>• In reality, thousands of stranded passengers flood terminal lobbies seeking rebooking.</a:t>
            </a:r>
            <a:br/>
            <a:r>
              <a:t>• Result: Pure ML suffers catastrophic collapse during IROPS (Recovery Multiplier R = 2.14).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LITERATURE BREAKDOWN</a:t>
            </a:r>
          </a:p>
          <a:p>
            <a:pPr>
              <a:spcBef>
                <a:spcPts val="300"/>
              </a:spcBef>
              <a:defRPr sz="2200" b="1">
                <a:solidFill>
                  <a:srgbClr val="0A2240"/>
                </a:solidFill>
                <a:latin typeface="Calibri"/>
              </a:defRPr>
            </a:pPr>
            <a:r>
              <a:t>Sequential Two-Stage Hybrid Architectures (Model 3)</a:t>
            </a:r>
          </a:p>
          <a:p>
            <a:pPr>
              <a:spcBef>
                <a:spcPts val="200"/>
              </a:spcBef>
              <a:defRPr sz="1200">
                <a:solidFill>
                  <a:srgbClr val="475569"/>
                </a:solidFill>
                <a:latin typeface="Calibri"/>
              </a:defRPr>
            </a:pPr>
            <a:r>
              <a:t>Coupling Macro Flight Schedule Cycles with Real-Time Floor Innovation Feedback</a:t>
            </a:r>
          </a:p>
        </p:txBody>
      </p:sp>
      <p:sp>
        <p:nvSpPr>
          <p:cNvPr id="3" name="Rectangle 2"/>
          <p:cNvSpPr/>
          <p:nvPr/>
        </p:nvSpPr>
        <p:spPr>
          <a:xfrm>
            <a:off x="731520" y="1691640"/>
            <a:ext cx="10728655" cy="1554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bIns="137160"/>
          <a:lstStyle/>
          <a:p>
            <a:pPr algn="ctr">
              <a:defRPr sz="1000" b="1">
                <a:solidFill>
                  <a:srgbClr val="2563EB"/>
                </a:solidFill>
                <a:latin typeface="Calibri"/>
              </a:defRPr>
            </a:pPr>
            <a:r>
              <a:t>TWO-STAGE HYBRID FORMULATION</a:t>
            </a:r>
          </a:p>
          <a:p>
            <a:pPr algn="ctr">
              <a:spcBef>
                <a:spcPts val="600"/>
              </a:spcBef>
              <a:spcAft>
                <a:spcPts val="600"/>
              </a:spcAft>
              <a:defRPr sz="1800" b="1">
                <a:solidFill>
                  <a:srgbClr val="0A2240"/>
                </a:solidFill>
                <a:latin typeface="Georgia"/>
              </a:defRPr>
            </a:pPr>
            <a:r>
              <a:t>Ŷ_t  =  M_base(Schedule_t, X_t)  +  α · ( Y_{t-1} - Ŷ_{t-1} )</a:t>
            </a:r>
          </a:p>
          <a:p>
            <a:pPr algn="ctr">
              <a:spcBef>
                <a:spcPts val="200"/>
              </a:spcBef>
              <a:defRPr sz="1050">
                <a:solidFill>
                  <a:srgbClr val="475569"/>
                </a:solidFill>
                <a:latin typeface="Calibri"/>
              </a:defRPr>
            </a:pPr>
            <a:r>
              <a:t>where α is the empirical feedback gain calibrating live prior-hour floor residual innovation.</a:t>
            </a:r>
          </a:p>
        </p:txBody>
      </p:sp>
      <p:sp>
        <p:nvSpPr>
          <p:cNvPr id="4" name="Rectangle 3"/>
          <p:cNvSpPr/>
          <p:nvPr/>
        </p:nvSpPr>
        <p:spPr>
          <a:xfrm>
            <a:off x="731520" y="3429000"/>
            <a:ext cx="5212080" cy="28346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100">
                <a:solidFill>
                  <a:srgbClr val="2563EB"/>
                </a:solidFill>
              </a:defRPr>
            </a:pPr>
            <a:r>
              <a:t>STAGE 1: OPERATIONAL SCHEDULE BASELINE</a:t>
            </a:r>
          </a:p>
          <a:p>
            <a:pPr>
              <a:spcBef>
                <a:spcPts val="800"/>
              </a:spcBef>
              <a:defRPr sz="1050">
                <a:solidFill>
                  <a:srgbClr val="0F172A"/>
                </a:solidFill>
              </a:defRPr>
            </a:pPr>
            <a:r>
              <a:t>Captures the deterministic diurnal heartbeat of the airport: published flight banks, aircraft gauge, day-of-week demand patterns, and connecting deflators. Establishes the macro capacity anchor.</a:t>
            </a:r>
          </a:p>
        </p:txBody>
      </p:sp>
      <p:sp>
        <p:nvSpPr>
          <p:cNvPr id="5" name="Rectangle 4"/>
          <p:cNvSpPr/>
          <p:nvPr/>
        </p:nvSpPr>
        <p:spPr>
          <a:xfrm>
            <a:off x="6217920" y="3429000"/>
            <a:ext cx="5242255" cy="28346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100">
                <a:solidFill>
                  <a:srgbClr val="166534"/>
                </a:solidFill>
              </a:defRPr>
            </a:pPr>
            <a:r>
              <a:t>STAGE 2: REAL-TIME FLOOR INNOVATION FEEDBACK</a:t>
            </a:r>
          </a:p>
          <a:p>
            <a:pPr>
              <a:spcBef>
                <a:spcPts val="800"/>
              </a:spcBef>
              <a:defRPr sz="1050">
                <a:solidFill>
                  <a:srgbClr val="0F172A"/>
                </a:solidFill>
              </a:defRPr>
            </a:pPr>
            <a:r>
              <a:t>Injects the prior-hour screening floor innovation: e_{t-1} = Y_{t-1} - Ŷ_{t-1}. When storm ground stops leave passengers stranded in concourses, live checkpoint counts immediately pull forecasts back to reality, preventing the Empty Checkpoint Fallacy.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EMPIRICAL DEMARCATION</a:t>
            </a:r>
          </a:p>
          <a:p>
            <a:pPr>
              <a:spcBef>
                <a:spcPts val="300"/>
              </a:spcBef>
              <a:defRPr sz="2200" b="1">
                <a:solidFill>
                  <a:srgbClr val="0A2240"/>
                </a:solidFill>
                <a:latin typeface="Calibri"/>
              </a:defRPr>
            </a:pPr>
            <a:r>
              <a:t>The Structural Impact of COVID-19 Demarcation</a:t>
            </a:r>
          </a:p>
          <a:p>
            <a:pPr>
              <a:spcBef>
                <a:spcPts val="200"/>
              </a:spcBef>
              <a:defRPr sz="1200">
                <a:solidFill>
                  <a:srgbClr val="475569"/>
                </a:solidFill>
                <a:latin typeface="Calibri"/>
              </a:defRPr>
            </a:pPr>
            <a:r>
              <a:t>Purging Pandemic Distortions to Establish Time-Series Stability</a:t>
            </a:r>
          </a:p>
        </p:txBody>
      </p:sp>
      <p:sp>
        <p:nvSpPr>
          <p:cNvPr id="3" name="Rectangle 2"/>
          <p:cNvSpPr/>
          <p:nvPr/>
        </p:nvSpPr>
        <p:spPr>
          <a:xfrm>
            <a:off x="731520" y="1691640"/>
            <a:ext cx="3429000" cy="20116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bIns="137160"/>
          <a:lstStyle/>
          <a:p>
            <a:pPr algn="ctr">
              <a:defRPr sz="2800" b="1">
                <a:solidFill>
                  <a:srgbClr val="0A2240"/>
                </a:solidFill>
                <a:latin typeface="Calibri"/>
              </a:defRPr>
            </a:pPr>
            <a:r>
              <a:t>May 1, 2022</a:t>
            </a:r>
          </a:p>
          <a:p>
            <a:pPr algn="ctr">
              <a:spcBef>
                <a:spcPts val="400"/>
              </a:spcBef>
              <a:defRPr sz="1000" b="1">
                <a:solidFill>
                  <a:srgbClr val="2563EB"/>
                </a:solidFill>
                <a:latin typeface="Calibri"/>
              </a:defRPr>
            </a:pPr>
            <a:r>
              <a:t>DEMARCATION CUTOFF</a:t>
            </a:r>
          </a:p>
          <a:p>
            <a:pPr algn="ctr">
              <a:spcBef>
                <a:spcPts val="400"/>
              </a:spcBef>
              <a:defRPr sz="950">
                <a:solidFill>
                  <a:srgbClr val="475569"/>
                </a:solidFill>
                <a:latin typeface="Calibri"/>
              </a:defRPr>
            </a:pPr>
            <a:r>
              <a:t>Federal mask mandate dissolved; commercial traffic patterns normalized.</a:t>
            </a:r>
          </a:p>
        </p:txBody>
      </p:sp>
      <p:sp>
        <p:nvSpPr>
          <p:cNvPr id="4" name="Rectangle 3"/>
          <p:cNvSpPr/>
          <p:nvPr/>
        </p:nvSpPr>
        <p:spPr>
          <a:xfrm>
            <a:off x="4379976" y="1691640"/>
            <a:ext cx="3429000" cy="20116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bIns="137160"/>
          <a:lstStyle/>
          <a:p>
            <a:pPr algn="ctr">
              <a:defRPr sz="2800" b="1">
                <a:solidFill>
                  <a:srgbClr val="0A2240"/>
                </a:solidFill>
                <a:latin typeface="Calibri"/>
              </a:defRPr>
            </a:pPr>
            <a:r>
              <a:t>F = 1.42</a:t>
            </a:r>
          </a:p>
          <a:p>
            <a:pPr algn="ctr">
              <a:spcBef>
                <a:spcPts val="400"/>
              </a:spcBef>
              <a:defRPr sz="1000" b="1">
                <a:solidFill>
                  <a:srgbClr val="2563EB"/>
                </a:solidFill>
                <a:latin typeface="Calibri"/>
              </a:defRPr>
            </a:pPr>
            <a:r>
              <a:t>CHOW BREAK TEST</a:t>
            </a:r>
          </a:p>
          <a:p>
            <a:pPr algn="ctr">
              <a:spcBef>
                <a:spcPts val="400"/>
              </a:spcBef>
              <a:defRPr sz="950">
                <a:solidFill>
                  <a:srgbClr val="475569"/>
                </a:solidFill>
                <a:latin typeface="Calibri"/>
              </a:defRPr>
            </a:pPr>
            <a:r>
              <a:t>p = 0.18. Fails to reject null; confirms structural stability across 44 months.</a:t>
            </a:r>
          </a:p>
        </p:txBody>
      </p:sp>
      <p:sp>
        <p:nvSpPr>
          <p:cNvPr id="5" name="Rectangle 4"/>
          <p:cNvSpPr/>
          <p:nvPr/>
        </p:nvSpPr>
        <p:spPr>
          <a:xfrm>
            <a:off x="8028432" y="1691640"/>
            <a:ext cx="3429000" cy="20116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bIns="137160"/>
          <a:lstStyle/>
          <a:p>
            <a:pPr algn="ctr">
              <a:defRPr sz="2800" b="1">
                <a:solidFill>
                  <a:srgbClr val="0A2240"/>
                </a:solidFill>
                <a:latin typeface="Calibri"/>
              </a:defRPr>
            </a:pPr>
            <a:r>
              <a:t>84.7%</a:t>
            </a:r>
          </a:p>
          <a:p>
            <a:pPr algn="ctr">
              <a:spcBef>
                <a:spcPts val="400"/>
              </a:spcBef>
              <a:defRPr sz="1000" b="1">
                <a:solidFill>
                  <a:srgbClr val="2563EB"/>
                </a:solidFill>
                <a:latin typeface="Calibri"/>
              </a:defRPr>
            </a:pPr>
            <a:r>
              <a:t>LOAD FACTOR RECOVERY</a:t>
            </a:r>
          </a:p>
          <a:p>
            <a:pPr algn="ctr">
              <a:spcBef>
                <a:spcPts val="400"/>
              </a:spcBef>
              <a:defRPr sz="950">
                <a:solidFill>
                  <a:srgbClr val="475569"/>
                </a:solidFill>
                <a:latin typeface="Calibri"/>
              </a:defRPr>
            </a:pPr>
            <a:r>
              <a:t>Systemwide load factors fully recovered to historical baseline.</a:t>
            </a:r>
          </a:p>
        </p:txBody>
      </p:sp>
      <p:sp>
        <p:nvSpPr>
          <p:cNvPr id="6" name="Rectangle 5"/>
          <p:cNvSpPr/>
          <p:nvPr/>
        </p:nvSpPr>
        <p:spPr>
          <a:xfrm>
            <a:off x="731520" y="3931920"/>
            <a:ext cx="10728655" cy="2331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82880"/>
          <a:lstStyle/>
          <a:p>
            <a:pPr algn="ctr">
              <a:defRPr b="1" sz="1100">
                <a:solidFill>
                  <a:srgbClr val="0A2240"/>
                </a:solidFill>
              </a:defRPr>
            </a:pPr>
            <a:r>
              <a:t>ECONOMETRIC JUSTIFICATION FOR DATA PURGING (2020–2021)</a:t>
            </a:r>
          </a:p>
          <a:p>
            <a:pPr>
              <a:spcBef>
                <a:spcPts val="600"/>
              </a:spcBef>
              <a:defRPr sz="1050">
                <a:solidFill>
                  <a:srgbClr val="0F172A"/>
                </a:solidFill>
              </a:defRPr>
            </a:pPr>
            <a:r>
              <a:t>•  Recursive CUSUM Residual Analysis: Structural instability persists through early 2022. Training models on 2020–2021 induces severe non-stationary bias.</a:t>
            </a:r>
          </a:p>
          <a:p>
            <a:pPr>
              <a:spcBef>
                <a:spcPts val="600"/>
              </a:spcBef>
              <a:defRPr sz="1050">
                <a:solidFill>
                  <a:srgbClr val="0F172A"/>
                </a:solidFill>
              </a:defRPr>
            </a:pPr>
            <a:r>
              <a:t>•  Zero Operational Value: Pandemic air travel reflected government travel restrictions and quarantine orders rather than stochastic passenger arrival psychology.</a:t>
            </a:r>
          </a:p>
          <a:p>
            <a:pPr>
              <a:spcBef>
                <a:spcPts val="600"/>
              </a:spcBef>
              <a:defRPr sz="1050">
                <a:solidFill>
                  <a:srgbClr val="0F172A"/>
                </a:solidFill>
              </a:defRPr>
            </a:pPr>
            <a:r>
              <a:t>•  44-Month Post-Pandemic Evaluation Window: Provides 42.1 million conformed records across 2022–2025, ensuring overwhelming statistical power without pandemic distortion.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EVALUATIVE SYNTHESIS</a:t>
            </a:r>
          </a:p>
          <a:p>
            <a:pPr>
              <a:spcBef>
                <a:spcPts val="300"/>
              </a:spcBef>
              <a:defRPr sz="2200" b="1">
                <a:solidFill>
                  <a:srgbClr val="0A2240"/>
                </a:solidFill>
                <a:latin typeface="Calibri"/>
              </a:defRPr>
            </a:pPr>
            <a:r>
              <a:t>Why Aviation Demands Dynamic Performance Measures</a:t>
            </a:r>
          </a:p>
          <a:p>
            <a:pPr>
              <a:spcBef>
                <a:spcPts val="200"/>
              </a:spcBef>
              <a:defRPr sz="1200">
                <a:solidFill>
                  <a:srgbClr val="475569"/>
                </a:solidFill>
                <a:latin typeface="Calibri"/>
              </a:defRPr>
            </a:pPr>
            <a:r>
              <a:t>The Danger of Relying on Global Annual Error Metrics</a:t>
            </a:r>
          </a:p>
        </p:txBody>
      </p:sp>
      <p:sp>
        <p:nvSpPr>
          <p:cNvPr id="3" name="Rectangle 2"/>
          <p:cNvSpPr/>
          <p:nvPr/>
        </p:nvSpPr>
        <p:spPr>
          <a:xfrm>
            <a:off x="731520" y="1691640"/>
            <a:ext cx="10728655" cy="1417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b="1" sz="1100">
                <a:solidFill>
                  <a:srgbClr val="0A2240"/>
                </a:solidFill>
              </a:defRPr>
            </a:pPr>
            <a:r>
              <a:t>DIMENSION 1: NOMINAL ON-TIME FLOW (ROBUSTNESS)</a:t>
            </a:r>
          </a:p>
          <a:p>
            <a:pPr>
              <a:spcBef>
                <a:spcPts val="200"/>
              </a:spcBef>
              <a:defRPr b="1" sz="950">
                <a:solidFill>
                  <a:srgbClr val="2563EB"/>
                </a:solidFill>
              </a:defRPr>
            </a:pPr>
            <a:r>
              <a:t>FAA A14 Reference Case (Delays &lt; 15m, 0 Cancels)</a:t>
            </a:r>
          </a:p>
          <a:p>
            <a:pPr>
              <a:spcBef>
                <a:spcPts val="300"/>
              </a:spcBef>
              <a:defRPr sz="950">
                <a:solidFill>
                  <a:srgbClr val="0F172A"/>
                </a:solidFill>
              </a:defRPr>
            </a:pPr>
            <a:r>
              <a:t>In routine operations, airport security checkpoints experience predictable morning and evening flight banks. Small residual errors are easily absorbed by standard lane buffers. The operational goal is low computational latency, zero feedback overhead, and reliable baseline staffing.</a:t>
            </a:r>
          </a:p>
        </p:txBody>
      </p:sp>
      <p:sp>
        <p:nvSpPr>
          <p:cNvPr id="4" name="Rectangle 3"/>
          <p:cNvSpPr/>
          <p:nvPr/>
        </p:nvSpPr>
        <p:spPr>
          <a:xfrm>
            <a:off x="731520" y="3264408"/>
            <a:ext cx="10728655" cy="1417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b="1" sz="1100">
                <a:solidFill>
                  <a:srgbClr val="0A2240"/>
                </a:solidFill>
              </a:defRPr>
            </a:pPr>
            <a:r>
              <a:t>DIMENSION 2: CONVECTIVE STORM SHOCKS (RESILIENCE)</a:t>
            </a:r>
          </a:p>
          <a:p>
            <a:pPr>
              <a:spcBef>
                <a:spcPts val="200"/>
              </a:spcBef>
              <a:defRPr b="1" sz="950">
                <a:solidFill>
                  <a:srgbClr val="2563EB"/>
                </a:solidFill>
              </a:defRPr>
            </a:pPr>
            <a:r>
              <a:t>Irregular Operations / IROPS (Delays ≥ 45m, Cancels ≥ 5)</a:t>
            </a:r>
          </a:p>
          <a:p>
            <a:pPr>
              <a:spcBef>
                <a:spcPts val="300"/>
              </a:spcBef>
              <a:defRPr sz="950">
                <a:solidFill>
                  <a:srgbClr val="0F172A"/>
                </a:solidFill>
              </a:defRPr>
            </a:pPr>
            <a:r>
              <a:t>Terminal crises occur during severe weather ground stops. Airport directors face massive queue surges as flight schedules desynchronize. A model with excellent annual RMSE that fails during storms is operationally hazardous. The goal is shock recovery and rapid time-to-recovery (TTR &lt; 4h).</a:t>
            </a:r>
          </a:p>
        </p:txBody>
      </p:sp>
      <p:sp>
        <p:nvSpPr>
          <p:cNvPr id="5" name="Rectangle 4"/>
          <p:cNvSpPr/>
          <p:nvPr/>
        </p:nvSpPr>
        <p:spPr>
          <a:xfrm>
            <a:off x="731520" y="4837176"/>
            <a:ext cx="10728655" cy="14173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b="1" sz="1100">
                <a:solidFill>
                  <a:srgbClr val="0A2240"/>
                </a:solidFill>
              </a:defRPr>
            </a:pPr>
            <a:r>
              <a:t>DIMENSION 3: CONCOURSE SPATIAL PORTABILITY (GENERALIZABILITY)</a:t>
            </a:r>
          </a:p>
          <a:p>
            <a:pPr>
              <a:spcBef>
                <a:spcPts val="200"/>
              </a:spcBef>
              <a:defRPr b="1" sz="950">
                <a:solidFill>
                  <a:srgbClr val="2563EB"/>
                </a:solidFill>
              </a:defRPr>
            </a:pPr>
            <a:r>
              <a:t>Zero-Shot Concourse Transfer (EWR → LGA Without Retraining)</a:t>
            </a:r>
          </a:p>
          <a:p>
            <a:pPr>
              <a:spcBef>
                <a:spcPts val="300"/>
              </a:spcBef>
              <a:defRPr sz="950">
                <a:solidFill>
                  <a:srgbClr val="0F172A"/>
                </a:solidFill>
              </a:defRPr>
            </a:pPr>
            <a:r>
              <a:t>Airport authorities regularly open new terminal concourses or reassign airline carriers. Training complex machine learning models requires 12 months of local checkpoint history. The operational goal is zero-shot transferability across unfamiliar physical checkpoint layouts.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METHODOLOGICAL ARCHITECTURE</a:t>
            </a:r>
          </a:p>
          <a:p>
            <a:pPr>
              <a:spcBef>
                <a:spcPts val="300"/>
              </a:spcBef>
              <a:defRPr sz="2200" b="1">
                <a:solidFill>
                  <a:srgbClr val="0A2240"/>
                </a:solidFill>
                <a:latin typeface="Calibri"/>
              </a:defRPr>
            </a:pPr>
            <a:r>
              <a:t>Research Methodology Overview</a:t>
            </a:r>
          </a:p>
          <a:p>
            <a:pPr>
              <a:spcBef>
                <a:spcPts val="200"/>
              </a:spcBef>
              <a:defRPr sz="1200">
                <a:solidFill>
                  <a:srgbClr val="475569"/>
                </a:solidFill>
                <a:latin typeface="Calibri"/>
              </a:defRPr>
            </a:pPr>
            <a:r>
              <a:t>Five-Stage Scientific Architecture Grounded in Federal Aviation Assets</a:t>
            </a:r>
          </a:p>
        </p:txBody>
      </p:sp>
      <p:sp>
        <p:nvSpPr>
          <p:cNvPr id="3" name="Rectangle 2"/>
          <p:cNvSpPr/>
          <p:nvPr/>
        </p:nvSpPr>
        <p:spPr>
          <a:xfrm>
            <a:off x="731520" y="1691640"/>
            <a:ext cx="2014057" cy="118872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0A2240"/>
                </a:solidFill>
                <a:latin typeface="Calibri"/>
              </a:defRPr>
            </a:pPr>
            <a:r>
              <a:t>3.1  ·  Research Approach</a:t>
            </a:r>
          </a:p>
          <a:p>
            <a:pPr>
              <a:spcBef>
                <a:spcPts val="300"/>
              </a:spcBef>
              <a:defRPr sz="950">
                <a:solidFill>
                  <a:srgbClr val="475569"/>
                </a:solidFill>
                <a:latin typeface="Calibri"/>
              </a:defRPr>
            </a:pPr>
            <a:r>
              <a:t>Comparative out-of-time evaluation across 3 operational pillars.</a:t>
            </a:r>
          </a:p>
        </p:txBody>
      </p:sp>
      <p:sp>
        <p:nvSpPr>
          <p:cNvPr id="4" name="Rectangle 3"/>
          <p:cNvSpPr/>
          <p:nvPr/>
        </p:nvSpPr>
        <p:spPr>
          <a:xfrm>
            <a:off x="2910169" y="1691640"/>
            <a:ext cx="2014057" cy="118872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0A2240"/>
                </a:solidFill>
                <a:latin typeface="Calibri"/>
              </a:defRPr>
            </a:pPr>
            <a:r>
              <a:t>3.2  ·  Cohort Sampling</a:t>
            </a:r>
          </a:p>
          <a:p>
            <a:pPr>
              <a:spcBef>
                <a:spcPts val="300"/>
              </a:spcBef>
              <a:defRPr sz="950">
                <a:solidFill>
                  <a:srgbClr val="475569"/>
                </a:solidFill>
                <a:latin typeface="Calibri"/>
              </a:defRPr>
            </a:pPr>
            <a:r>
              <a:t>4-tier filtering isolating 9 airports &amp; 12 carrier-exclusive complexes.</a:t>
            </a:r>
          </a:p>
        </p:txBody>
      </p:sp>
      <p:sp>
        <p:nvSpPr>
          <p:cNvPr id="5" name="Rectangle 4"/>
          <p:cNvSpPr/>
          <p:nvPr/>
        </p:nvSpPr>
        <p:spPr>
          <a:xfrm>
            <a:off x="5088818" y="1691640"/>
            <a:ext cx="2014057" cy="118872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0A2240"/>
                </a:solidFill>
                <a:latin typeface="Calibri"/>
              </a:defRPr>
            </a:pPr>
            <a:r>
              <a:t>3.3  ·  Data Assets &amp; ETL</a:t>
            </a:r>
          </a:p>
          <a:p>
            <a:pPr>
              <a:spcBef>
                <a:spcPts val="300"/>
              </a:spcBef>
              <a:defRPr sz="950">
                <a:solidFill>
                  <a:srgbClr val="475569"/>
                </a:solidFill>
                <a:latin typeface="Calibri"/>
              </a:defRPr>
            </a:pPr>
            <a:r>
              <a:t>67.2M raw federal records conformed to 42.1M Star Schema rows.</a:t>
            </a:r>
          </a:p>
        </p:txBody>
      </p:sp>
      <p:sp>
        <p:nvSpPr>
          <p:cNvPr id="6" name="Rectangle 5"/>
          <p:cNvSpPr/>
          <p:nvPr/>
        </p:nvSpPr>
        <p:spPr>
          <a:xfrm>
            <a:off x="7267468" y="1691640"/>
            <a:ext cx="2014057" cy="1188720"/>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0A2240"/>
                </a:solidFill>
                <a:latin typeface="Calibri"/>
              </a:defRPr>
            </a:pPr>
            <a:r>
              <a:t>3.4  ·  Validity Safeguards</a:t>
            </a:r>
          </a:p>
          <a:p>
            <a:pPr>
              <a:spcBef>
                <a:spcPts val="300"/>
              </a:spcBef>
              <a:defRPr sz="950">
                <a:solidFill>
                  <a:srgbClr val="475569"/>
                </a:solidFill>
                <a:latin typeface="Calibri"/>
              </a:defRPr>
            </a:pPr>
            <a:r>
              <a:t>DB1B connecting deflator, carrier isolation &amp; 168-h purge buffer.</a:t>
            </a:r>
          </a:p>
        </p:txBody>
      </p:sp>
      <p:sp>
        <p:nvSpPr>
          <p:cNvPr id="7" name="Rectangle 6"/>
          <p:cNvSpPr/>
          <p:nvPr/>
        </p:nvSpPr>
        <p:spPr>
          <a:xfrm>
            <a:off x="9446117" y="1691640"/>
            <a:ext cx="2014057" cy="1188720"/>
          </a:xfrm>
          <a:prstGeom prst="rect">
            <a:avLst/>
          </a:prstGeom>
          <a:solidFill>
            <a:srgbClr val="0A2240"/>
          </a:solidFill>
          <a:ln w="12700">
            <a:solidFill>
              <a:srgbClr val="0A224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Calibri"/>
              </a:defRPr>
            </a:pPr>
            <a:r>
              <a:t>3.5  ·  Treatment &amp; Testing</a:t>
            </a:r>
          </a:p>
          <a:p>
            <a:pPr>
              <a:spcBef>
                <a:spcPts val="300"/>
              </a:spcBef>
              <a:defRPr sz="950">
                <a:solidFill>
                  <a:srgbClr val="64748B"/>
                </a:solidFill>
                <a:latin typeface="Calibri"/>
              </a:defRPr>
            </a:pPr>
            <a:r>
              <a:t>2025 out-of-time holdout &amp; Diebold-Mariano statistical tests.</a:t>
            </a:r>
          </a:p>
        </p:txBody>
      </p:sp>
      <p:sp>
        <p:nvSpPr>
          <p:cNvPr id="8" name="Rectangle 7"/>
          <p:cNvSpPr/>
          <p:nvPr/>
        </p:nvSpPr>
        <p:spPr>
          <a:xfrm>
            <a:off x="731520" y="3154680"/>
            <a:ext cx="10728655" cy="31089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82880"/>
          <a:lstStyle/>
          <a:p>
            <a:pPr algn="ctr">
              <a:defRPr b="1" sz="1100">
                <a:solidFill>
                  <a:srgbClr val="0A2240"/>
                </a:solidFill>
              </a:defRPr>
            </a:pPr>
            <a:r>
              <a:t>RIGOROUS METHODOLOGICAL EXECUTION</a:t>
            </a:r>
          </a:p>
          <a:p>
            <a:pPr>
              <a:spcBef>
                <a:spcPts val="800"/>
              </a:spcBef>
              <a:defRPr sz="1050">
                <a:solidFill>
                  <a:srgbClr val="0F172A"/>
                </a:solidFill>
              </a:defRPr>
            </a:pPr>
            <a:r>
              <a:t>•  Econometric Rigor: Standardized multi-source data merging across TSA FOIA throughput, BTS On-Time Performance (OTP), BTS T-100 Segment data, and BTS DB1B Ticket Surveys.</a:t>
            </a:r>
          </a:p>
          <a:p>
            <a:pPr>
              <a:spcBef>
                <a:spcPts val="800"/>
              </a:spcBef>
              <a:defRPr sz="1050">
                <a:solidFill>
                  <a:srgbClr val="0F172A"/>
                </a:solidFill>
              </a:defRPr>
            </a:pPr>
            <a:r>
              <a:t>•  Zero-Data Contamination: Strict information availability boundaries ensure models only ingest telemetry realized prior to the prediction hour (t-1).</a:t>
            </a:r>
          </a:p>
          <a:p>
            <a:pPr>
              <a:spcBef>
                <a:spcPts val="800"/>
              </a:spcBef>
              <a:defRPr sz="1050">
                <a:solidFill>
                  <a:srgbClr val="0F172A"/>
                </a:solidFill>
              </a:defRPr>
            </a:pPr>
            <a:r>
              <a:t>•  Out-of-Time Verification: Evaluated on an untouched 2025 holdout dataset (January 1 – December 31, 2025), preventing synthetic random split leakage.</a:t>
            </a:r>
          </a:p>
          <a:p>
            <a:pPr>
              <a:spcBef>
                <a:spcPts val="800"/>
              </a:spcBef>
              <a:defRPr sz="1050">
                <a:solidFill>
                  <a:srgbClr val="0F172A"/>
                </a:solidFill>
              </a:defRPr>
            </a:pPr>
            <a:r>
              <a:t>•  Formal Statistical Testing: Model differences validated using Diebold-Mariano tests and paired t-tests across operational regimes.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METHODOLOGY APPROACH</a:t>
            </a:r>
          </a:p>
          <a:p>
            <a:pPr>
              <a:spcBef>
                <a:spcPts val="300"/>
              </a:spcBef>
              <a:defRPr sz="2200" b="1">
                <a:solidFill>
                  <a:srgbClr val="0A2240"/>
                </a:solidFill>
                <a:latin typeface="Calibri"/>
              </a:defRPr>
            </a:pPr>
            <a:r>
              <a:t>Forecasting Model Families &amp; Baseline Control</a:t>
            </a:r>
          </a:p>
          <a:p>
            <a:pPr>
              <a:spcBef>
                <a:spcPts val="200"/>
              </a:spcBef>
              <a:defRPr sz="1200">
                <a:solidFill>
                  <a:srgbClr val="475569"/>
                </a:solidFill>
                <a:latin typeface="Calibri"/>
              </a:defRPr>
            </a:pPr>
            <a:r>
              <a:t>Four Candidate Paradigms Representing Distinct Operational Philosophies</a:t>
            </a:r>
          </a:p>
        </p:txBody>
      </p:sp>
      <p:sp>
        <p:nvSpPr>
          <p:cNvPr id="3" name="Rectangle 2"/>
          <p:cNvSpPr/>
          <p:nvPr/>
        </p:nvSpPr>
        <p:spPr>
          <a:xfrm>
            <a:off x="731520"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b="1" sz="950">
                <a:solidFill>
                  <a:srgbClr val="2563EB"/>
                </a:solidFill>
              </a:defRPr>
            </a:pPr>
            <a:r>
              <a:t>CONTROL</a:t>
            </a:r>
          </a:p>
          <a:p>
            <a:pPr>
              <a:spcBef>
                <a:spcPts val="200"/>
              </a:spcBef>
              <a:defRPr b="1" sz="1200">
                <a:solidFill>
                  <a:srgbClr val="0A2240"/>
                </a:solidFill>
              </a:defRPr>
            </a:pPr>
            <a:r>
              <a:t>BASELINE CONTROL</a:t>
            </a:r>
          </a:p>
          <a:p>
            <a:pPr>
              <a:spcBef>
                <a:spcPts val="200"/>
              </a:spcBef>
              <a:defRPr b="1" sz="950">
                <a:solidFill>
                  <a:srgbClr val="475569"/>
                </a:solidFill>
              </a:defRPr>
            </a:pPr>
            <a:r>
              <a:t>Diurnal Persistence Benchmark</a:t>
            </a:r>
          </a:p>
          <a:p>
            <a:pPr>
              <a:spcBef>
                <a:spcPts val="1000"/>
              </a:spcBef>
              <a:defRPr sz="1000">
                <a:solidFill>
                  <a:srgbClr val="0F172A"/>
                </a:solidFill>
              </a:defRPr>
            </a:pPr>
            <a:r>
              <a:t>Ŷ_t = Y_{t-24}</a:t>
            </a:r>
            <a:br/>
            <a:br/>
            <a:r>
              <a:t>• Non-parametric persistence</a:t>
            </a:r>
            <a:br/>
            <a:r>
              <a:t>• Benchmark MASE ≡ 1.000</a:t>
            </a:r>
            <a:br/>
            <a:r>
              <a:t>• Assumes yesterday's pattern repeats exactly today</a:t>
            </a:r>
            <a:br/>
            <a:r>
              <a:t>• Captures basic diurnal cycle</a:t>
            </a:r>
          </a:p>
        </p:txBody>
      </p:sp>
      <p:sp>
        <p:nvSpPr>
          <p:cNvPr id="4" name="Rectangle 3"/>
          <p:cNvSpPr/>
          <p:nvPr/>
        </p:nvSpPr>
        <p:spPr>
          <a:xfrm>
            <a:off x="3456432"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b="1" sz="950">
                <a:solidFill>
                  <a:srgbClr val="2563EB"/>
                </a:solidFill>
              </a:defRPr>
            </a:pPr>
            <a:r>
              <a:t>MODEL 1</a:t>
            </a:r>
          </a:p>
          <a:p>
            <a:pPr>
              <a:spcBef>
                <a:spcPts val="200"/>
              </a:spcBef>
              <a:defRPr b="1" sz="1200">
                <a:solidFill>
                  <a:srgbClr val="0A2240"/>
                </a:solidFill>
              </a:defRPr>
            </a:pPr>
            <a:r>
              <a:t>DETERMINISTIC SCHEDULE</a:t>
            </a:r>
          </a:p>
          <a:p>
            <a:pPr>
              <a:spcBef>
                <a:spcPts val="200"/>
              </a:spcBef>
              <a:defRPr b="1" sz="950">
                <a:solidFill>
                  <a:srgbClr val="475569"/>
                </a:solidFill>
              </a:defRPr>
            </a:pPr>
            <a:r>
              <a:t>Airline Flight Bank Convolution</a:t>
            </a:r>
          </a:p>
          <a:p>
            <a:pPr>
              <a:spcBef>
                <a:spcPts val="1000"/>
              </a:spcBef>
              <a:defRPr sz="1000">
                <a:solidFill>
                  <a:srgbClr val="0F172A"/>
                </a:solidFill>
              </a:defRPr>
            </a:pPr>
            <a:r>
              <a:t>ACRP Report 40 curves</a:t>
            </a:r>
            <a:br/>
            <a:br/>
            <a:r>
              <a:t>• Convolves seats over lognormal passenger show-up curves</a:t>
            </a:r>
            <a:br/>
            <a:r>
              <a:t>• 100% interpretable</a:t>
            </a:r>
            <a:br/>
            <a:r>
              <a:t>• Zero historical training needed</a:t>
            </a:r>
            <a:br/>
            <a:r>
              <a:t>• Highly portable across concourses</a:t>
            </a:r>
          </a:p>
        </p:txBody>
      </p:sp>
      <p:sp>
        <p:nvSpPr>
          <p:cNvPr id="5" name="Rectangle 4"/>
          <p:cNvSpPr/>
          <p:nvPr/>
        </p:nvSpPr>
        <p:spPr>
          <a:xfrm>
            <a:off x="6181344"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b="1" sz="950">
                <a:solidFill>
                  <a:srgbClr val="2563EB"/>
                </a:solidFill>
              </a:defRPr>
            </a:pPr>
            <a:r>
              <a:t>MODEL 2</a:t>
            </a:r>
          </a:p>
          <a:p>
            <a:pPr>
              <a:spcBef>
                <a:spcPts val="200"/>
              </a:spcBef>
              <a:defRPr b="1" sz="1200">
                <a:solidFill>
                  <a:srgbClr val="0A2240"/>
                </a:solidFill>
              </a:defRPr>
            </a:pPr>
            <a:r>
              <a:t>SUPERVISED ML</a:t>
            </a:r>
          </a:p>
          <a:p>
            <a:pPr>
              <a:spcBef>
                <a:spcPts val="200"/>
              </a:spcBef>
              <a:defRPr b="1" sz="950">
                <a:solidFill>
                  <a:srgbClr val="475569"/>
                </a:solidFill>
              </a:defRPr>
            </a:pPr>
            <a:r>
              <a:t>Gradient-Boosted Decision Trees</a:t>
            </a:r>
          </a:p>
          <a:p>
            <a:pPr>
              <a:spcBef>
                <a:spcPts val="1000"/>
              </a:spcBef>
              <a:defRPr sz="1000">
                <a:solidFill>
                  <a:srgbClr val="0F172A"/>
                </a:solidFill>
              </a:defRPr>
            </a:pPr>
            <a:r>
              <a:t>LightGBM + 24 Features</a:t>
            </a:r>
            <a:br/>
            <a:br/>
            <a:r>
              <a:t>• Tweedie deviance objective</a:t>
            </a:r>
            <a:br/>
            <a:r>
              <a:t>• Ingests 24 BTS OTP attributes</a:t>
            </a:r>
            <a:br/>
            <a:r>
              <a:t>• Captures non-linear delay interactions</a:t>
            </a:r>
            <a:br/>
            <a:r>
              <a:t>• Highly accurate in routine flow</a:t>
            </a:r>
          </a:p>
        </p:txBody>
      </p:sp>
      <p:sp>
        <p:nvSpPr>
          <p:cNvPr id="6" name="Rectangle 5"/>
          <p:cNvSpPr/>
          <p:nvPr/>
        </p:nvSpPr>
        <p:spPr>
          <a:xfrm>
            <a:off x="8906256"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b="1" sz="950">
                <a:solidFill>
                  <a:srgbClr val="2563EB"/>
                </a:solidFill>
              </a:defRPr>
            </a:pPr>
            <a:r>
              <a:t>MODEL 3</a:t>
            </a:r>
          </a:p>
          <a:p>
            <a:pPr>
              <a:spcBef>
                <a:spcPts val="200"/>
              </a:spcBef>
              <a:defRPr b="1" sz="1200">
                <a:solidFill>
                  <a:srgbClr val="0A2240"/>
                </a:solidFill>
              </a:defRPr>
            </a:pPr>
            <a:r>
              <a:t>DYNAMIC HYBRID</a:t>
            </a:r>
          </a:p>
          <a:p>
            <a:pPr>
              <a:spcBef>
                <a:spcPts val="200"/>
              </a:spcBef>
              <a:defRPr b="1" sz="950">
                <a:solidFill>
                  <a:srgbClr val="475569"/>
                </a:solidFill>
              </a:defRPr>
            </a:pPr>
            <a:r>
              <a:t>Two-Stage Error Innovation</a:t>
            </a:r>
          </a:p>
          <a:p>
            <a:pPr>
              <a:spcBef>
                <a:spcPts val="1000"/>
              </a:spcBef>
              <a:defRPr sz="1000">
                <a:solidFill>
                  <a:srgbClr val="0F172A"/>
                </a:solidFill>
              </a:defRPr>
            </a:pPr>
            <a:r>
              <a:t>Schedule Base + Floor Feedback</a:t>
            </a:r>
            <a:br/>
            <a:br/>
            <a:r>
              <a:t>• Stage 1: Flight schedule base</a:t>
            </a:r>
            <a:br/>
            <a:r>
              <a:t>• Stage 2: e_{t-1} floor innovation</a:t>
            </a:r>
            <a:br/>
            <a:r>
              <a:t>• Rebalances dynamically during storms</a:t>
            </a:r>
            <a:br/>
            <a:r>
              <a:t>• Decisive holdout winner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DESIGN &amp; PROCEDURE</a:t>
            </a:r>
          </a:p>
          <a:p>
            <a:pPr>
              <a:spcBef>
                <a:spcPts val="300"/>
              </a:spcBef>
              <a:defRPr sz="2200" b="1">
                <a:solidFill>
                  <a:srgbClr val="0A2240"/>
                </a:solidFill>
                <a:latin typeface="Calibri"/>
              </a:defRPr>
            </a:pPr>
            <a:r>
              <a:t>Four-Phase Research Execution Lifecycle</a:t>
            </a:r>
          </a:p>
          <a:p>
            <a:pPr>
              <a:spcBef>
                <a:spcPts val="200"/>
              </a:spcBef>
              <a:defRPr sz="1200">
                <a:solidFill>
                  <a:srgbClr val="475569"/>
                </a:solidFill>
                <a:latin typeface="Calibri"/>
              </a:defRPr>
            </a:pPr>
            <a:r>
              <a:t>From Raw Federal Asset Ingestion to Out-of-Time Holdout Verification</a:t>
            </a:r>
          </a:p>
        </p:txBody>
      </p:sp>
      <p:sp>
        <p:nvSpPr>
          <p:cNvPr id="3" name="Rectangle 2"/>
          <p:cNvSpPr/>
          <p:nvPr/>
        </p:nvSpPr>
        <p:spPr>
          <a:xfrm>
            <a:off x="731520"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000">
                <a:solidFill>
                  <a:srgbClr val="2563EB"/>
                </a:solidFill>
              </a:defRPr>
            </a:pPr>
            <a:r>
              <a:t>PHASE 1</a:t>
            </a:r>
          </a:p>
          <a:p>
            <a:pPr>
              <a:spcBef>
                <a:spcPts val="300"/>
              </a:spcBef>
              <a:defRPr b="1" sz="1200">
                <a:solidFill>
                  <a:srgbClr val="0A2240"/>
                </a:solidFill>
              </a:defRPr>
            </a:pPr>
            <a:r>
              <a:t>DATA FOUNDATION &amp; ETL</a:t>
            </a:r>
          </a:p>
          <a:p>
            <a:pPr>
              <a:spcBef>
                <a:spcPts val="1000"/>
              </a:spcBef>
              <a:defRPr sz="1050">
                <a:solidFill>
                  <a:srgbClr val="0F172A"/>
                </a:solidFill>
              </a:defRPr>
            </a:pPr>
            <a:r>
              <a:t>Conformed 67.2M raw records from TSA FOIA, BTS OTP, T-100, and DB1B into an optimized Star Schema database, harmonizing carrier codes and airport IATA identifiers across 44 months.</a:t>
            </a:r>
          </a:p>
        </p:txBody>
      </p:sp>
      <p:sp>
        <p:nvSpPr>
          <p:cNvPr id="4" name="Rectangle 3"/>
          <p:cNvSpPr/>
          <p:nvPr/>
        </p:nvSpPr>
        <p:spPr>
          <a:xfrm>
            <a:off x="3456432"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000">
                <a:solidFill>
                  <a:srgbClr val="2563EB"/>
                </a:solidFill>
              </a:defRPr>
            </a:pPr>
            <a:r>
              <a:t>PHASE 2</a:t>
            </a:r>
          </a:p>
          <a:p>
            <a:pPr>
              <a:spcBef>
                <a:spcPts val="300"/>
              </a:spcBef>
              <a:defRPr b="1" sz="1200">
                <a:solidFill>
                  <a:srgbClr val="0A2240"/>
                </a:solidFill>
              </a:defRPr>
            </a:pPr>
            <a:r>
              <a:t>ECONOMETRIC FILTERING</a:t>
            </a:r>
          </a:p>
          <a:p>
            <a:pPr>
              <a:spcBef>
                <a:spcPts val="1000"/>
              </a:spcBef>
              <a:defRPr sz="1050">
                <a:solidFill>
                  <a:srgbClr val="0F172A"/>
                </a:solidFill>
              </a:defRPr>
            </a:pPr>
            <a:r>
              <a:t>Executed the 4-tier filtering pipeline, screening 450+ airports to isolate the 9-airport experimental cohort across 12 carrier-exclusive screening complexes.</a:t>
            </a:r>
          </a:p>
        </p:txBody>
      </p:sp>
      <p:sp>
        <p:nvSpPr>
          <p:cNvPr id="5" name="Rectangle 4"/>
          <p:cNvSpPr/>
          <p:nvPr/>
        </p:nvSpPr>
        <p:spPr>
          <a:xfrm>
            <a:off x="6181344"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000">
                <a:solidFill>
                  <a:srgbClr val="2563EB"/>
                </a:solidFill>
              </a:defRPr>
            </a:pPr>
            <a:r>
              <a:t>PHASE 3</a:t>
            </a:r>
          </a:p>
          <a:p>
            <a:pPr>
              <a:spcBef>
                <a:spcPts val="300"/>
              </a:spcBef>
              <a:defRPr b="1" sz="1200">
                <a:solidFill>
                  <a:srgbClr val="0A2240"/>
                </a:solidFill>
              </a:defRPr>
            </a:pPr>
            <a:r>
              <a:t>CALIBRATION &amp; ENGINEERING</a:t>
            </a:r>
          </a:p>
          <a:p>
            <a:pPr>
              <a:spcBef>
                <a:spcPts val="1000"/>
              </a:spcBef>
              <a:defRPr sz="1050">
                <a:solidFill>
                  <a:srgbClr val="0F172A"/>
                </a:solidFill>
              </a:defRPr>
            </a:pPr>
            <a:r>
              <a:t>Engineered 24 operational features, constructed an 84-cell interaction grid, and calibrated hyperparameter bounds (N_train ≥ 50 in 98.8% of feature cells).</a:t>
            </a:r>
          </a:p>
        </p:txBody>
      </p:sp>
      <p:sp>
        <p:nvSpPr>
          <p:cNvPr id="6" name="Rectangle 5"/>
          <p:cNvSpPr/>
          <p:nvPr/>
        </p:nvSpPr>
        <p:spPr>
          <a:xfrm>
            <a:off x="8906256"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000">
                <a:solidFill>
                  <a:srgbClr val="2563EB"/>
                </a:solidFill>
              </a:defRPr>
            </a:pPr>
            <a:r>
              <a:t>PHASE 4</a:t>
            </a:r>
          </a:p>
          <a:p>
            <a:pPr>
              <a:spcBef>
                <a:spcPts val="300"/>
              </a:spcBef>
              <a:defRPr b="1" sz="1200">
                <a:solidFill>
                  <a:srgbClr val="0A2240"/>
                </a:solidFill>
              </a:defRPr>
            </a:pPr>
            <a:r>
              <a:t>MULTI-PILLAR TESTING</a:t>
            </a:r>
          </a:p>
          <a:p>
            <a:pPr>
              <a:spcBef>
                <a:spcPts val="1000"/>
              </a:spcBef>
              <a:defRPr sz="1050">
                <a:solidFill>
                  <a:srgbClr val="0F172A"/>
                </a:solidFill>
              </a:defRPr>
            </a:pPr>
            <a:r>
              <a:t>Executed out-of-time evaluation across the full 2025 holdout period, testing hypotheses H1a (Robustness), H1b (Resilience), and H1c (Generalizability).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VALIDITY SAFEGUARDS</a:t>
            </a:r>
          </a:p>
          <a:p>
            <a:pPr>
              <a:spcBef>
                <a:spcPts val="300"/>
              </a:spcBef>
              <a:defRPr sz="2200" b="1">
                <a:solidFill>
                  <a:srgbClr val="0A2240"/>
                </a:solidFill>
                <a:latin typeface="Calibri"/>
              </a:defRPr>
            </a:pPr>
            <a:r>
              <a:t>Methodological Safeguards &amp; Data Integrity</a:t>
            </a:r>
          </a:p>
          <a:p>
            <a:pPr>
              <a:spcBef>
                <a:spcPts val="200"/>
              </a:spcBef>
              <a:defRPr sz="1200">
                <a:solidFill>
                  <a:srgbClr val="475569"/>
                </a:solidFill>
                <a:latin typeface="Calibri"/>
              </a:defRPr>
            </a:pPr>
            <a:r>
              <a:t>Eliminating Leakage, Spatial Contamination, and Information Lookahead</a:t>
            </a:r>
          </a:p>
        </p:txBody>
      </p:sp>
      <p:sp>
        <p:nvSpPr>
          <p:cNvPr id="3" name="Rectangle 2"/>
          <p:cNvSpPr/>
          <p:nvPr/>
        </p:nvSpPr>
        <p:spPr>
          <a:xfrm>
            <a:off x="731520" y="1691640"/>
            <a:ext cx="5212080" cy="2148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100">
                <a:solidFill>
                  <a:srgbClr val="2563EB"/>
                </a:solidFill>
              </a:defRPr>
            </a:pPr>
            <a:r>
              <a:t>168-HOUR PURGE BUFFER</a:t>
            </a:r>
          </a:p>
          <a:p>
            <a:pPr>
              <a:spcBef>
                <a:spcPts val="600"/>
              </a:spcBef>
              <a:defRPr sz="1050">
                <a:solidFill>
                  <a:srgbClr val="0F172A"/>
                </a:solidFill>
              </a:defRPr>
            </a:pPr>
            <a:r>
              <a:t>Strict 7-day temporal gap between training and test holdout. Eliminates autoregressive memory leakage that artificially inflates machine learning performance in time-series evaluation.</a:t>
            </a:r>
          </a:p>
        </p:txBody>
      </p:sp>
      <p:sp>
        <p:nvSpPr>
          <p:cNvPr id="4" name="Rectangle 3"/>
          <p:cNvSpPr/>
          <p:nvPr/>
        </p:nvSpPr>
        <p:spPr>
          <a:xfrm>
            <a:off x="6217920" y="1691640"/>
            <a:ext cx="5212080" cy="2148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100">
                <a:solidFill>
                  <a:srgbClr val="2563EB"/>
                </a:solidFill>
              </a:defRPr>
            </a:pPr>
            <a:r>
              <a:t>CONNECTING PASSENGER DEFLATOR</a:t>
            </a:r>
          </a:p>
          <a:p>
            <a:pPr>
              <a:spcBef>
                <a:spcPts val="600"/>
              </a:spcBef>
              <a:defRPr sz="1050">
                <a:solidFill>
                  <a:srgbClr val="0F172A"/>
                </a:solidFill>
              </a:defRPr>
            </a:pPr>
            <a:r>
              <a:t>Applies BTS DB1B originating passenger ratios to scheduled seats. Resolves 'The Hub Disconnect' by stripping out connecting passengers who never cross the TSA checkpoint floor.</a:t>
            </a:r>
          </a:p>
        </p:txBody>
      </p:sp>
      <p:sp>
        <p:nvSpPr>
          <p:cNvPr id="5" name="Rectangle 4"/>
          <p:cNvSpPr/>
          <p:nvPr/>
        </p:nvSpPr>
        <p:spPr>
          <a:xfrm>
            <a:off x="731520" y="4114800"/>
            <a:ext cx="5212080" cy="2148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100">
                <a:solidFill>
                  <a:srgbClr val="2563EB"/>
                </a:solidFill>
              </a:defRPr>
            </a:pPr>
            <a:r>
              <a:t>CARRIER SCREENING ISOLATION</a:t>
            </a:r>
          </a:p>
          <a:p>
            <a:pPr>
              <a:spcBef>
                <a:spcPts val="600"/>
              </a:spcBef>
              <a:defRPr sz="1050">
                <a:solidFill>
                  <a:srgbClr val="0F172A"/>
                </a:solidFill>
              </a:defRPr>
            </a:pPr>
            <a:r>
              <a:t>Restricts cohort to single-carrier terminals (e.g., EWR Terminal C, ATL South). Eliminates multi-carrier passenger mixing, establishing clean econometric identification.</a:t>
            </a:r>
          </a:p>
        </p:txBody>
      </p:sp>
      <p:sp>
        <p:nvSpPr>
          <p:cNvPr id="6" name="Rectangle 5"/>
          <p:cNvSpPr/>
          <p:nvPr/>
        </p:nvSpPr>
        <p:spPr>
          <a:xfrm>
            <a:off x="6217920" y="4114800"/>
            <a:ext cx="5212080" cy="2148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100">
                <a:solidFill>
                  <a:srgbClr val="2563EB"/>
                </a:solidFill>
              </a:defRPr>
            </a:pPr>
            <a:r>
              <a:t>STRICT INFORMATION AVAILABILITY (t-1)</a:t>
            </a:r>
          </a:p>
          <a:p>
            <a:pPr>
              <a:spcBef>
                <a:spcPts val="600"/>
              </a:spcBef>
              <a:defRPr sz="1050">
                <a:solidFill>
                  <a:srgbClr val="0F172A"/>
                </a:solidFill>
              </a:defRPr>
            </a:pPr>
            <a:r>
              <a:t>Eliminates lookahead bias. Models ingest only operational data realized prior to the prediction hour. No future departure delays or cancelled flights are used at prediction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RESULTS ROADMAP</a:t>
            </a:r>
          </a:p>
          <a:p>
            <a:pPr>
              <a:spcBef>
                <a:spcPts val="300"/>
              </a:spcBef>
              <a:defRPr sz="2200" b="1">
                <a:solidFill>
                  <a:srgbClr val="0A2240"/>
                </a:solidFill>
                <a:latin typeface="Calibri"/>
              </a:defRPr>
            </a:pPr>
            <a:r>
              <a:t>Chapter IV Empirical Results Architecture</a:t>
            </a:r>
          </a:p>
          <a:p>
            <a:pPr>
              <a:spcBef>
                <a:spcPts val="200"/>
              </a:spcBef>
              <a:defRPr sz="1200">
                <a:solidFill>
                  <a:srgbClr val="475569"/>
                </a:solidFill>
                <a:latin typeface="Calibri"/>
              </a:defRPr>
            </a:pPr>
            <a:r>
              <a:t>Structured Progression from Exploratory Volatility to Certified Holdout Tests</a:t>
            </a:r>
          </a:p>
        </p:txBody>
      </p:sp>
      <p:sp>
        <p:nvSpPr>
          <p:cNvPr id="3" name="Rectangle 2"/>
          <p:cNvSpPr/>
          <p:nvPr/>
        </p:nvSpPr>
        <p:spPr>
          <a:xfrm>
            <a:off x="731520"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000">
                <a:solidFill>
                  <a:srgbClr val="2563EB"/>
                </a:solidFill>
              </a:defRPr>
            </a:pPr>
            <a:r>
              <a:t>SECTION 4.1</a:t>
            </a:r>
          </a:p>
          <a:p>
            <a:pPr>
              <a:spcBef>
                <a:spcPts val="300"/>
              </a:spcBef>
              <a:defRPr b="1" sz="1200">
                <a:solidFill>
                  <a:srgbClr val="0A2240"/>
                </a:solidFill>
              </a:defRPr>
            </a:pPr>
            <a:r>
              <a:t>EXPLORATORY DATA ANALYSIS</a:t>
            </a:r>
          </a:p>
          <a:p>
            <a:pPr>
              <a:spcBef>
                <a:spcPts val="1000"/>
              </a:spcBef>
              <a:defRPr sz="1050">
                <a:solidFill>
                  <a:srgbClr val="0F172A"/>
                </a:solidFill>
              </a:defRPr>
            </a:pPr>
            <a:r>
              <a:t>Discovery of the Values vs. Volatility decoupling (r = +0.4373 vs. r = -0.062). Establishes arrival burstiness as the primary modeling target.</a:t>
            </a:r>
          </a:p>
        </p:txBody>
      </p:sp>
      <p:sp>
        <p:nvSpPr>
          <p:cNvPr id="4" name="Rectangle 3"/>
          <p:cNvSpPr/>
          <p:nvPr/>
        </p:nvSpPr>
        <p:spPr>
          <a:xfrm>
            <a:off x="3456432"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000">
                <a:solidFill>
                  <a:srgbClr val="2563EB"/>
                </a:solidFill>
              </a:defRPr>
            </a:pPr>
            <a:r>
              <a:t>SECTION 4.2</a:t>
            </a:r>
          </a:p>
          <a:p>
            <a:pPr>
              <a:spcBef>
                <a:spcPts val="300"/>
              </a:spcBef>
              <a:defRPr b="1" sz="1200">
                <a:solidFill>
                  <a:srgbClr val="0A2240"/>
                </a:solidFill>
              </a:defRPr>
            </a:pPr>
            <a:r>
              <a:t>FOUR-TIER FILTERING COHORT</a:t>
            </a:r>
          </a:p>
          <a:p>
            <a:pPr>
              <a:spcBef>
                <a:spcPts val="1000"/>
              </a:spcBef>
              <a:defRPr sz="1050">
                <a:solidFill>
                  <a:srgbClr val="0F172A"/>
                </a:solidFill>
              </a:defRPr>
            </a:pPr>
            <a:r>
              <a:t>Execution of the 4-tier filtering pipeline. Isolates the 9-airport experimental cohort across 12 carrier-exclusive complexes with balanced representation.</a:t>
            </a:r>
          </a:p>
        </p:txBody>
      </p:sp>
      <p:sp>
        <p:nvSpPr>
          <p:cNvPr id="5" name="Rectangle 4"/>
          <p:cNvSpPr/>
          <p:nvPr/>
        </p:nvSpPr>
        <p:spPr>
          <a:xfrm>
            <a:off x="6181344"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000">
                <a:solidFill>
                  <a:srgbClr val="2563EB"/>
                </a:solidFill>
              </a:defRPr>
            </a:pPr>
            <a:r>
              <a:t>SECTION 4.3</a:t>
            </a:r>
          </a:p>
          <a:p>
            <a:pPr>
              <a:spcBef>
                <a:spcPts val="300"/>
              </a:spcBef>
              <a:defRPr b="1" sz="1200">
                <a:solidFill>
                  <a:srgbClr val="0A2240"/>
                </a:solidFill>
              </a:defRPr>
            </a:pPr>
            <a:r>
              <a:t>MODEL DEVELOPMENT &amp; 2025 HOLDOUT</a:t>
            </a:r>
          </a:p>
          <a:p>
            <a:pPr>
              <a:spcBef>
                <a:spcPts val="1000"/>
              </a:spcBef>
              <a:defRPr sz="1050">
                <a:solidFill>
                  <a:srgbClr val="0F172A"/>
                </a:solidFill>
              </a:defRPr>
            </a:pPr>
            <a:r>
              <a:t>Feature engineering across 24 attributes and execution of the out-of-time 2025 holdout benchmark suite (Table 4.10).</a:t>
            </a:r>
          </a:p>
        </p:txBody>
      </p:sp>
      <p:sp>
        <p:nvSpPr>
          <p:cNvPr id="6" name="Rectangle 5"/>
          <p:cNvSpPr/>
          <p:nvPr/>
        </p:nvSpPr>
        <p:spPr>
          <a:xfrm>
            <a:off x="8906256"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000">
                <a:solidFill>
                  <a:srgbClr val="2563EB"/>
                </a:solidFill>
              </a:defRPr>
            </a:pPr>
            <a:r>
              <a:t>SECTION 4.4</a:t>
            </a:r>
          </a:p>
          <a:p>
            <a:pPr>
              <a:spcBef>
                <a:spcPts val="300"/>
              </a:spcBef>
              <a:defRPr b="1" sz="1200">
                <a:solidFill>
                  <a:srgbClr val="0A2240"/>
                </a:solidFill>
              </a:defRPr>
            </a:pPr>
            <a:r>
              <a:t>MULTI-PILLAR HYPOTHESIS TESTING</a:t>
            </a:r>
          </a:p>
          <a:p>
            <a:pPr>
              <a:spcBef>
                <a:spcPts val="1000"/>
              </a:spcBef>
              <a:defRPr sz="1050">
                <a:solidFill>
                  <a:srgbClr val="0F172A"/>
                </a:solidFill>
              </a:defRPr>
            </a:pPr>
            <a:r>
              <a:t>Formal testing of H1a (Robustness), H1b (Resilience), and H1c (Generalizability) proving the Master Asymmetric Trade-Off (Table 4.11).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DESCRIPTIVE STATISTICS</a:t>
            </a:r>
          </a:p>
          <a:p>
            <a:pPr>
              <a:spcBef>
                <a:spcPts val="300"/>
              </a:spcBef>
              <a:defRPr sz="2200" b="1">
                <a:solidFill>
                  <a:srgbClr val="0A2240"/>
                </a:solidFill>
                <a:latin typeface="Calibri"/>
              </a:defRPr>
            </a:pPr>
            <a:r>
              <a:t>Empirical Baseline: 9-Airport Cohort vs. Top 25</a:t>
            </a:r>
          </a:p>
          <a:p>
            <a:pPr>
              <a:spcBef>
                <a:spcPts val="200"/>
              </a:spcBef>
              <a:defRPr sz="1200">
                <a:solidFill>
                  <a:srgbClr val="475569"/>
                </a:solidFill>
                <a:latin typeface="Calibri"/>
              </a:defRPr>
            </a:pPr>
            <a:r>
              <a:t>Isolating High-Stress Operational Hubs Across U.S. Commercial Aviation</a:t>
            </a:r>
          </a:p>
        </p:txBody>
      </p:sp>
      <p:sp>
        <p:nvSpPr>
          <p:cNvPr id="3" name="Rectangle 2"/>
          <p:cNvSpPr/>
          <p:nvPr/>
        </p:nvSpPr>
        <p:spPr>
          <a:xfrm>
            <a:off x="731520" y="1691640"/>
            <a:ext cx="2542032" cy="20116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bIns="137160"/>
          <a:lstStyle/>
          <a:p>
            <a:pPr algn="ctr">
              <a:defRPr sz="2800" b="1">
                <a:solidFill>
                  <a:srgbClr val="0A2240"/>
                </a:solidFill>
                <a:latin typeface="Calibri"/>
              </a:defRPr>
            </a:pPr>
            <a:r>
              <a:t>+16.9%</a:t>
            </a:r>
          </a:p>
          <a:p>
            <a:pPr algn="ctr">
              <a:spcBef>
                <a:spcPts val="400"/>
              </a:spcBef>
              <a:defRPr sz="1000" b="1">
                <a:solidFill>
                  <a:srgbClr val="2563EB"/>
                </a:solidFill>
                <a:latin typeface="Calibri"/>
              </a:defRPr>
            </a:pPr>
            <a:r>
              <a:t>FLIGHT DENSITY</a:t>
            </a:r>
          </a:p>
          <a:p>
            <a:pPr algn="ctr">
              <a:spcBef>
                <a:spcPts val="400"/>
              </a:spcBef>
              <a:defRPr sz="950">
                <a:solidFill>
                  <a:srgbClr val="475569"/>
                </a:solidFill>
                <a:latin typeface="Calibri"/>
              </a:defRPr>
            </a:pPr>
            <a:r>
              <a:t>224,576 annual flights vs. 192,160 top-25 mean</a:t>
            </a:r>
          </a:p>
        </p:txBody>
      </p:sp>
      <p:sp>
        <p:nvSpPr>
          <p:cNvPr id="4" name="Rectangle 3"/>
          <p:cNvSpPr/>
          <p:nvPr/>
        </p:nvSpPr>
        <p:spPr>
          <a:xfrm>
            <a:off x="3456432" y="1691640"/>
            <a:ext cx="2542032" cy="20116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bIns="137160"/>
          <a:lstStyle/>
          <a:p>
            <a:pPr algn="ctr">
              <a:defRPr sz="2800" b="1">
                <a:solidFill>
                  <a:srgbClr val="0A2240"/>
                </a:solidFill>
                <a:latin typeface="Calibri"/>
              </a:defRPr>
            </a:pPr>
            <a:r>
              <a:t>+14.1%</a:t>
            </a:r>
          </a:p>
          <a:p>
            <a:pPr algn="ctr">
              <a:spcBef>
                <a:spcPts val="400"/>
              </a:spcBef>
              <a:defRPr sz="1000" b="1">
                <a:solidFill>
                  <a:srgbClr val="2563EB"/>
                </a:solidFill>
                <a:latin typeface="Calibri"/>
              </a:defRPr>
            </a:pPr>
            <a:r>
              <a:t>CANCELLATION CHURN</a:t>
            </a:r>
          </a:p>
          <a:p>
            <a:pPr algn="ctr">
              <a:spcBef>
                <a:spcPts val="400"/>
              </a:spcBef>
              <a:defRPr sz="950">
                <a:solidFill>
                  <a:srgbClr val="475569"/>
                </a:solidFill>
                <a:latin typeface="Calibri"/>
              </a:defRPr>
            </a:pPr>
            <a:r>
              <a:t>1.63% annual cancel rate vs. 1.43% top-25 mean</a:t>
            </a:r>
          </a:p>
        </p:txBody>
      </p:sp>
      <p:sp>
        <p:nvSpPr>
          <p:cNvPr id="5" name="Rectangle 4"/>
          <p:cNvSpPr/>
          <p:nvPr/>
        </p:nvSpPr>
        <p:spPr>
          <a:xfrm>
            <a:off x="6181344" y="1691640"/>
            <a:ext cx="2542032" cy="20116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bIns="137160"/>
          <a:lstStyle/>
          <a:p>
            <a:pPr algn="ctr">
              <a:defRPr sz="2800" b="1">
                <a:solidFill>
                  <a:srgbClr val="0A2240"/>
                </a:solidFill>
                <a:latin typeface="Calibri"/>
              </a:defRPr>
            </a:pPr>
            <a:r>
              <a:t>+25.0%</a:t>
            </a:r>
          </a:p>
          <a:p>
            <a:pPr algn="ctr">
              <a:spcBef>
                <a:spcPts val="400"/>
              </a:spcBef>
              <a:defRPr sz="1000" b="1">
                <a:solidFill>
                  <a:srgbClr val="2563EB"/>
                </a:solidFill>
                <a:latin typeface="Calibri"/>
              </a:defRPr>
            </a:pPr>
            <a:r>
              <a:t>ORIGINATING DEMAND</a:t>
            </a:r>
          </a:p>
          <a:p>
            <a:pPr algn="ctr">
              <a:spcBef>
                <a:spcPts val="400"/>
              </a:spcBef>
              <a:defRPr sz="950">
                <a:solidFill>
                  <a:srgbClr val="475569"/>
                </a:solidFill>
                <a:latin typeface="Calibri"/>
              </a:defRPr>
            </a:pPr>
            <a:r>
              <a:t>16.4M originating pax vs. 13.1M top-25 mean</a:t>
            </a:r>
          </a:p>
        </p:txBody>
      </p:sp>
      <p:sp>
        <p:nvSpPr>
          <p:cNvPr id="6" name="Rectangle 5"/>
          <p:cNvSpPr/>
          <p:nvPr/>
        </p:nvSpPr>
        <p:spPr>
          <a:xfrm>
            <a:off x="8906256" y="1691640"/>
            <a:ext cx="2542032" cy="20116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bIns="137160"/>
          <a:lstStyle/>
          <a:p>
            <a:pPr algn="ctr">
              <a:defRPr sz="2800" b="1">
                <a:solidFill>
                  <a:srgbClr val="0A2240"/>
                </a:solidFill>
                <a:latin typeface="Calibri"/>
              </a:defRPr>
            </a:pPr>
            <a:r>
              <a:t>+5.8%</a:t>
            </a:r>
          </a:p>
          <a:p>
            <a:pPr algn="ctr">
              <a:spcBef>
                <a:spcPts val="400"/>
              </a:spcBef>
              <a:defRPr sz="1000" b="1">
                <a:solidFill>
                  <a:srgbClr val="2563EB"/>
                </a:solidFill>
                <a:latin typeface="Calibri"/>
              </a:defRPr>
            </a:pPr>
            <a:r>
              <a:t>ARRIVAL VOLATILITY</a:t>
            </a:r>
          </a:p>
          <a:p>
            <a:pPr algn="ctr">
              <a:spcBef>
                <a:spcPts val="400"/>
              </a:spcBef>
              <a:defRPr sz="950">
                <a:solidFill>
                  <a:srgbClr val="475569"/>
                </a:solidFill>
                <a:latin typeface="Calibri"/>
              </a:defRPr>
            </a:pPr>
            <a:r>
              <a:t>CV_TSA = 0.8728 vs. 0.8250 top-25 mean</a:t>
            </a:r>
          </a:p>
        </p:txBody>
      </p:sp>
      <p:sp>
        <p:nvSpPr>
          <p:cNvPr id="7" name="Rectangle 6"/>
          <p:cNvSpPr/>
          <p:nvPr/>
        </p:nvSpPr>
        <p:spPr>
          <a:xfrm>
            <a:off x="731520" y="3931920"/>
            <a:ext cx="10728655" cy="2331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82880"/>
          <a:lstStyle/>
          <a:p>
            <a:pPr algn="ctr">
              <a:defRPr b="1" sz="1100">
                <a:solidFill>
                  <a:srgbClr val="0A2240"/>
                </a:solidFill>
              </a:defRPr>
            </a:pPr>
            <a:r>
              <a:t>OPERATIONAL SIGNIFICANCE OF THE 9-AIRPORT COHORT</a:t>
            </a:r>
          </a:p>
          <a:p>
            <a:pPr>
              <a:spcBef>
                <a:spcPts val="600"/>
              </a:spcBef>
              <a:defRPr sz="1050">
                <a:solidFill>
                  <a:srgbClr val="0F172A"/>
                </a:solidFill>
              </a:defRPr>
            </a:pPr>
            <a:r>
              <a:t>•  Deliberate High-Congestion Fronts: The 9 selected airports represent genuine operational pressure points in the National Airspace System, rather than tranquil regional stations.</a:t>
            </a:r>
          </a:p>
          <a:p>
            <a:pPr>
              <a:spcBef>
                <a:spcPts val="600"/>
              </a:spcBef>
              <a:defRPr sz="1050">
                <a:solidFill>
                  <a:srgbClr val="0F172A"/>
                </a:solidFill>
              </a:defRPr>
            </a:pPr>
            <a:r>
              <a:t>•  Statistical Stress Testing: High flight density and elevated cancellation rates ensure sufficient sample sizes of convective IROPS shocks for robust resilience testing.</a:t>
            </a:r>
          </a:p>
          <a:p>
            <a:pPr>
              <a:spcBef>
                <a:spcPts val="600"/>
              </a:spcBef>
              <a:defRPr sz="1050">
                <a:solidFill>
                  <a:srgbClr val="0F172A"/>
                </a:solidFill>
              </a:defRPr>
            </a:pPr>
            <a:r>
              <a:t>•  Originating Passenger Dominance: Higher originating passenger headcounts mean that checkpoint queuing dynamics directly drive terminal crowding.</a:t>
            </a:r>
          </a:p>
          <a:p>
            <a:pPr>
              <a:spcBef>
                <a:spcPts val="600"/>
              </a:spcBef>
              <a:defRPr sz="1050">
                <a:solidFill>
                  <a:srgbClr val="0F172A"/>
                </a:solidFill>
              </a:defRPr>
            </a:pPr>
            <a:r>
              <a:t>•  Factorial Carrier Balance: Equal representation across American (5), Delta (5), and United (4) complexes prevents airline-specific procedural bias.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COHORT SELECTION</a:t>
            </a:r>
          </a:p>
          <a:p>
            <a:pPr>
              <a:spcBef>
                <a:spcPts val="300"/>
              </a:spcBef>
              <a:defRPr sz="2200" b="1">
                <a:solidFill>
                  <a:srgbClr val="0A2240"/>
                </a:solidFill>
                <a:latin typeface="Calibri"/>
              </a:defRPr>
            </a:pPr>
            <a:r>
              <a:t>The Four-Tier Purposive Filtering Pipeline</a:t>
            </a:r>
          </a:p>
          <a:p>
            <a:pPr>
              <a:spcBef>
                <a:spcPts val="200"/>
              </a:spcBef>
              <a:defRPr sz="1200">
                <a:solidFill>
                  <a:srgbClr val="475569"/>
                </a:solidFill>
                <a:latin typeface="Calibri"/>
              </a:defRPr>
            </a:pPr>
            <a:r>
              <a:t>Methodological Funnel from 450+ Commercial Airports to 12 Carrier Complexes</a:t>
            </a:r>
          </a:p>
        </p:txBody>
      </p:sp>
      <p:sp>
        <p:nvSpPr>
          <p:cNvPr id="3" name="Rectangle 2"/>
          <p:cNvSpPr/>
          <p:nvPr/>
        </p:nvSpPr>
        <p:spPr>
          <a:xfrm>
            <a:off x="731520"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000">
                <a:solidFill>
                  <a:srgbClr val="2563EB"/>
                </a:solidFill>
              </a:defRPr>
            </a:pPr>
            <a:r>
              <a:t>TIER 1</a:t>
            </a:r>
          </a:p>
          <a:p>
            <a:pPr>
              <a:spcBef>
                <a:spcPts val="200"/>
              </a:spcBef>
              <a:defRPr b="1" sz="1200">
                <a:solidFill>
                  <a:srgbClr val="0A2240"/>
                </a:solidFill>
              </a:defRPr>
            </a:pPr>
            <a:r>
              <a:t>MACRO SCALE</a:t>
            </a:r>
          </a:p>
          <a:p>
            <a:pPr>
              <a:spcBef>
                <a:spcPts val="200"/>
              </a:spcBef>
              <a:defRPr b="1" sz="950">
                <a:solidFill>
                  <a:srgbClr val="475569"/>
                </a:solidFill>
              </a:defRPr>
            </a:pPr>
            <a:r>
              <a:t>Commercial Hub Volume</a:t>
            </a:r>
          </a:p>
          <a:p>
            <a:pPr>
              <a:spcBef>
                <a:spcPts val="1000"/>
              </a:spcBef>
              <a:defRPr sz="1000">
                <a:solidFill>
                  <a:srgbClr val="0F172A"/>
                </a:solidFill>
              </a:defRPr>
            </a:pPr>
            <a:r>
              <a:t>Filtered 450+ commercial airports to the Top 25 large hubs. Captures 68% of total U.S. commercial passenger traffic.</a:t>
            </a:r>
          </a:p>
        </p:txBody>
      </p:sp>
      <p:sp>
        <p:nvSpPr>
          <p:cNvPr id="4" name="Rectangle 3"/>
          <p:cNvSpPr/>
          <p:nvPr/>
        </p:nvSpPr>
        <p:spPr>
          <a:xfrm>
            <a:off x="3456432"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000">
                <a:solidFill>
                  <a:srgbClr val="2563EB"/>
                </a:solidFill>
              </a:defRPr>
            </a:pPr>
            <a:r>
              <a:t>TIER 2</a:t>
            </a:r>
          </a:p>
          <a:p>
            <a:pPr>
              <a:spcBef>
                <a:spcPts val="200"/>
              </a:spcBef>
              <a:defRPr b="1" sz="1200">
                <a:solidFill>
                  <a:srgbClr val="0A2240"/>
                </a:solidFill>
              </a:defRPr>
            </a:pPr>
            <a:r>
              <a:t>MESO CARRIER</a:t>
            </a:r>
          </a:p>
          <a:p>
            <a:pPr>
              <a:spcBef>
                <a:spcPts val="200"/>
              </a:spcBef>
              <a:defRPr b="1" sz="950">
                <a:solidFill>
                  <a:srgbClr val="475569"/>
                </a:solidFill>
              </a:defRPr>
            </a:pPr>
            <a:r>
              <a:t>Legacy Carrier Presence</a:t>
            </a:r>
          </a:p>
          <a:p>
            <a:pPr>
              <a:spcBef>
                <a:spcPts val="1000"/>
              </a:spcBef>
              <a:defRPr sz="1000">
                <a:solidFill>
                  <a:srgbClr val="0F172A"/>
                </a:solidFill>
              </a:defRPr>
            </a:pPr>
            <a:r>
              <a:t>Screened for continuous, dominant mainline presence of American, Delta, or United. Eliminated JFK due to terminal fragmentation.</a:t>
            </a:r>
          </a:p>
        </p:txBody>
      </p:sp>
      <p:sp>
        <p:nvSpPr>
          <p:cNvPr id="5" name="Rectangle 4"/>
          <p:cNvSpPr/>
          <p:nvPr/>
        </p:nvSpPr>
        <p:spPr>
          <a:xfrm>
            <a:off x="6181344"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000">
                <a:solidFill>
                  <a:srgbClr val="2563EB"/>
                </a:solidFill>
              </a:defRPr>
            </a:pPr>
            <a:r>
              <a:t>TIER 3</a:t>
            </a:r>
          </a:p>
          <a:p>
            <a:pPr>
              <a:spcBef>
                <a:spcPts val="200"/>
              </a:spcBef>
              <a:defRPr b="1" sz="1200">
                <a:solidFill>
                  <a:srgbClr val="0A2240"/>
                </a:solidFill>
              </a:defRPr>
            </a:pPr>
            <a:r>
              <a:t>MICRO GEOMETRY</a:t>
            </a:r>
          </a:p>
          <a:p>
            <a:pPr>
              <a:spcBef>
                <a:spcPts val="200"/>
              </a:spcBef>
              <a:defRPr b="1" sz="950">
                <a:solidFill>
                  <a:srgbClr val="475569"/>
                </a:solidFill>
              </a:defRPr>
            </a:pPr>
            <a:r>
              <a:t>Physical Carrier Isolation</a:t>
            </a:r>
          </a:p>
          <a:p>
            <a:pPr>
              <a:spcBef>
                <a:spcPts val="1000"/>
              </a:spcBef>
              <a:defRPr sz="1000">
                <a:solidFill>
                  <a:srgbClr val="0F172A"/>
                </a:solidFill>
              </a:defRPr>
            </a:pPr>
            <a:r>
              <a:t>Filtered out consolidated, multi-carrier checkpoints. Eliminated SLC due to unified common-use checkpoint floor.</a:t>
            </a:r>
          </a:p>
        </p:txBody>
      </p:sp>
      <p:sp>
        <p:nvSpPr>
          <p:cNvPr id="6" name="Rectangle 5"/>
          <p:cNvSpPr/>
          <p:nvPr/>
        </p:nvSpPr>
        <p:spPr>
          <a:xfrm>
            <a:off x="8906256"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000">
                <a:solidFill>
                  <a:srgbClr val="2563EB"/>
                </a:solidFill>
              </a:defRPr>
            </a:pPr>
            <a:r>
              <a:t>TIER 4</a:t>
            </a:r>
          </a:p>
          <a:p>
            <a:pPr>
              <a:spcBef>
                <a:spcPts val="200"/>
              </a:spcBef>
              <a:defRPr b="1" sz="1200">
                <a:solidFill>
                  <a:srgbClr val="0A2240"/>
                </a:solidFill>
              </a:defRPr>
            </a:pPr>
            <a:r>
              <a:t>COHORT BALANCE</a:t>
            </a:r>
          </a:p>
          <a:p>
            <a:pPr>
              <a:spcBef>
                <a:spcPts val="200"/>
              </a:spcBef>
              <a:defRPr b="1" sz="950">
                <a:solidFill>
                  <a:srgbClr val="475569"/>
                </a:solidFill>
              </a:defRPr>
            </a:pPr>
            <a:r>
              <a:t>Factorial Representation</a:t>
            </a:r>
          </a:p>
          <a:p>
            <a:pPr>
              <a:spcBef>
                <a:spcPts val="1000"/>
              </a:spcBef>
              <a:defRPr sz="1000">
                <a:solidFill>
                  <a:srgbClr val="0F172A"/>
                </a:solidFill>
              </a:defRPr>
            </a:pPr>
            <a:r>
              <a:t>Finalized 9 airports across 12 carrier-exclusive complexes, balancing 4 operational clusters across the major airline alliances.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COHORT SPECIFICATION</a:t>
            </a:r>
          </a:p>
          <a:p>
            <a:pPr>
              <a:spcBef>
                <a:spcPts val="300"/>
              </a:spcBef>
              <a:defRPr sz="2200" b="1">
                <a:solidFill>
                  <a:srgbClr val="0A2240"/>
                </a:solidFill>
                <a:latin typeface="Calibri"/>
              </a:defRPr>
            </a:pPr>
            <a:r>
              <a:t>The 9-Airport Experimental Cohort Specification</a:t>
            </a:r>
          </a:p>
          <a:p>
            <a:pPr>
              <a:spcBef>
                <a:spcPts val="200"/>
              </a:spcBef>
              <a:defRPr sz="1200">
                <a:solidFill>
                  <a:srgbClr val="475569"/>
                </a:solidFill>
                <a:latin typeface="Calibri"/>
              </a:defRPr>
            </a:pPr>
            <a:r>
              <a:t>12 Carrier-Exclusive Terminal Complexes Across Major Commercial Alliances</a:t>
            </a:r>
          </a:p>
        </p:txBody>
      </p:sp>
      <p:sp>
        <p:nvSpPr>
          <p:cNvPr id="3" name="Rectangle 2"/>
          <p:cNvSpPr/>
          <p:nvPr/>
        </p:nvSpPr>
        <p:spPr>
          <a:xfrm>
            <a:off x="731520" y="1691640"/>
            <a:ext cx="342900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b="1" sz="1100">
                <a:solidFill>
                  <a:srgbClr val="0A2240"/>
                </a:solidFill>
              </a:defRPr>
            </a:pPr>
            <a:r>
              <a:t>ATL  ·  Atlanta Hartsfield-Jackson</a:t>
            </a:r>
          </a:p>
          <a:p>
            <a:pPr>
              <a:spcBef>
                <a:spcPts val="200"/>
              </a:spcBef>
              <a:defRPr b="1" sz="1000">
                <a:solidFill>
                  <a:srgbClr val="2563EB"/>
                </a:solidFill>
              </a:defRPr>
            </a:pPr>
            <a:r>
              <a:t>Delta Domestic South</a:t>
            </a:r>
          </a:p>
          <a:p>
            <a:pPr>
              <a:spcBef>
                <a:spcPts val="200"/>
              </a:spcBef>
              <a:defRPr sz="950">
                <a:solidFill>
                  <a:srgbClr val="475569"/>
                </a:solidFill>
              </a:defRPr>
            </a:pPr>
            <a:r>
              <a:t>Cluster Archetype: Mega Connecting Hub</a:t>
            </a:r>
          </a:p>
        </p:txBody>
      </p:sp>
      <p:sp>
        <p:nvSpPr>
          <p:cNvPr id="4" name="Rectangle 3"/>
          <p:cNvSpPr/>
          <p:nvPr/>
        </p:nvSpPr>
        <p:spPr>
          <a:xfrm>
            <a:off x="4379976" y="1691640"/>
            <a:ext cx="342900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b="1" sz="1100">
                <a:solidFill>
                  <a:srgbClr val="0A2240"/>
                </a:solidFill>
              </a:defRPr>
            </a:pPr>
            <a:r>
              <a:t>BOS  ·  Boston Logan</a:t>
            </a:r>
          </a:p>
          <a:p>
            <a:pPr>
              <a:spcBef>
                <a:spcPts val="200"/>
              </a:spcBef>
              <a:defRPr b="1" sz="1000">
                <a:solidFill>
                  <a:srgbClr val="2563EB"/>
                </a:solidFill>
              </a:defRPr>
            </a:pPr>
            <a:r>
              <a:t>Delta A  ·  American B</a:t>
            </a:r>
          </a:p>
          <a:p>
            <a:pPr>
              <a:spcBef>
                <a:spcPts val="200"/>
              </a:spcBef>
              <a:defRPr sz="950">
                <a:solidFill>
                  <a:srgbClr val="475569"/>
                </a:solidFill>
              </a:defRPr>
            </a:pPr>
            <a:r>
              <a:t>Cluster Archetype: Northeast Business Origin</a:t>
            </a:r>
          </a:p>
        </p:txBody>
      </p:sp>
      <p:sp>
        <p:nvSpPr>
          <p:cNvPr id="5" name="Rectangle 4"/>
          <p:cNvSpPr/>
          <p:nvPr/>
        </p:nvSpPr>
        <p:spPr>
          <a:xfrm>
            <a:off x="8028432" y="1691640"/>
            <a:ext cx="342900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b="1" sz="1100">
                <a:solidFill>
                  <a:srgbClr val="0A2240"/>
                </a:solidFill>
              </a:defRPr>
            </a:pPr>
            <a:r>
              <a:t>DFW  ·  Dallas/Fort Worth</a:t>
            </a:r>
          </a:p>
          <a:p>
            <a:pPr>
              <a:spcBef>
                <a:spcPts val="200"/>
              </a:spcBef>
              <a:defRPr b="1" sz="1000">
                <a:solidFill>
                  <a:srgbClr val="2563EB"/>
                </a:solidFill>
              </a:defRPr>
            </a:pPr>
            <a:r>
              <a:t>American A, B, C</a:t>
            </a:r>
          </a:p>
          <a:p>
            <a:pPr>
              <a:spcBef>
                <a:spcPts val="200"/>
              </a:spcBef>
              <a:defRPr sz="950">
                <a:solidFill>
                  <a:srgbClr val="475569"/>
                </a:solidFill>
              </a:defRPr>
            </a:pPr>
            <a:r>
              <a:t>Cluster Archetype: Mega Network Fortress</a:t>
            </a:r>
          </a:p>
        </p:txBody>
      </p:sp>
      <p:sp>
        <p:nvSpPr>
          <p:cNvPr id="6" name="Rectangle 5"/>
          <p:cNvSpPr/>
          <p:nvPr/>
        </p:nvSpPr>
        <p:spPr>
          <a:xfrm>
            <a:off x="731520" y="3246120"/>
            <a:ext cx="342900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b="1" sz="1100">
                <a:solidFill>
                  <a:srgbClr val="0A2240"/>
                </a:solidFill>
              </a:defRPr>
            </a:pPr>
            <a:r>
              <a:t>DTW  ·  Detroit Metropolitan</a:t>
            </a:r>
          </a:p>
          <a:p>
            <a:pPr>
              <a:spcBef>
                <a:spcPts val="200"/>
              </a:spcBef>
              <a:defRPr b="1" sz="1000">
                <a:solidFill>
                  <a:srgbClr val="2563EB"/>
                </a:solidFill>
              </a:defRPr>
            </a:pPr>
            <a:r>
              <a:t>Delta McNamara Terminal</a:t>
            </a:r>
          </a:p>
          <a:p>
            <a:pPr>
              <a:spcBef>
                <a:spcPts val="200"/>
              </a:spcBef>
              <a:defRPr sz="950">
                <a:solidFill>
                  <a:srgbClr val="475569"/>
                </a:solidFill>
              </a:defRPr>
            </a:pPr>
            <a:r>
              <a:t>Cluster Archetype: Midwest Mega Transfer</a:t>
            </a:r>
          </a:p>
        </p:txBody>
      </p:sp>
      <p:sp>
        <p:nvSpPr>
          <p:cNvPr id="7" name="Rectangle 6"/>
          <p:cNvSpPr/>
          <p:nvPr/>
        </p:nvSpPr>
        <p:spPr>
          <a:xfrm>
            <a:off x="4379976" y="3246120"/>
            <a:ext cx="342900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b="1" sz="1100">
                <a:solidFill>
                  <a:srgbClr val="0A2240"/>
                </a:solidFill>
              </a:defRPr>
            </a:pPr>
            <a:r>
              <a:t>EWR  ·  Newark Liberty</a:t>
            </a:r>
          </a:p>
          <a:p>
            <a:pPr>
              <a:spcBef>
                <a:spcPts val="200"/>
              </a:spcBef>
              <a:defRPr b="1" sz="1000">
                <a:solidFill>
                  <a:srgbClr val="2563EB"/>
                </a:solidFill>
              </a:defRPr>
            </a:pPr>
            <a:r>
              <a:t>United Terminal C</a:t>
            </a:r>
          </a:p>
          <a:p>
            <a:pPr>
              <a:spcBef>
                <a:spcPts val="200"/>
              </a:spcBef>
              <a:defRPr sz="950">
                <a:solidFill>
                  <a:srgbClr val="475569"/>
                </a:solidFill>
              </a:defRPr>
            </a:pPr>
            <a:r>
              <a:t>Cluster Archetype: Congested Metro Hub</a:t>
            </a:r>
          </a:p>
        </p:txBody>
      </p:sp>
      <p:sp>
        <p:nvSpPr>
          <p:cNvPr id="8" name="Rectangle 7"/>
          <p:cNvSpPr/>
          <p:nvPr/>
        </p:nvSpPr>
        <p:spPr>
          <a:xfrm>
            <a:off x="8028432" y="3246120"/>
            <a:ext cx="342900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b="1" sz="1100">
                <a:solidFill>
                  <a:srgbClr val="0A2240"/>
                </a:solidFill>
              </a:defRPr>
            </a:pPr>
            <a:r>
              <a:t>LAX  ·  Los Angeles International</a:t>
            </a:r>
          </a:p>
          <a:p>
            <a:pPr>
              <a:spcBef>
                <a:spcPts val="200"/>
              </a:spcBef>
              <a:defRPr b="1" sz="1000">
                <a:solidFill>
                  <a:srgbClr val="2563EB"/>
                </a:solidFill>
              </a:defRPr>
            </a:pPr>
            <a:r>
              <a:t>Delta 3 · AA 4 · United 7</a:t>
            </a:r>
          </a:p>
          <a:p>
            <a:pPr>
              <a:spcBef>
                <a:spcPts val="200"/>
              </a:spcBef>
              <a:defRPr sz="950">
                <a:solidFill>
                  <a:srgbClr val="475569"/>
                </a:solidFill>
              </a:defRPr>
            </a:pPr>
            <a:r>
              <a:t>Cluster Archetype: West Coast Gateway</a:t>
            </a:r>
          </a:p>
        </p:txBody>
      </p:sp>
      <p:sp>
        <p:nvSpPr>
          <p:cNvPr id="9" name="Rectangle 8"/>
          <p:cNvSpPr/>
          <p:nvPr/>
        </p:nvSpPr>
        <p:spPr>
          <a:xfrm>
            <a:off x="731520" y="4800600"/>
            <a:ext cx="342900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b="1" sz="1100">
                <a:solidFill>
                  <a:srgbClr val="0A2240"/>
                </a:solidFill>
              </a:defRPr>
            </a:pPr>
            <a:r>
              <a:t>LGA  ·  New York LaGuardia</a:t>
            </a:r>
          </a:p>
          <a:p>
            <a:pPr>
              <a:spcBef>
                <a:spcPts val="200"/>
              </a:spcBef>
              <a:defRPr b="1" sz="1000">
                <a:solidFill>
                  <a:srgbClr val="2563EB"/>
                </a:solidFill>
              </a:defRPr>
            </a:pPr>
            <a:r>
              <a:t>Delta Terminal C</a:t>
            </a:r>
          </a:p>
          <a:p>
            <a:pPr>
              <a:spcBef>
                <a:spcPts val="200"/>
              </a:spcBef>
              <a:defRPr sz="950">
                <a:solidFill>
                  <a:srgbClr val="475569"/>
                </a:solidFill>
              </a:defRPr>
            </a:pPr>
            <a:r>
              <a:t>Cluster Archetype: High-Frequency Business</a:t>
            </a:r>
          </a:p>
        </p:txBody>
      </p:sp>
      <p:sp>
        <p:nvSpPr>
          <p:cNvPr id="10" name="Rectangle 9"/>
          <p:cNvSpPr/>
          <p:nvPr/>
        </p:nvSpPr>
        <p:spPr>
          <a:xfrm>
            <a:off x="4379976" y="4800600"/>
            <a:ext cx="342900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b="1" sz="1100">
                <a:solidFill>
                  <a:srgbClr val="0A2240"/>
                </a:solidFill>
              </a:defRPr>
            </a:pPr>
            <a:r>
              <a:t>ORD  ·  Chicago O'Hare</a:t>
            </a:r>
          </a:p>
          <a:p>
            <a:pPr>
              <a:spcBef>
                <a:spcPts val="200"/>
              </a:spcBef>
              <a:defRPr b="1" sz="1000">
                <a:solidFill>
                  <a:srgbClr val="2563EB"/>
                </a:solidFill>
              </a:defRPr>
            </a:pPr>
            <a:r>
              <a:t>United T1  ·  American T3</a:t>
            </a:r>
          </a:p>
          <a:p>
            <a:pPr>
              <a:spcBef>
                <a:spcPts val="200"/>
              </a:spcBef>
              <a:defRPr sz="950">
                <a:solidFill>
                  <a:srgbClr val="475569"/>
                </a:solidFill>
              </a:defRPr>
            </a:pPr>
            <a:r>
              <a:t>Cluster Archetype: Dual-Hub Pressure Center</a:t>
            </a:r>
          </a:p>
        </p:txBody>
      </p:sp>
      <p:sp>
        <p:nvSpPr>
          <p:cNvPr id="11" name="Rectangle 10"/>
          <p:cNvSpPr/>
          <p:nvPr/>
        </p:nvSpPr>
        <p:spPr>
          <a:xfrm>
            <a:off x="8028432" y="4800600"/>
            <a:ext cx="342900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b="1" sz="1100">
                <a:solidFill>
                  <a:srgbClr val="0A2240"/>
                </a:solidFill>
              </a:defRPr>
            </a:pPr>
            <a:r>
              <a:t>PHL  ·  Philadelphia International</a:t>
            </a:r>
          </a:p>
          <a:p>
            <a:pPr>
              <a:spcBef>
                <a:spcPts val="200"/>
              </a:spcBef>
              <a:defRPr b="1" sz="1000">
                <a:solidFill>
                  <a:srgbClr val="2563EB"/>
                </a:solidFill>
              </a:defRPr>
            </a:pPr>
            <a:r>
              <a:t>American Terminals B/C</a:t>
            </a:r>
          </a:p>
          <a:p>
            <a:pPr>
              <a:spcBef>
                <a:spcPts val="200"/>
              </a:spcBef>
              <a:defRPr sz="950">
                <a:solidFill>
                  <a:srgbClr val="475569"/>
                </a:solidFill>
              </a:defRPr>
            </a:pPr>
            <a:r>
              <a:t>Cluster Archetype: Mid-Atlantic Hub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MACRO REGIMES</a:t>
            </a:r>
          </a:p>
          <a:p>
            <a:pPr>
              <a:spcBef>
                <a:spcPts val="300"/>
              </a:spcBef>
              <a:defRPr sz="2200" b="1">
                <a:solidFill>
                  <a:srgbClr val="0A2240"/>
                </a:solidFill>
                <a:latin typeface="Calibri"/>
              </a:defRPr>
            </a:pPr>
            <a:r>
              <a:t>Annual Seasonal Volatility Regimes</a:t>
            </a:r>
          </a:p>
          <a:p>
            <a:pPr>
              <a:spcBef>
                <a:spcPts val="200"/>
              </a:spcBef>
              <a:defRPr sz="1200">
                <a:solidFill>
                  <a:srgbClr val="475569"/>
                </a:solidFill>
                <a:latin typeface="Calibri"/>
              </a:defRPr>
            </a:pPr>
            <a:r>
              <a:t>Macro Travel Fluctuations and Convective Weather Disruptions (Table 4.3b)</a:t>
            </a:r>
          </a:p>
        </p:txBody>
      </p:sp>
      <p:sp>
        <p:nvSpPr>
          <p:cNvPr id="3" name="Rectangle 2"/>
          <p:cNvSpPr/>
          <p:nvPr/>
        </p:nvSpPr>
        <p:spPr>
          <a:xfrm>
            <a:off x="731520"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100">
                <a:solidFill>
                  <a:srgbClr val="0A2240"/>
                </a:solidFill>
              </a:defRPr>
            </a:pPr>
            <a:r>
              <a:t>OFF-PEAK WINTER</a:t>
            </a:r>
          </a:p>
          <a:p>
            <a:pPr>
              <a:spcBef>
                <a:spcPts val="200"/>
              </a:spcBef>
              <a:defRPr b="1" sz="950">
                <a:solidFill>
                  <a:srgbClr val="2563EB"/>
                </a:solidFill>
              </a:defRPr>
            </a:pPr>
            <a:r>
              <a:t>Weeks 1–8, 45–46</a:t>
            </a:r>
          </a:p>
          <a:p>
            <a:pPr>
              <a:spcBef>
                <a:spcPts val="1000"/>
              </a:spcBef>
              <a:defRPr sz="1000">
                <a:solidFill>
                  <a:srgbClr val="0F172A"/>
                </a:solidFill>
              </a:defRPr>
            </a:pPr>
            <a:r>
              <a:t>Lowest passenger throughput and baseline delay dispersion. High schedule adherence; ideal for baseline model calibration.</a:t>
            </a:r>
          </a:p>
        </p:txBody>
      </p:sp>
      <p:sp>
        <p:nvSpPr>
          <p:cNvPr id="4" name="Rectangle 3"/>
          <p:cNvSpPr/>
          <p:nvPr/>
        </p:nvSpPr>
        <p:spPr>
          <a:xfrm>
            <a:off x="3456432"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100">
                <a:solidFill>
                  <a:srgbClr val="0A2240"/>
                </a:solidFill>
              </a:defRPr>
            </a:pPr>
            <a:r>
              <a:t>MID-PEAK SPRING</a:t>
            </a:r>
          </a:p>
          <a:p>
            <a:pPr>
              <a:spcBef>
                <a:spcPts val="200"/>
              </a:spcBef>
              <a:defRPr b="1" sz="950">
                <a:solidFill>
                  <a:srgbClr val="2563EB"/>
                </a:solidFill>
              </a:defRPr>
            </a:pPr>
            <a:r>
              <a:t>Weeks 9–21, 36–44</a:t>
            </a:r>
          </a:p>
          <a:p>
            <a:pPr>
              <a:spcBef>
                <a:spcPts val="1000"/>
              </a:spcBef>
              <a:defRPr sz="1000">
                <a:solidFill>
                  <a:srgbClr val="0F172A"/>
                </a:solidFill>
              </a:defRPr>
            </a:pPr>
            <a:r>
              <a:t>Elevated business travel with tight morning and evening flight banks. Moderate delays; balanced operational tempo.</a:t>
            </a:r>
          </a:p>
        </p:txBody>
      </p:sp>
      <p:sp>
        <p:nvSpPr>
          <p:cNvPr id="5" name="Rectangle 4"/>
          <p:cNvSpPr/>
          <p:nvPr/>
        </p:nvSpPr>
        <p:spPr>
          <a:xfrm>
            <a:off x="6181344"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100">
                <a:solidFill>
                  <a:srgbClr val="0A2240"/>
                </a:solidFill>
              </a:defRPr>
            </a:pPr>
            <a:r>
              <a:t>SUMMER CONVECTIVE</a:t>
            </a:r>
          </a:p>
          <a:p>
            <a:pPr>
              <a:spcBef>
                <a:spcPts val="200"/>
              </a:spcBef>
              <a:defRPr b="1" sz="950">
                <a:solidFill>
                  <a:srgbClr val="2563EB"/>
                </a:solidFill>
              </a:defRPr>
            </a:pPr>
            <a:r>
              <a:t>Weeks 22–35 (PEAK SHOCK)</a:t>
            </a:r>
          </a:p>
          <a:p>
            <a:pPr>
              <a:spcBef>
                <a:spcPts val="1000"/>
              </a:spcBef>
              <a:defRPr sz="1000">
                <a:solidFill>
                  <a:srgbClr val="0F172A"/>
                </a:solidFill>
              </a:defRPr>
            </a:pPr>
            <a:r>
              <a:t>Highest delay dispersion (σ_delay = 68.4m) and peak arrival volatility (CV_TSA). Severe thunderstorms induce major ground stops and delay cascades.</a:t>
            </a:r>
          </a:p>
        </p:txBody>
      </p:sp>
      <p:sp>
        <p:nvSpPr>
          <p:cNvPr id="6" name="Rectangle 5"/>
          <p:cNvSpPr/>
          <p:nvPr/>
        </p:nvSpPr>
        <p:spPr>
          <a:xfrm>
            <a:off x="8906256" y="1691640"/>
            <a:ext cx="2542032"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b="1" sz="1100">
                <a:solidFill>
                  <a:srgbClr val="0A2240"/>
                </a:solidFill>
              </a:defRPr>
            </a:pPr>
            <a:r>
              <a:t>HOLIDAY TRAVEL PEAKS</a:t>
            </a:r>
          </a:p>
          <a:p>
            <a:pPr>
              <a:spcBef>
                <a:spcPts val="200"/>
              </a:spcBef>
              <a:defRPr b="1" sz="950">
                <a:solidFill>
                  <a:srgbClr val="2563EB"/>
                </a:solidFill>
              </a:defRPr>
            </a:pPr>
            <a:r>
              <a:t>Weeks 47–52</a:t>
            </a:r>
          </a:p>
          <a:p>
            <a:pPr>
              <a:spcBef>
                <a:spcPts val="1000"/>
              </a:spcBef>
              <a:defRPr sz="1000">
                <a:solidFill>
                  <a:srgbClr val="0F172A"/>
                </a:solidFill>
              </a:defRPr>
            </a:pPr>
            <a:r>
              <a:t>Maximum passenger headcounts driven by leisure and family travelers. Heavy luggage divestment and non-consecutive passenger volume surges.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DIURNAL &amp; DOW CYCLES</a:t>
            </a:r>
          </a:p>
          <a:p>
            <a:pPr>
              <a:spcBef>
                <a:spcPts val="300"/>
              </a:spcBef>
              <a:defRPr sz="2200" b="1">
                <a:solidFill>
                  <a:srgbClr val="0A2240"/>
                </a:solidFill>
                <a:latin typeface="Calibri"/>
              </a:defRPr>
            </a:pPr>
            <a:r>
              <a:t>Day-of-Week Volatility &amp; Bimodal Diurnal Peaks</a:t>
            </a:r>
          </a:p>
          <a:p>
            <a:pPr>
              <a:spcBef>
                <a:spcPts val="200"/>
              </a:spcBef>
              <a:defRPr sz="1200">
                <a:solidFill>
                  <a:srgbClr val="475569"/>
                </a:solidFill>
                <a:latin typeface="Calibri"/>
              </a:defRPr>
            </a:pPr>
            <a:r>
              <a:t>Temporal Asynchrony Between Passenger Screening and Aircraft Delays</a:t>
            </a:r>
          </a:p>
        </p:txBody>
      </p:sp>
      <p:sp>
        <p:nvSpPr>
          <p:cNvPr id="3" name="Rectangle 2"/>
          <p:cNvSpPr/>
          <p:nvPr/>
        </p:nvSpPr>
        <p:spPr>
          <a:xfrm>
            <a:off x="731520" y="1691640"/>
            <a:ext cx="521208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b="1" sz="1100">
                <a:solidFill>
                  <a:srgbClr val="2563EB"/>
                </a:solidFill>
              </a:defRPr>
            </a:pPr>
            <a:r>
              <a:t>DAY-OF-WEEK OPERATIONAL ARCHETYPES</a:t>
            </a:r>
          </a:p>
          <a:p>
            <a:pPr>
              <a:spcBef>
                <a:spcPts val="400"/>
              </a:spcBef>
              <a:defRPr b="1" sz="1400">
                <a:solidFill>
                  <a:srgbClr val="0A2240"/>
                </a:solidFill>
              </a:defRPr>
            </a:pPr>
            <a:r>
              <a:t>Contrasting Monday vs. Sunday Rhythms</a:t>
            </a:r>
          </a:p>
          <a:p>
            <a:pPr>
              <a:spcBef>
                <a:spcPts val="800"/>
              </a:spcBef>
              <a:defRPr b="1" sz="1050">
                <a:solidFill>
                  <a:srgbClr val="0F172A"/>
                </a:solidFill>
              </a:defRPr>
            </a:pPr>
            <a:r>
              <a:t>•  Monday Morning (Outbound Business Surge)</a:t>
            </a:r>
          </a:p>
          <a:p>
            <a:pPr>
              <a:spcBef>
                <a:spcPts val="200"/>
              </a:spcBef>
              <a:defRPr sz="950">
                <a:solidFill>
                  <a:srgbClr val="475569"/>
                </a:solidFill>
              </a:defRPr>
            </a:pPr>
            <a:r>
              <a:t>Screening checkpoints experience peak weekly throughput between 05:00 and 08:00. High business traveler PreCheck adoption; flight departure delays remain minimal (on-time rate &gt; 88%).</a:t>
            </a:r>
          </a:p>
          <a:p>
            <a:pPr>
              <a:spcBef>
                <a:spcPts val="800"/>
              </a:spcBef>
              <a:defRPr b="1" sz="1050">
                <a:solidFill>
                  <a:srgbClr val="0F172A"/>
                </a:solidFill>
              </a:defRPr>
            </a:pPr>
            <a:r>
              <a:t>•  Sunday Evening (Inbound Leisure &amp; Turnaround Cascades)</a:t>
            </a:r>
          </a:p>
          <a:p>
            <a:pPr>
              <a:spcBef>
                <a:spcPts val="200"/>
              </a:spcBef>
              <a:defRPr sz="950">
                <a:solidFill>
                  <a:srgbClr val="475569"/>
                </a:solidFill>
              </a:defRPr>
            </a:pPr>
            <a:r>
              <a:t>Screening volume peaks between 15:00 and 19:00. Cumulative air traffic delay ripples expand departure delay standard deviation by +35% compared to weekday mornings.</a:t>
            </a:r>
          </a:p>
          <a:p>
            <a:pPr>
              <a:spcBef>
                <a:spcPts val="800"/>
              </a:spcBef>
              <a:defRPr b="1" sz="1050">
                <a:solidFill>
                  <a:srgbClr val="0F172A"/>
                </a:solidFill>
              </a:defRPr>
            </a:pPr>
            <a:r>
              <a:t>•  Mid-Week Equilibrium (Tuesday–Thursday)</a:t>
            </a:r>
          </a:p>
          <a:p>
            <a:pPr>
              <a:spcBef>
                <a:spcPts val="200"/>
              </a:spcBef>
              <a:defRPr sz="950">
                <a:solidFill>
                  <a:srgbClr val="475569"/>
                </a:solidFill>
              </a:defRPr>
            </a:pPr>
            <a:r>
              <a:t>Predictable corporate travel rhythm with highly stable diurnal arrival waves; serves as the baseline calibration control.</a:t>
            </a:r>
          </a:p>
        </p:txBody>
      </p:sp>
      <p:sp>
        <p:nvSpPr>
          <p:cNvPr id="4" name="Rectangle 3"/>
          <p:cNvSpPr/>
          <p:nvPr/>
        </p:nvSpPr>
        <p:spPr>
          <a:xfrm>
            <a:off x="6217920" y="1691640"/>
            <a:ext cx="5242255"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b="1" sz="1100">
                <a:solidFill>
                  <a:srgbClr val="166534"/>
                </a:solidFill>
              </a:defRPr>
            </a:pPr>
            <a:r>
              <a:t>BIMODAL DIURNAL ASYNCHRONY</a:t>
            </a:r>
          </a:p>
          <a:p>
            <a:pPr>
              <a:spcBef>
                <a:spcPts val="400"/>
              </a:spcBef>
              <a:defRPr b="1" sz="1400">
                <a:solidFill>
                  <a:srgbClr val="0A2240"/>
                </a:solidFill>
              </a:defRPr>
            </a:pPr>
            <a:r>
              <a:t>The Airside-Landside Operational Disconnect</a:t>
            </a:r>
          </a:p>
          <a:p>
            <a:pPr>
              <a:spcBef>
                <a:spcPts val="800"/>
              </a:spcBef>
              <a:defRPr b="1" sz="1050">
                <a:solidFill>
                  <a:srgbClr val="0F172A"/>
                </a:solidFill>
              </a:defRPr>
            </a:pPr>
            <a:r>
              <a:t>•  Morning Wave (05:00 – 08:00)</a:t>
            </a:r>
          </a:p>
          <a:p>
            <a:pPr>
              <a:spcBef>
                <a:spcPts val="200"/>
              </a:spcBef>
              <a:defRPr sz="950">
                <a:solidFill>
                  <a:srgbClr val="475569"/>
                </a:solidFill>
              </a:defRPr>
            </a:pPr>
            <a:r>
              <a:t>Peak screening surge: throughput reaches 11,380 pax/hr across major complexes. Flight departures operate on-time; airport queuing friction is purely driven by passenger arrival burstiness.</a:t>
            </a:r>
          </a:p>
          <a:p>
            <a:pPr>
              <a:spcBef>
                <a:spcPts val="800"/>
              </a:spcBef>
              <a:defRPr b="1" sz="1050">
                <a:solidFill>
                  <a:srgbClr val="0F172A"/>
                </a:solidFill>
              </a:defRPr>
            </a:pPr>
            <a:r>
              <a:t>•  Midday Lull (10:00 – 13:00)</a:t>
            </a:r>
          </a:p>
          <a:p>
            <a:pPr>
              <a:spcBef>
                <a:spcPts val="200"/>
              </a:spcBef>
              <a:defRPr sz="950">
                <a:solidFill>
                  <a:srgbClr val="475569"/>
                </a:solidFill>
              </a:defRPr>
            </a:pPr>
            <a:r>
              <a:t>Checkpoint throughput declines by 40–55%. Screening lanes are under-utilized while aircraft turnarounds take place on the airside.</a:t>
            </a:r>
          </a:p>
          <a:p>
            <a:pPr>
              <a:spcBef>
                <a:spcPts val="800"/>
              </a:spcBef>
              <a:defRPr b="1" sz="1050">
                <a:solidFill>
                  <a:srgbClr val="0F172A"/>
                </a:solidFill>
              </a:defRPr>
            </a:pPr>
            <a:r>
              <a:t>•  Afternoon/Evening Wave (14:00 – 22:00)</a:t>
            </a:r>
          </a:p>
          <a:p>
            <a:pPr>
              <a:spcBef>
                <a:spcPts val="200"/>
              </a:spcBef>
              <a:defRPr sz="950">
                <a:solidFill>
                  <a:srgbClr val="475569"/>
                </a:solidFill>
              </a:defRPr>
            </a:pPr>
            <a:r>
              <a:t>Secondary passenger screening surge coupled with peak airside flight delays. Convective weather cascades create severe mismatch between scheduled departures and physical checkpoint arrivals.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LEAD-LAG DYNAMICS</a:t>
            </a:r>
          </a:p>
          <a:p>
            <a:pPr>
              <a:spcBef>
                <a:spcPts val="300"/>
              </a:spcBef>
              <a:defRPr sz="2200" b="1">
                <a:solidFill>
                  <a:srgbClr val="0A2240"/>
                </a:solidFill>
                <a:latin typeface="Calibri"/>
              </a:defRPr>
            </a:pPr>
            <a:r>
              <a:t>Empirical Passenger Show-Up Curve Convolution</a:t>
            </a:r>
          </a:p>
          <a:p>
            <a:pPr>
              <a:spcBef>
                <a:spcPts val="200"/>
              </a:spcBef>
              <a:defRPr sz="1200">
                <a:solidFill>
                  <a:srgbClr val="475569"/>
                </a:solidFill>
                <a:latin typeface="Calibri"/>
              </a:defRPr>
            </a:pPr>
            <a:r>
              <a:t>Resolving the Optimal Lead Time for Checkpoint Arrival Forecasting</a:t>
            </a:r>
          </a:p>
        </p:txBody>
      </p:sp>
      <p:sp>
        <p:nvSpPr>
          <p:cNvPr id="3" name="Rectangle 2"/>
          <p:cNvSpPr/>
          <p:nvPr/>
        </p:nvSpPr>
        <p:spPr>
          <a:xfrm>
            <a:off x="731520" y="1691640"/>
            <a:ext cx="521208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bIns="137160"/>
          <a:lstStyle/>
          <a:p>
            <a:pPr algn="ctr">
              <a:defRPr sz="1000" b="1">
                <a:solidFill>
                  <a:srgbClr val="2563EB"/>
                </a:solidFill>
                <a:latin typeface="Calibri"/>
              </a:defRPr>
            </a:pPr>
            <a:r>
              <a:t>CONTEMPORANEOUS VS. 2-HOUR LEAD CORRELATION</a:t>
            </a:r>
          </a:p>
          <a:p>
            <a:pPr algn="ctr">
              <a:spcBef>
                <a:spcPts val="600"/>
              </a:spcBef>
              <a:spcAft>
                <a:spcPts val="600"/>
              </a:spcAft>
              <a:defRPr sz="1800" b="1">
                <a:solidFill>
                  <a:srgbClr val="0A2240"/>
                </a:solidFill>
                <a:latin typeface="Georgia"/>
              </a:defRPr>
            </a:pPr>
            <a:r>
              <a:t>R²( t+2 ) = 0.5347    vs.    R²( t ) = 0.1982</a:t>
            </a:r>
          </a:p>
          <a:p>
            <a:pPr algn="ctr">
              <a:spcBef>
                <a:spcPts val="200"/>
              </a:spcBef>
              <a:defRPr sz="1050">
                <a:solidFill>
                  <a:srgbClr val="475569"/>
                </a:solidFill>
                <a:latin typeface="Calibri"/>
              </a:defRPr>
            </a:pPr>
            <a:r>
              <a:t>Contemporaneous flight schedules (t) fail completely (R² &lt; 20%).</a:t>
            </a:r>
          </a:p>
          <a:p>
            <a:pPr algn="ctr">
              <a:spcBef>
                <a:spcPts val="200"/>
              </a:spcBef>
              <a:defRPr sz="1050">
                <a:solidFill>
                  <a:srgbClr val="475569"/>
                </a:solidFill>
                <a:latin typeface="Calibri"/>
              </a:defRPr>
            </a:pPr>
            <a:r>
              <a:t>Checkpoint arrivals peak at a 2-hour lead time (t+2),</a:t>
            </a:r>
          </a:p>
          <a:p>
            <a:pPr algn="ctr">
              <a:spcBef>
                <a:spcPts val="200"/>
              </a:spcBef>
              <a:defRPr sz="1050">
                <a:solidFill>
                  <a:srgbClr val="475569"/>
                </a:solidFill>
                <a:latin typeface="Calibri"/>
              </a:defRPr>
            </a:pPr>
            <a:r>
              <a:t>explaining 53.5% of variance (F = 142.80, p &lt; 0.001).</a:t>
            </a:r>
          </a:p>
          <a:p>
            <a:pPr algn="ctr">
              <a:spcBef>
                <a:spcPts val="200"/>
              </a:spcBef>
              <a:defRPr sz="1050">
                <a:solidFill>
                  <a:srgbClr val="475569"/>
                </a:solidFill>
                <a:latin typeface="Calibri"/>
              </a:defRPr>
            </a:pPr>
          </a:p>
          <a:p>
            <a:pPr algn="ctr">
              <a:spcBef>
                <a:spcPts val="200"/>
              </a:spcBef>
              <a:defRPr sz="1050">
                <a:solidFill>
                  <a:srgbClr val="475569"/>
                </a:solidFill>
                <a:latin typeface="Calibri"/>
              </a:defRPr>
            </a:pPr>
            <a:r>
              <a:t>Validates ACRP Report 40 lognormal show-up curves:</a:t>
            </a:r>
          </a:p>
          <a:p>
            <a:pPr algn="ctr">
              <a:spcBef>
                <a:spcPts val="200"/>
              </a:spcBef>
              <a:defRPr sz="1050">
                <a:solidFill>
                  <a:srgbClr val="475569"/>
                </a:solidFill>
                <a:latin typeface="Calibri"/>
              </a:defRPr>
            </a:pPr>
            <a:r>
              <a:t>Passengers arrive at security 1.5 to 2.5 hours prior to gate pushback.</a:t>
            </a:r>
          </a:p>
          <a:p>
            <a:pPr algn="ctr">
              <a:spcBef>
                <a:spcPts val="200"/>
              </a:spcBef>
              <a:defRPr sz="1050">
                <a:solidFill>
                  <a:srgbClr val="475569"/>
                </a:solidFill>
                <a:latin typeface="Calibri"/>
              </a:defRPr>
            </a:pPr>
            <a:r>
              <a:t>Forecasting models must convolve flight banks at t+2.</a:t>
            </a:r>
          </a:p>
        </p:txBody>
      </p:sp>
      <p:sp>
        <p:nvSpPr>
          <p:cNvPr id="4" name="Rectangle 3"/>
          <p:cNvSpPr/>
          <p:nvPr/>
        </p:nvSpPr>
        <p:spPr>
          <a:xfrm>
            <a:off x="6217920" y="1691640"/>
            <a:ext cx="5242255"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b="1" sz="1100">
                <a:solidFill>
                  <a:srgbClr val="2563EB"/>
                </a:solidFill>
              </a:defRPr>
            </a:pPr>
            <a:r>
              <a:t>EMPIRICAL FINDINGS: LEAD-LAG DECONVOLUTION</a:t>
            </a:r>
          </a:p>
          <a:p>
            <a:pPr>
              <a:spcBef>
                <a:spcPts val="400"/>
              </a:spcBef>
              <a:defRPr b="1" sz="1400">
                <a:solidFill>
                  <a:srgbClr val="0A2240"/>
                </a:solidFill>
              </a:defRPr>
            </a:pPr>
            <a:r>
              <a:t>Core Takeaways for Operational Planning</a:t>
            </a:r>
          </a:p>
          <a:p>
            <a:pPr>
              <a:spcBef>
                <a:spcPts val="800"/>
              </a:spcBef>
              <a:defRPr b="1" sz="1050">
                <a:solidFill>
                  <a:srgbClr val="0F172A"/>
                </a:solidFill>
              </a:defRPr>
            </a:pPr>
            <a:r>
              <a:t>•  The 2-Hour Operational Window</a:t>
            </a:r>
          </a:p>
          <a:p>
            <a:pPr>
              <a:spcBef>
                <a:spcPts val="200"/>
              </a:spcBef>
              <a:defRPr sz="950">
                <a:solidFill>
                  <a:srgbClr val="475569"/>
                </a:solidFill>
              </a:defRPr>
            </a:pPr>
            <a:r>
              <a:t>The correlation between scheduled aircraft seats and TSA checkpoint arrivals follows a steep bell curve: R²(t) = 0.1982, R²(t+1) = 0.4410, R²(t+2) = 0.5347, R²(t+3) = 0.3120.</a:t>
            </a:r>
          </a:p>
          <a:p>
            <a:pPr>
              <a:spcBef>
                <a:spcPts val="800"/>
              </a:spcBef>
              <a:defRPr b="1" sz="1050">
                <a:solidFill>
                  <a:srgbClr val="0F172A"/>
                </a:solidFill>
              </a:defRPr>
            </a:pPr>
            <a:r>
              <a:t>•  ACRP Report 40 Empirical Validation</a:t>
            </a:r>
          </a:p>
          <a:p>
            <a:pPr>
              <a:spcBef>
                <a:spcPts val="200"/>
              </a:spcBef>
              <a:defRPr sz="950">
                <a:solidFill>
                  <a:srgbClr val="475569"/>
                </a:solidFill>
              </a:defRPr>
            </a:pPr>
            <a:r>
              <a:t>Confirms the lognormal parameterization of passenger show-up curves: domestic travelers show up with median arrival lead time of 105 minutes, leisure travelers at 135 minutes.</a:t>
            </a:r>
          </a:p>
          <a:p>
            <a:pPr>
              <a:spcBef>
                <a:spcPts val="800"/>
              </a:spcBef>
              <a:defRPr b="1" sz="1050">
                <a:solidFill>
                  <a:srgbClr val="0F172A"/>
                </a:solidFill>
              </a:defRPr>
            </a:pPr>
            <a:r>
              <a:t>•  Actionable TSA Checkpoint Staffing</a:t>
            </a:r>
          </a:p>
          <a:p>
            <a:pPr>
              <a:spcBef>
                <a:spcPts val="200"/>
              </a:spcBef>
              <a:defRPr sz="950">
                <a:solidFill>
                  <a:srgbClr val="475569"/>
                </a:solidFill>
              </a:defRPr>
            </a:pPr>
            <a:r>
              <a:t>TSA shift supervisors must evaluate flight banks 2 hours ahead of departure. Convolving flight schedules at t+2 provides the optimal planning window for opening screening lanes.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MODEL BENCHMARKS</a:t>
            </a:r>
          </a:p>
          <a:p>
            <a:pPr>
              <a:spcBef>
                <a:spcPts val="300"/>
              </a:spcBef>
              <a:defRPr sz="2200" b="1">
                <a:solidFill>
                  <a:srgbClr val="0A2240"/>
                </a:solidFill>
                <a:latin typeface="Calibri"/>
              </a:defRPr>
            </a:pPr>
            <a:r>
              <a:t>Certified 2025 Out-of-Time Holdout Benchmarks</a:t>
            </a:r>
          </a:p>
          <a:p>
            <a:pPr>
              <a:spcBef>
                <a:spcPts val="200"/>
              </a:spcBef>
              <a:defRPr sz="1200">
                <a:solidFill>
                  <a:srgbClr val="475569"/>
                </a:solidFill>
                <a:latin typeface="Calibri"/>
              </a:defRPr>
            </a:pPr>
            <a:r>
              <a:t>Rigorous Evaluation Across Full Holdout Period (Table 4.10)</a:t>
            </a:r>
          </a:p>
        </p:txBody>
      </p:sp>
      <p:graphicFrame>
        <p:nvGraphicFramePr>
          <p:cNvPr id="3" name="Table 2"/>
          <p:cNvGraphicFramePr>
            <a:graphicFrameLocks noGrp="1"/>
          </p:cNvGraphicFramePr>
          <p:nvPr/>
        </p:nvGraphicFramePr>
        <p:xfrm>
          <a:off x="731520" y="1691640"/>
          <a:ext cx="10728655" cy="3291840"/>
        </p:xfrm>
        <a:graphic>
          <a:graphicData uri="http://schemas.openxmlformats.org/drawingml/2006/table">
            <a:tbl>
              <a:tblPr firstRow="1" bandRow="1">
                <a:tableStyleId>{5C22544A-7EE6-4342-B048-85BDC9FD1C3A}</a:tableStyleId>
              </a:tblPr>
              <a:tblGrid>
                <a:gridCol w="1645920"/>
                <a:gridCol w="2103120"/>
                <a:gridCol w="1005840"/>
                <a:gridCol w="1188720"/>
                <a:gridCol w="1188720"/>
                <a:gridCol w="1005840"/>
                <a:gridCol w="1097280"/>
                <a:gridCol w="1493215"/>
              </a:tblGrid>
              <a:tr h="658368">
                <a:tc>
                  <a:txBody>
                    <a:bodyPr/>
                    <a:lstStyle/>
                    <a:p>
                      <a:pPr algn="l">
                        <a:defRPr sz="1100" b="1">
                          <a:solidFill>
                            <a:srgbClr val="FFFFFF"/>
                          </a:solidFill>
                          <a:latin typeface="Calibri"/>
                        </a:defRPr>
                      </a:pPr>
                      <a:r>
                        <a:t>Paradigm</a:t>
                      </a:r>
                    </a:p>
                  </a:txBody>
                  <a:tcPr>
                    <a:solidFill>
                      <a:srgbClr val="0A2240"/>
                    </a:solidFill>
                  </a:tcPr>
                </a:tc>
                <a:tc>
                  <a:txBody>
                    <a:bodyPr/>
                    <a:lstStyle/>
                    <a:p>
                      <a:pPr algn="l">
                        <a:defRPr sz="1100" b="1">
                          <a:solidFill>
                            <a:srgbClr val="FFFFFF"/>
                          </a:solidFill>
                          <a:latin typeface="Calibri"/>
                        </a:defRPr>
                      </a:pPr>
                      <a:r>
                        <a:t>Model Name</a:t>
                      </a:r>
                    </a:p>
                  </a:txBody>
                  <a:tcPr>
                    <a:solidFill>
                      <a:srgbClr val="0A2240"/>
                    </a:solidFill>
                  </a:tcPr>
                </a:tc>
                <a:tc>
                  <a:txBody>
                    <a:bodyPr/>
                    <a:lstStyle/>
                    <a:p>
                      <a:pPr algn="ctr">
                        <a:defRPr sz="1100" b="1">
                          <a:solidFill>
                            <a:srgbClr val="FFFFFF"/>
                          </a:solidFill>
                          <a:latin typeface="Calibri"/>
                        </a:defRPr>
                      </a:pPr>
                      <a:r>
                        <a:t>Test R²</a:t>
                      </a:r>
                    </a:p>
                  </a:txBody>
                  <a:tcPr>
                    <a:solidFill>
                      <a:srgbClr val="0A2240"/>
                    </a:solidFill>
                  </a:tcPr>
                </a:tc>
                <a:tc>
                  <a:txBody>
                    <a:bodyPr/>
                    <a:lstStyle/>
                    <a:p>
                      <a:pPr algn="ctr">
                        <a:defRPr sz="1100" b="1">
                          <a:solidFill>
                            <a:srgbClr val="FFFFFF"/>
                          </a:solidFill>
                          <a:latin typeface="Calibri"/>
                        </a:defRPr>
                      </a:pPr>
                      <a:r>
                        <a:t>RMSE (pax/h)</a:t>
                      </a:r>
                    </a:p>
                  </a:txBody>
                  <a:tcPr>
                    <a:solidFill>
                      <a:srgbClr val="0A2240"/>
                    </a:solidFill>
                  </a:tcPr>
                </a:tc>
                <a:tc>
                  <a:txBody>
                    <a:bodyPr/>
                    <a:lstStyle/>
                    <a:p>
                      <a:pPr algn="ctr">
                        <a:defRPr sz="1100" b="1">
                          <a:solidFill>
                            <a:srgbClr val="FFFFFF"/>
                          </a:solidFill>
                          <a:latin typeface="Calibri"/>
                        </a:defRPr>
                      </a:pPr>
                      <a:r>
                        <a:t>MAE (pax/h)</a:t>
                      </a:r>
                    </a:p>
                  </a:txBody>
                  <a:tcPr>
                    <a:solidFill>
                      <a:srgbClr val="0A2240"/>
                    </a:solidFill>
                  </a:tcPr>
                </a:tc>
                <a:tc>
                  <a:txBody>
                    <a:bodyPr/>
                    <a:lstStyle/>
                    <a:p>
                      <a:pPr algn="ctr">
                        <a:defRPr sz="1100" b="1">
                          <a:solidFill>
                            <a:srgbClr val="FFFFFF"/>
                          </a:solidFill>
                          <a:latin typeface="Calibri"/>
                        </a:defRPr>
                      </a:pPr>
                      <a:r>
                        <a:t>Test MASE</a:t>
                      </a:r>
                    </a:p>
                  </a:txBody>
                  <a:tcPr>
                    <a:solidFill>
                      <a:srgbClr val="0A2240"/>
                    </a:solidFill>
                  </a:tcPr>
                </a:tc>
                <a:tc>
                  <a:txBody>
                    <a:bodyPr/>
                    <a:lstStyle/>
                    <a:p>
                      <a:pPr algn="ctr">
                        <a:defRPr sz="1100" b="1">
                          <a:solidFill>
                            <a:srgbClr val="FFFFFF"/>
                          </a:solidFill>
                          <a:latin typeface="Calibri"/>
                        </a:defRPr>
                      </a:pPr>
                      <a:r>
                        <a:t>Bias</a:t>
                      </a:r>
                    </a:p>
                  </a:txBody>
                  <a:tcPr>
                    <a:solidFill>
                      <a:srgbClr val="0A2240"/>
                    </a:solidFill>
                  </a:tcPr>
                </a:tc>
                <a:tc>
                  <a:txBody>
                    <a:bodyPr/>
                    <a:lstStyle/>
                    <a:p>
                      <a:pPr algn="ctr">
                        <a:defRPr sz="1100" b="1">
                          <a:solidFill>
                            <a:srgbClr val="FFFFFF"/>
                          </a:solidFill>
                          <a:latin typeface="Calibri"/>
                        </a:defRPr>
                      </a:pPr>
                      <a:r>
                        <a:t>Target Status</a:t>
                      </a:r>
                    </a:p>
                  </a:txBody>
                  <a:tcPr>
                    <a:solidFill>
                      <a:srgbClr val="0A2240"/>
                    </a:solidFill>
                  </a:tcPr>
                </a:tc>
              </a:tr>
              <a:tr h="658368">
                <a:tc>
                  <a:txBody>
                    <a:bodyPr/>
                    <a:lstStyle/>
                    <a:p>
                      <a:pPr algn="l">
                        <a:defRPr sz="1050" b="1">
                          <a:solidFill>
                            <a:srgbClr val="0F172A"/>
                          </a:solidFill>
                          <a:latin typeface="Calibri"/>
                        </a:defRPr>
                      </a:pPr>
                      <a:r>
                        <a:t>Baseline Control</a:t>
                      </a:r>
                    </a:p>
                  </a:txBody>
                  <a:tcPr>
                    <a:solidFill>
                      <a:srgbClr val="FFFFFF"/>
                    </a:solidFill>
                  </a:tcPr>
                </a:tc>
                <a:tc>
                  <a:txBody>
                    <a:bodyPr/>
                    <a:lstStyle/>
                    <a:p>
                      <a:pPr algn="l">
                        <a:defRPr sz="1050" b="0">
                          <a:solidFill>
                            <a:srgbClr val="0F172A"/>
                          </a:solidFill>
                          <a:latin typeface="Calibri"/>
                        </a:defRPr>
                      </a:pPr>
                      <a:r>
                        <a:t>Daily Persistence (t-24)</a:t>
                      </a:r>
                    </a:p>
                  </a:txBody>
                  <a:tcPr>
                    <a:solidFill>
                      <a:srgbClr val="FFFFFF"/>
                    </a:solidFill>
                  </a:tcPr>
                </a:tc>
                <a:tc>
                  <a:txBody>
                    <a:bodyPr/>
                    <a:lstStyle/>
                    <a:p>
                      <a:pPr algn="ctr">
                        <a:defRPr sz="1050" b="0">
                          <a:solidFill>
                            <a:srgbClr val="0F172A"/>
                          </a:solidFill>
                          <a:latin typeface="Calibri"/>
                        </a:defRPr>
                      </a:pPr>
                      <a:r>
                        <a:t>0.6719</a:t>
                      </a:r>
                    </a:p>
                  </a:txBody>
                  <a:tcPr>
                    <a:solidFill>
                      <a:srgbClr val="FFFFFF"/>
                    </a:solidFill>
                  </a:tcPr>
                </a:tc>
                <a:tc>
                  <a:txBody>
                    <a:bodyPr/>
                    <a:lstStyle/>
                    <a:p>
                      <a:pPr algn="ctr">
                        <a:defRPr sz="1050" b="0">
                          <a:solidFill>
                            <a:srgbClr val="0F172A"/>
                          </a:solidFill>
                          <a:latin typeface="Calibri"/>
                        </a:defRPr>
                      </a:pPr>
                      <a:r>
                        <a:t>253.6</a:t>
                      </a:r>
                    </a:p>
                  </a:txBody>
                  <a:tcPr>
                    <a:solidFill>
                      <a:srgbClr val="FFFFFF"/>
                    </a:solidFill>
                  </a:tcPr>
                </a:tc>
                <a:tc>
                  <a:txBody>
                    <a:bodyPr/>
                    <a:lstStyle/>
                    <a:p>
                      <a:pPr algn="ctr">
                        <a:defRPr sz="1050" b="0">
                          <a:solidFill>
                            <a:srgbClr val="0F172A"/>
                          </a:solidFill>
                          <a:latin typeface="Calibri"/>
                        </a:defRPr>
                      </a:pPr>
                      <a:r>
                        <a:t>179.3</a:t>
                      </a:r>
                    </a:p>
                  </a:txBody>
                  <a:tcPr>
                    <a:solidFill>
                      <a:srgbClr val="FFFFFF"/>
                    </a:solidFill>
                  </a:tcPr>
                </a:tc>
                <a:tc>
                  <a:txBody>
                    <a:bodyPr/>
                    <a:lstStyle/>
                    <a:p>
                      <a:pPr algn="ctr">
                        <a:defRPr sz="1050" b="0">
                          <a:solidFill>
                            <a:srgbClr val="0F172A"/>
                          </a:solidFill>
                          <a:latin typeface="Calibri"/>
                        </a:defRPr>
                      </a:pPr>
                      <a:r>
                        <a:t>1.000</a:t>
                      </a:r>
                    </a:p>
                  </a:txBody>
                  <a:tcPr>
                    <a:solidFill>
                      <a:srgbClr val="FFFFFF"/>
                    </a:solidFill>
                  </a:tcPr>
                </a:tc>
                <a:tc>
                  <a:txBody>
                    <a:bodyPr/>
                    <a:lstStyle/>
                    <a:p>
                      <a:pPr algn="ctr">
                        <a:defRPr sz="1050" b="0">
                          <a:solidFill>
                            <a:srgbClr val="0F172A"/>
                          </a:solidFill>
                          <a:latin typeface="Calibri"/>
                        </a:defRPr>
                      </a:pPr>
                      <a:r>
                        <a:t>-0.7</a:t>
                      </a:r>
                    </a:p>
                  </a:txBody>
                  <a:tcPr>
                    <a:solidFill>
                      <a:srgbClr val="FFFFFF"/>
                    </a:solidFill>
                  </a:tcPr>
                </a:tc>
                <a:tc>
                  <a:txBody>
                    <a:bodyPr/>
                    <a:lstStyle/>
                    <a:p>
                      <a:pPr algn="ctr">
                        <a:defRPr sz="1050" b="0">
                          <a:solidFill>
                            <a:srgbClr val="0F172A"/>
                          </a:solidFill>
                          <a:latin typeface="Calibri"/>
                        </a:defRPr>
                      </a:pPr>
                      <a:r>
                        <a:t>Empirical Baseline</a:t>
                      </a:r>
                    </a:p>
                  </a:txBody>
                  <a:tcPr>
                    <a:solidFill>
                      <a:srgbClr val="FFFFFF"/>
                    </a:solidFill>
                  </a:tcPr>
                </a:tc>
              </a:tr>
              <a:tr h="658368">
                <a:tc>
                  <a:txBody>
                    <a:bodyPr/>
                    <a:lstStyle/>
                    <a:p>
                      <a:pPr algn="l">
                        <a:defRPr sz="1050" b="1">
                          <a:solidFill>
                            <a:srgbClr val="0F172A"/>
                          </a:solidFill>
                          <a:latin typeface="Calibri"/>
                        </a:defRPr>
                      </a:pPr>
                      <a:r>
                        <a:t>Model 1</a:t>
                      </a:r>
                    </a:p>
                  </a:txBody>
                  <a:tcPr>
                    <a:solidFill>
                      <a:srgbClr val="F8FAFC"/>
                    </a:solidFill>
                  </a:tcPr>
                </a:tc>
                <a:tc>
                  <a:txBody>
                    <a:bodyPr/>
                    <a:lstStyle/>
                    <a:p>
                      <a:pPr algn="l">
                        <a:defRPr sz="1050" b="0">
                          <a:solidFill>
                            <a:srgbClr val="0F172A"/>
                          </a:solidFill>
                          <a:latin typeface="Calibri"/>
                        </a:defRPr>
                      </a:pPr>
                      <a:r>
                        <a:t>Deterministic Schedule</a:t>
                      </a:r>
                    </a:p>
                  </a:txBody>
                  <a:tcPr>
                    <a:solidFill>
                      <a:srgbClr val="F8FAFC"/>
                    </a:solidFill>
                  </a:tcPr>
                </a:tc>
                <a:tc>
                  <a:txBody>
                    <a:bodyPr/>
                    <a:lstStyle/>
                    <a:p>
                      <a:pPr algn="ctr">
                        <a:defRPr sz="1050" b="0">
                          <a:solidFill>
                            <a:srgbClr val="0F172A"/>
                          </a:solidFill>
                          <a:latin typeface="Calibri"/>
                        </a:defRPr>
                      </a:pPr>
                      <a:r>
                        <a:t>0.4980</a:t>
                      </a:r>
                    </a:p>
                  </a:txBody>
                  <a:tcPr>
                    <a:solidFill>
                      <a:srgbClr val="F8FAFC"/>
                    </a:solidFill>
                  </a:tcPr>
                </a:tc>
                <a:tc>
                  <a:txBody>
                    <a:bodyPr/>
                    <a:lstStyle/>
                    <a:p>
                      <a:pPr algn="ctr">
                        <a:defRPr sz="1050" b="0">
                          <a:solidFill>
                            <a:srgbClr val="0F172A"/>
                          </a:solidFill>
                          <a:latin typeface="Calibri"/>
                        </a:defRPr>
                      </a:pPr>
                      <a:r>
                        <a:t>313.4</a:t>
                      </a:r>
                    </a:p>
                  </a:txBody>
                  <a:tcPr>
                    <a:solidFill>
                      <a:srgbClr val="F8FAFC"/>
                    </a:solidFill>
                  </a:tcPr>
                </a:tc>
                <a:tc>
                  <a:txBody>
                    <a:bodyPr/>
                    <a:lstStyle/>
                    <a:p>
                      <a:pPr algn="ctr">
                        <a:defRPr sz="1050" b="0">
                          <a:solidFill>
                            <a:srgbClr val="0F172A"/>
                          </a:solidFill>
                          <a:latin typeface="Calibri"/>
                        </a:defRPr>
                      </a:pPr>
                      <a:r>
                        <a:t>215.9</a:t>
                      </a:r>
                    </a:p>
                  </a:txBody>
                  <a:tcPr>
                    <a:solidFill>
                      <a:srgbClr val="F8FAFC"/>
                    </a:solidFill>
                  </a:tcPr>
                </a:tc>
                <a:tc>
                  <a:txBody>
                    <a:bodyPr/>
                    <a:lstStyle/>
                    <a:p>
                      <a:pPr algn="ctr">
                        <a:defRPr sz="1050" b="0">
                          <a:solidFill>
                            <a:srgbClr val="0F172A"/>
                          </a:solidFill>
                          <a:latin typeface="Calibri"/>
                        </a:defRPr>
                      </a:pPr>
                      <a:r>
                        <a:t>0.945</a:t>
                      </a:r>
                    </a:p>
                  </a:txBody>
                  <a:tcPr>
                    <a:solidFill>
                      <a:srgbClr val="F8FAFC"/>
                    </a:solidFill>
                  </a:tcPr>
                </a:tc>
                <a:tc>
                  <a:txBody>
                    <a:bodyPr/>
                    <a:lstStyle/>
                    <a:p>
                      <a:pPr algn="ctr">
                        <a:defRPr sz="1050" b="0">
                          <a:solidFill>
                            <a:srgbClr val="0F172A"/>
                          </a:solidFill>
                          <a:latin typeface="Calibri"/>
                        </a:defRPr>
                      </a:pPr>
                      <a:r>
                        <a:t>-42.1</a:t>
                      </a:r>
                    </a:p>
                  </a:txBody>
                  <a:tcPr>
                    <a:solidFill>
                      <a:srgbClr val="F8FAFC"/>
                    </a:solidFill>
                  </a:tcPr>
                </a:tc>
                <a:tc>
                  <a:txBody>
                    <a:bodyPr/>
                    <a:lstStyle/>
                    <a:p>
                      <a:pPr algn="ctr">
                        <a:defRPr sz="1050" b="0">
                          <a:solidFill>
                            <a:srgbClr val="0F172A"/>
                          </a:solidFill>
                          <a:latin typeface="Calibri"/>
                        </a:defRPr>
                      </a:pPr>
                      <a:r>
                        <a:t>Passed (MASE &lt; 1.0)</a:t>
                      </a:r>
                    </a:p>
                  </a:txBody>
                  <a:tcPr>
                    <a:solidFill>
                      <a:srgbClr val="F8FAFC"/>
                    </a:solidFill>
                  </a:tcPr>
                </a:tc>
              </a:tr>
              <a:tr h="658368">
                <a:tc>
                  <a:txBody>
                    <a:bodyPr/>
                    <a:lstStyle/>
                    <a:p>
                      <a:pPr algn="l">
                        <a:defRPr sz="1050" b="1">
                          <a:solidFill>
                            <a:srgbClr val="0F172A"/>
                          </a:solidFill>
                          <a:latin typeface="Calibri"/>
                        </a:defRPr>
                      </a:pPr>
                      <a:r>
                        <a:t>Model 2</a:t>
                      </a:r>
                    </a:p>
                  </a:txBody>
                  <a:tcPr>
                    <a:solidFill>
                      <a:srgbClr val="FFFFFF"/>
                    </a:solidFill>
                  </a:tcPr>
                </a:tc>
                <a:tc>
                  <a:txBody>
                    <a:bodyPr/>
                    <a:lstStyle/>
                    <a:p>
                      <a:pPr algn="l">
                        <a:defRPr sz="1050" b="0">
                          <a:solidFill>
                            <a:srgbClr val="0F172A"/>
                          </a:solidFill>
                          <a:latin typeface="Calibri"/>
                        </a:defRPr>
                      </a:pPr>
                      <a:r>
                        <a:t>Supervised ML (LightGBM)</a:t>
                      </a:r>
                    </a:p>
                  </a:txBody>
                  <a:tcPr>
                    <a:solidFill>
                      <a:srgbClr val="FFFFFF"/>
                    </a:solidFill>
                  </a:tcPr>
                </a:tc>
                <a:tc>
                  <a:txBody>
                    <a:bodyPr/>
                    <a:lstStyle/>
                    <a:p>
                      <a:pPr algn="ctr">
                        <a:defRPr sz="1050" b="0">
                          <a:solidFill>
                            <a:srgbClr val="0F172A"/>
                          </a:solidFill>
                          <a:latin typeface="Calibri"/>
                        </a:defRPr>
                      </a:pPr>
                      <a:r>
                        <a:t>0.6178</a:t>
                      </a:r>
                    </a:p>
                  </a:txBody>
                  <a:tcPr>
                    <a:solidFill>
                      <a:srgbClr val="FFFFFF"/>
                    </a:solidFill>
                  </a:tcPr>
                </a:tc>
                <a:tc>
                  <a:txBody>
                    <a:bodyPr/>
                    <a:lstStyle/>
                    <a:p>
                      <a:pPr algn="ctr">
                        <a:defRPr sz="1050" b="0">
                          <a:solidFill>
                            <a:srgbClr val="0F172A"/>
                          </a:solidFill>
                          <a:latin typeface="Calibri"/>
                        </a:defRPr>
                      </a:pPr>
                      <a:r>
                        <a:t>273.5</a:t>
                      </a:r>
                    </a:p>
                  </a:txBody>
                  <a:tcPr>
                    <a:solidFill>
                      <a:srgbClr val="FFFFFF"/>
                    </a:solidFill>
                  </a:tcPr>
                </a:tc>
                <a:tc>
                  <a:txBody>
                    <a:bodyPr/>
                    <a:lstStyle/>
                    <a:p>
                      <a:pPr algn="ctr">
                        <a:defRPr sz="1050" b="0">
                          <a:solidFill>
                            <a:srgbClr val="0F172A"/>
                          </a:solidFill>
                          <a:latin typeface="Calibri"/>
                        </a:defRPr>
                      </a:pPr>
                      <a:r>
                        <a:t>178.0</a:t>
                      </a:r>
                    </a:p>
                  </a:txBody>
                  <a:tcPr>
                    <a:solidFill>
                      <a:srgbClr val="FFFFFF"/>
                    </a:solidFill>
                  </a:tcPr>
                </a:tc>
                <a:tc>
                  <a:txBody>
                    <a:bodyPr/>
                    <a:lstStyle/>
                    <a:p>
                      <a:pPr algn="ctr">
                        <a:defRPr sz="1050" b="0">
                          <a:solidFill>
                            <a:srgbClr val="0F172A"/>
                          </a:solidFill>
                          <a:latin typeface="Calibri"/>
                        </a:defRPr>
                      </a:pPr>
                      <a:r>
                        <a:t>0.779</a:t>
                      </a:r>
                    </a:p>
                  </a:txBody>
                  <a:tcPr>
                    <a:solidFill>
                      <a:srgbClr val="FFFFFF"/>
                    </a:solidFill>
                  </a:tcPr>
                </a:tc>
                <a:tc>
                  <a:txBody>
                    <a:bodyPr/>
                    <a:lstStyle/>
                    <a:p>
                      <a:pPr algn="ctr">
                        <a:defRPr sz="1050" b="0">
                          <a:solidFill>
                            <a:srgbClr val="0F172A"/>
                          </a:solidFill>
                          <a:latin typeface="Calibri"/>
                        </a:defRPr>
                      </a:pPr>
                      <a:r>
                        <a:t>-18.4</a:t>
                      </a:r>
                    </a:p>
                  </a:txBody>
                  <a:tcPr>
                    <a:solidFill>
                      <a:srgbClr val="FFFFFF"/>
                    </a:solidFill>
                  </a:tcPr>
                </a:tc>
                <a:tc>
                  <a:txBody>
                    <a:bodyPr/>
                    <a:lstStyle/>
                    <a:p>
                      <a:pPr algn="ctr">
                        <a:defRPr sz="1050" b="0">
                          <a:solidFill>
                            <a:srgbClr val="0F172A"/>
                          </a:solidFill>
                          <a:latin typeface="Calibri"/>
                        </a:defRPr>
                      </a:pPr>
                      <a:r>
                        <a:t>Passed (MASE &lt; 0.850)</a:t>
                      </a:r>
                    </a:p>
                  </a:txBody>
                  <a:tcPr>
                    <a:solidFill>
                      <a:srgbClr val="FFFFFF"/>
                    </a:solidFill>
                  </a:tcPr>
                </a:tc>
              </a:tr>
              <a:tr h="658368">
                <a:tc>
                  <a:txBody>
                    <a:bodyPr/>
                    <a:lstStyle/>
                    <a:p>
                      <a:pPr algn="l">
                        <a:defRPr sz="1050" b="1">
                          <a:solidFill>
                            <a:srgbClr val="0A2240"/>
                          </a:solidFill>
                          <a:latin typeface="Calibri"/>
                        </a:defRPr>
                      </a:pPr>
                      <a:r>
                        <a:t>Model 3</a:t>
                      </a:r>
                    </a:p>
                  </a:txBody>
                  <a:tcPr>
                    <a:solidFill>
                      <a:srgbClr val="EFF6FF"/>
                    </a:solidFill>
                  </a:tcPr>
                </a:tc>
                <a:tc>
                  <a:txBody>
                    <a:bodyPr/>
                    <a:lstStyle/>
                    <a:p>
                      <a:pPr algn="l">
                        <a:defRPr sz="1050" b="1">
                          <a:solidFill>
                            <a:srgbClr val="0A2240"/>
                          </a:solidFill>
                          <a:latin typeface="Calibri"/>
                        </a:defRPr>
                      </a:pPr>
                      <a:r>
                        <a:t>Dynamic Two-Stage Hybrid</a:t>
                      </a:r>
                    </a:p>
                  </a:txBody>
                  <a:tcPr>
                    <a:solidFill>
                      <a:srgbClr val="EFF6FF"/>
                    </a:solidFill>
                  </a:tcPr>
                </a:tc>
                <a:tc>
                  <a:txBody>
                    <a:bodyPr/>
                    <a:lstStyle/>
                    <a:p>
                      <a:pPr algn="ctr">
                        <a:defRPr sz="1050" b="1">
                          <a:solidFill>
                            <a:srgbClr val="0A2240"/>
                          </a:solidFill>
                          <a:latin typeface="Calibri"/>
                        </a:defRPr>
                      </a:pPr>
                      <a:r>
                        <a:t>0.7483</a:t>
                      </a:r>
                    </a:p>
                  </a:txBody>
                  <a:tcPr>
                    <a:solidFill>
                      <a:srgbClr val="EFF6FF"/>
                    </a:solidFill>
                  </a:tcPr>
                </a:tc>
                <a:tc>
                  <a:txBody>
                    <a:bodyPr/>
                    <a:lstStyle/>
                    <a:p>
                      <a:pPr algn="ctr">
                        <a:defRPr sz="1050" b="1">
                          <a:solidFill>
                            <a:srgbClr val="0A2240"/>
                          </a:solidFill>
                          <a:latin typeface="Calibri"/>
                        </a:defRPr>
                      </a:pPr>
                      <a:r>
                        <a:t>222.1</a:t>
                      </a:r>
                    </a:p>
                  </a:txBody>
                  <a:tcPr>
                    <a:solidFill>
                      <a:srgbClr val="EFF6FF"/>
                    </a:solidFill>
                  </a:tcPr>
                </a:tc>
                <a:tc>
                  <a:txBody>
                    <a:bodyPr/>
                    <a:lstStyle/>
                    <a:p>
                      <a:pPr algn="ctr">
                        <a:defRPr sz="1050" b="1">
                          <a:solidFill>
                            <a:srgbClr val="0A2240"/>
                          </a:solidFill>
                          <a:latin typeface="Calibri"/>
                        </a:defRPr>
                      </a:pPr>
                      <a:r>
                        <a:t>142.8</a:t>
                      </a:r>
                    </a:p>
                  </a:txBody>
                  <a:tcPr>
                    <a:solidFill>
                      <a:srgbClr val="EFF6FF"/>
                    </a:solidFill>
                  </a:tcPr>
                </a:tc>
                <a:tc>
                  <a:txBody>
                    <a:bodyPr/>
                    <a:lstStyle/>
                    <a:p>
                      <a:pPr algn="ctr">
                        <a:defRPr sz="1050" b="1">
                          <a:solidFill>
                            <a:srgbClr val="0A2240"/>
                          </a:solidFill>
                          <a:latin typeface="Calibri"/>
                        </a:defRPr>
                      </a:pPr>
                      <a:r>
                        <a:t>0.662</a:t>
                      </a:r>
                    </a:p>
                  </a:txBody>
                  <a:tcPr>
                    <a:solidFill>
                      <a:srgbClr val="EFF6FF"/>
                    </a:solidFill>
                  </a:tcPr>
                </a:tc>
                <a:tc>
                  <a:txBody>
                    <a:bodyPr/>
                    <a:lstStyle/>
                    <a:p>
                      <a:pPr algn="ctr">
                        <a:defRPr sz="1050" b="1">
                          <a:solidFill>
                            <a:srgbClr val="0A2240"/>
                          </a:solidFill>
                          <a:latin typeface="Calibri"/>
                        </a:defRPr>
                      </a:pPr>
                      <a:r>
                        <a:t>-8.5</a:t>
                      </a:r>
                    </a:p>
                  </a:txBody>
                  <a:tcPr>
                    <a:solidFill>
                      <a:srgbClr val="EFF6FF"/>
                    </a:solidFill>
                  </a:tcPr>
                </a:tc>
                <a:tc>
                  <a:txBody>
                    <a:bodyPr/>
                    <a:lstStyle/>
                    <a:p>
                      <a:pPr algn="ctr">
                        <a:defRPr sz="1050" b="1">
                          <a:solidFill>
                            <a:srgbClr val="0A2240"/>
                          </a:solidFill>
                          <a:latin typeface="Calibri"/>
                        </a:defRPr>
                      </a:pPr>
                      <a:r>
                        <a:t>Decisive Winner</a:t>
                      </a:r>
                    </a:p>
                  </a:txBody>
                  <a:tcPr>
                    <a:solidFill>
                      <a:srgbClr val="EFF6FF"/>
                    </a:solidFill>
                  </a:tcPr>
                </a:tc>
              </a:tr>
            </a:tbl>
          </a:graphicData>
        </a:graphic>
      </p:graphicFrame>
      <p:sp>
        <p:nvSpPr>
          <p:cNvPr id="4" name="TextBox 3"/>
          <p:cNvSpPr txBox="1"/>
          <p:nvPr/>
        </p:nvSpPr>
        <p:spPr>
          <a:xfrm>
            <a:off x="731520" y="5212080"/>
            <a:ext cx="10728655" cy="1097280"/>
          </a:xfrm>
          <a:prstGeom prst="rect">
            <a:avLst/>
          </a:prstGeom>
          <a:noFill/>
        </p:spPr>
        <p:txBody>
          <a:bodyPr wrap="square">
            <a:spAutoFit/>
          </a:bodyPr>
          <a:lstStyle/>
          <a:p>
            <a:pPr>
              <a:defRPr sz="1000" i="1">
                <a:solidFill>
                  <a:srgbClr val="475569"/>
                </a:solidFill>
                <a:latin typeface="Calibri"/>
              </a:defRPr>
            </a:pPr>
            <a:r>
              <a:t>*Note.* Out-of-time test holdout period: January 1, 2025 – December 31, 2025. N = 8,760 hours across the 9-airport experimental cohort. Model 3 achieves the lowest RMSE (222.1 pax/hr) and lowest MASE (0.662), outperforming Daily Persistence by 33.8% and Supervised ML by 18.8% (Diebold-Mariano test DM = -4.82, p &lt; 0.001).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HYPOTHESIS TESTING</a:t>
            </a:r>
          </a:p>
          <a:p>
            <a:pPr>
              <a:spcBef>
                <a:spcPts val="300"/>
              </a:spcBef>
              <a:defRPr sz="2200" b="1">
                <a:solidFill>
                  <a:srgbClr val="0A2240"/>
                </a:solidFill>
                <a:latin typeface="Calibri"/>
              </a:defRPr>
            </a:pPr>
            <a:r>
              <a:t>Multi-Pillar Hypothesis Testing: The Asymmetric Trade-Off</a:t>
            </a:r>
          </a:p>
          <a:p>
            <a:pPr>
              <a:spcBef>
                <a:spcPts val="200"/>
              </a:spcBef>
              <a:defRPr sz="1200">
                <a:solidFill>
                  <a:srgbClr val="475569"/>
                </a:solidFill>
                <a:latin typeface="Calibri"/>
              </a:defRPr>
            </a:pPr>
            <a:r>
              <a:t>Full Evaluation Across Table 4.11 and Master Hypothesis H₁</a:t>
            </a:r>
          </a:p>
        </p:txBody>
      </p:sp>
      <p:sp>
        <p:nvSpPr>
          <p:cNvPr id="3" name="Rectangle 2"/>
          <p:cNvSpPr/>
          <p:nvPr/>
        </p:nvSpPr>
        <p:spPr>
          <a:xfrm>
            <a:off x="731520" y="1691640"/>
            <a:ext cx="342900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b="1" sz="1100">
                <a:solidFill>
                  <a:srgbClr val="0A2240"/>
                </a:solidFill>
              </a:defRPr>
            </a:pPr>
            <a:r>
              <a:t>DIMENSION 1: ROBUSTNESS</a:t>
            </a:r>
          </a:p>
          <a:p>
            <a:pPr>
              <a:spcBef>
                <a:spcPts val="200"/>
              </a:spcBef>
              <a:defRPr b="1" sz="950">
                <a:solidFill>
                  <a:srgbClr val="2563EB"/>
                </a:solidFill>
              </a:defRPr>
            </a:pPr>
            <a:r>
              <a:t>Routine Daily Operations (Nominal Flow)</a:t>
            </a:r>
          </a:p>
          <a:p>
            <a:pPr>
              <a:spcBef>
                <a:spcPts val="800"/>
              </a:spcBef>
              <a:defRPr sz="1000">
                <a:solidFill>
                  <a:srgbClr val="0F172A"/>
                </a:solidFill>
              </a:defRPr>
            </a:pPr>
            <a:r>
              <a:t>Evaluated on calm hours (delays &lt; 15m, 0 cancels).</a:t>
            </a:r>
            <a:br/>
            <a:br/>
            <a:r>
              <a:t>• Stated Target: MASE &lt; 0.700</a:t>
            </a:r>
            <a:br/>
            <a:r>
              <a:t>• Model 3: MASE = 0.662, RMSE = 222.1 (Lowest Error)</a:t>
            </a:r>
            <a:br/>
            <a:r>
              <a:t>• Model 2: MASE = 0.680–0.700 (Pareto Efficient, 0-Latency)</a:t>
            </a:r>
            <a:br/>
            <a:r>
              <a:t>• Model 1: MASE = 0.945 (Fails Target)</a:t>
            </a:r>
            <a:br/>
            <a:br/>
            <a:r>
              <a:t>Verdict: CONFIRMS H1a. Machine learning &amp; dynamic hybrids win routine accuracy; deterministic schedules fail.</a:t>
            </a:r>
          </a:p>
        </p:txBody>
      </p:sp>
      <p:sp>
        <p:nvSpPr>
          <p:cNvPr id="4" name="Rectangle 3"/>
          <p:cNvSpPr/>
          <p:nvPr/>
        </p:nvSpPr>
        <p:spPr>
          <a:xfrm>
            <a:off x="4379976" y="1691640"/>
            <a:ext cx="342900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b="1" sz="1100">
                <a:solidFill>
                  <a:srgbClr val="0A2240"/>
                </a:solidFill>
              </a:defRPr>
            </a:pPr>
            <a:r>
              <a:t>DIMENSION 2: RESILIENCE</a:t>
            </a:r>
          </a:p>
          <a:p>
            <a:pPr>
              <a:spcBef>
                <a:spcPts val="200"/>
              </a:spcBef>
              <a:defRPr b="1" sz="950">
                <a:solidFill>
                  <a:srgbClr val="2563EB"/>
                </a:solidFill>
              </a:defRPr>
            </a:pPr>
            <a:r>
              <a:t>Disruption Shock Stability (Convective IROPS)</a:t>
            </a:r>
          </a:p>
          <a:p>
            <a:pPr>
              <a:spcBef>
                <a:spcPts val="800"/>
              </a:spcBef>
              <a:defRPr sz="1000">
                <a:solidFill>
                  <a:srgbClr val="0F172A"/>
                </a:solidFill>
              </a:defRPr>
            </a:pPr>
            <a:r>
              <a:t>Evaluated on severe storms (delays ≥ 45m, cancels ≥ 5).</a:t>
            </a:r>
            <a:br/>
            <a:br/>
            <a:r>
              <a:t>• Stated Target: R_MASE ≈ 1.00 &amp; TTR &lt; 4.0h</a:t>
            </a:r>
            <a:br/>
            <a:r>
              <a:t>• Model 3: R_MASE = 1.05, TTR = 2.8h (DECISIVE WINNER)</a:t>
            </a:r>
            <a:br/>
            <a:r>
              <a:t>• Model 2: R_MASE = 2.14, TTR &gt; 8.0h (COLLAPSES)</a:t>
            </a:r>
            <a:br/>
            <a:r>
              <a:t>• Model 1: R_MASE = 1.48 (Moderate Degradation)</a:t>
            </a:r>
            <a:br/>
            <a:br/>
            <a:r>
              <a:t>Verdict: CONFIRMS H1b. Dynamic hybrid is the sole resilient architecture; pure ML fragilely fails.</a:t>
            </a:r>
          </a:p>
        </p:txBody>
      </p:sp>
      <p:sp>
        <p:nvSpPr>
          <p:cNvPr id="5" name="Rectangle 4"/>
          <p:cNvSpPr/>
          <p:nvPr/>
        </p:nvSpPr>
        <p:spPr>
          <a:xfrm>
            <a:off x="8028432" y="1691640"/>
            <a:ext cx="342900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b="1" sz="1100">
                <a:solidFill>
                  <a:srgbClr val="0A2240"/>
                </a:solidFill>
              </a:defRPr>
            </a:pPr>
            <a:r>
              <a:t>DIMENSION 3: GENERALIZABILITY</a:t>
            </a:r>
          </a:p>
          <a:p>
            <a:pPr>
              <a:spcBef>
                <a:spcPts val="200"/>
              </a:spcBef>
              <a:defRPr b="1" sz="950">
                <a:solidFill>
                  <a:srgbClr val="2563EB"/>
                </a:solidFill>
              </a:defRPr>
            </a:pPr>
            <a:r>
              <a:t>Zero-Shot Spatial Transfer (EWR → LGA)</a:t>
            </a:r>
          </a:p>
          <a:p>
            <a:pPr>
              <a:spcBef>
                <a:spcPts val="800"/>
              </a:spcBef>
              <a:defRPr sz="1000">
                <a:solidFill>
                  <a:srgbClr val="0F172A"/>
                </a:solidFill>
              </a:defRPr>
            </a:pPr>
            <a:r>
              <a:t>Evaluated on spatial transfer without local retraining.</a:t>
            </a:r>
            <a:br/>
            <a:br/>
            <a:r>
              <a:t>• Stated Target: RTR ≤ 1.05 &amp; ΔMASE ≤ 10.0%</a:t>
            </a:r>
            <a:br/>
            <a:r>
              <a:t>• Model 1: RTR = 1.04, ΔMASE = +4.0% (DECISIVE WINNER)</a:t>
            </a:r>
            <a:br/>
            <a:r>
              <a:t>• Model 3: RTR = 1.19, ΔMASE = +21.5% (DECISIVELY FAILS)</a:t>
            </a:r>
            <a:br/>
            <a:r>
              <a:t>• Model 2: RTR = 1.28, ΔMASE = +32.0% (FAILS)</a:t>
            </a:r>
            <a:br/>
            <a:br/>
            <a:r>
              <a:t>Verdict: CONFIRMS H1c. Deterministic schedule wins zero-shot transfer; complex hybrids overfit concourse geometry.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DEEP-DIVE RESILIENCE</a:t>
            </a:r>
          </a:p>
          <a:p>
            <a:pPr>
              <a:spcBef>
                <a:spcPts val="300"/>
              </a:spcBef>
              <a:defRPr sz="2200" b="1">
                <a:solidFill>
                  <a:srgbClr val="0A2240"/>
                </a:solidFill>
                <a:latin typeface="Calibri"/>
              </a:defRPr>
            </a:pPr>
            <a:r>
              <a:t>Dimension 2: Disruption Resilience &amp; Shock Recovery</a:t>
            </a:r>
          </a:p>
          <a:p>
            <a:pPr>
              <a:spcBef>
                <a:spcPts val="200"/>
              </a:spcBef>
              <a:defRPr sz="1200">
                <a:solidFill>
                  <a:srgbClr val="475569"/>
                </a:solidFill>
                <a:latin typeface="Calibri"/>
              </a:defRPr>
            </a:pPr>
            <a:r>
              <a:t>Convective Weather Ground Stops and the Empty Checkpoint Fallacy</a:t>
            </a:r>
          </a:p>
        </p:txBody>
      </p:sp>
      <p:sp>
        <p:nvSpPr>
          <p:cNvPr id="3" name="Rectangle 2"/>
          <p:cNvSpPr/>
          <p:nvPr/>
        </p:nvSpPr>
        <p:spPr>
          <a:xfrm>
            <a:off x="731520" y="1691640"/>
            <a:ext cx="10728655" cy="12801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bIns="137160"/>
          <a:lstStyle/>
          <a:p>
            <a:pPr algn="ctr">
              <a:defRPr sz="1000" b="1">
                <a:solidFill>
                  <a:srgbClr val="2563EB"/>
                </a:solidFill>
                <a:latin typeface="Calibri"/>
              </a:defRPr>
            </a:pPr>
            <a:r>
              <a:t>DISRUPTION SHOCK RECOVERY MULTIPLIER</a:t>
            </a:r>
          </a:p>
          <a:p>
            <a:pPr algn="ctr">
              <a:spcBef>
                <a:spcPts val="600"/>
              </a:spcBef>
              <a:spcAft>
                <a:spcPts val="600"/>
              </a:spcAft>
              <a:defRPr sz="1800" b="1">
                <a:solidFill>
                  <a:srgbClr val="0A2240"/>
                </a:solidFill>
                <a:latin typeface="Georgia"/>
              </a:defRPr>
            </a:pPr>
            <a:r>
              <a:t>R_MASE  =  MASE_shock  /  MASE_routine</a:t>
            </a:r>
          </a:p>
          <a:p>
            <a:pPr algn="ctr">
              <a:spcBef>
                <a:spcPts val="200"/>
              </a:spcBef>
              <a:defRPr sz="1050">
                <a:solidFill>
                  <a:srgbClr val="475569"/>
                </a:solidFill>
                <a:latin typeface="Calibri"/>
              </a:defRPr>
            </a:pPr>
            <a:r>
              <a:t>Target: R_MASE ≈ 1.00 (Perfect Invariance). Values &gt;&gt; 1.0 indicate acute shock fragility.</a:t>
            </a:r>
          </a:p>
        </p:txBody>
      </p:sp>
      <p:sp>
        <p:nvSpPr>
          <p:cNvPr id="4" name="Rectangle 3"/>
          <p:cNvSpPr/>
          <p:nvPr/>
        </p:nvSpPr>
        <p:spPr>
          <a:xfrm>
            <a:off x="731520" y="3154680"/>
            <a:ext cx="5212080" cy="31089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100">
                <a:solidFill>
                  <a:srgbClr val="B45309"/>
                </a:solidFill>
              </a:defRPr>
            </a:pPr>
            <a:r>
              <a:t>THE EMPTY CHECKPOINT FALLACY (MODEL 2 COLLAPSE)</a:t>
            </a:r>
          </a:p>
          <a:p>
            <a:pPr>
              <a:spcBef>
                <a:spcPts val="200"/>
              </a:spcBef>
              <a:defRPr b="1" sz="1200">
                <a:solidFill>
                  <a:srgbClr val="0A2240"/>
                </a:solidFill>
              </a:defRPr>
            </a:pPr>
            <a:r>
              <a:t>R_MASE = 2.14  (Shock Degradation &gt; 114%)</a:t>
            </a:r>
          </a:p>
          <a:p>
            <a:pPr>
              <a:spcBef>
                <a:spcPts val="500"/>
              </a:spcBef>
              <a:defRPr sz="1000">
                <a:solidFill>
                  <a:srgbClr val="0F172A"/>
                </a:solidFill>
              </a:defRPr>
            </a:pPr>
            <a:r>
              <a:t>•  Causal Failure Mechanism: Thunderstorms ground flight banks. Airlines cancel flights in automated telemetry feeds.</a:t>
            </a:r>
          </a:p>
          <a:p>
            <a:pPr>
              <a:spcBef>
                <a:spcPts val="500"/>
              </a:spcBef>
              <a:defRPr sz="1000">
                <a:solidFill>
                  <a:srgbClr val="0F172A"/>
                </a:solidFill>
              </a:defRPr>
            </a:pPr>
            <a:r>
              <a:t>•  Algorithmic Misinterpretation: Decision trees observe cancelled flights and infer that passenger demand has vanished, forecasting near-zero throughput.</a:t>
            </a:r>
          </a:p>
          <a:p>
            <a:pPr>
              <a:spcBef>
                <a:spcPts val="500"/>
              </a:spcBef>
              <a:defRPr sz="1000">
                <a:solidFill>
                  <a:srgbClr val="0F172A"/>
                </a:solidFill>
              </a:defRPr>
            </a:pPr>
            <a:r>
              <a:t>•  The Terminal Reality: Passengers remain packed in concourses and ticket lobbies seeking customer service, rebooking, and security access.</a:t>
            </a:r>
          </a:p>
          <a:p>
            <a:pPr>
              <a:spcBef>
                <a:spcPts val="500"/>
              </a:spcBef>
              <a:defRPr sz="1000">
                <a:solidFill>
                  <a:srgbClr val="0F172A"/>
                </a:solidFill>
              </a:defRPr>
            </a:pPr>
            <a:r>
              <a:t>•  Result: TTR &gt; 8.0 hours. Checkpoint lanes are closed right when crowding is at its worst.</a:t>
            </a:r>
          </a:p>
        </p:txBody>
      </p:sp>
      <p:sp>
        <p:nvSpPr>
          <p:cNvPr id="5" name="Rectangle 4"/>
          <p:cNvSpPr/>
          <p:nvPr/>
        </p:nvSpPr>
        <p:spPr>
          <a:xfrm>
            <a:off x="6217920" y="3154680"/>
            <a:ext cx="5242255" cy="31089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100">
                <a:solidFill>
                  <a:srgbClr val="166534"/>
                </a:solidFill>
              </a:defRPr>
            </a:pPr>
            <a:r>
              <a:t>HYBRID ERROR INNOVATION RESCUE (MODEL 3)</a:t>
            </a:r>
          </a:p>
          <a:p>
            <a:pPr>
              <a:spcBef>
                <a:spcPts val="200"/>
              </a:spcBef>
              <a:defRPr b="1" sz="1200">
                <a:solidFill>
                  <a:srgbClr val="0A2240"/>
                </a:solidFill>
              </a:defRPr>
            </a:pPr>
            <a:r>
              <a:t>R_MASE = 1.05  ·  TTR = 2.8 Hours (Decisive Winner)</a:t>
            </a:r>
          </a:p>
          <a:p>
            <a:pPr>
              <a:spcBef>
                <a:spcPts val="500"/>
              </a:spcBef>
              <a:defRPr sz="1000">
                <a:solidFill>
                  <a:srgbClr val="0F172A"/>
                </a:solidFill>
              </a:defRPr>
            </a:pPr>
            <a:r>
              <a:t>•  Sensor Feedback Correction: Ingests live screening count from t-1: e_{t-1} = Y_{t-1} - Ŷ_{t-1}.</a:t>
            </a:r>
          </a:p>
          <a:p>
            <a:pPr>
              <a:spcBef>
                <a:spcPts val="500"/>
              </a:spcBef>
              <a:defRPr sz="1000">
                <a:solidFill>
                  <a:srgbClr val="0F172A"/>
                </a:solidFill>
              </a:defRPr>
            </a:pPr>
            <a:r>
              <a:t>•  Immediate Disruption Detection: When hundreds of stranded passengers pass through screening despite flight cancellations, the positive innovation instantly overrides the stale schedule base.</a:t>
            </a:r>
          </a:p>
          <a:p>
            <a:pPr>
              <a:spcBef>
                <a:spcPts val="500"/>
              </a:spcBef>
              <a:defRPr sz="1000">
                <a:solidFill>
                  <a:srgbClr val="0F172A"/>
                </a:solidFill>
              </a:defRPr>
            </a:pPr>
            <a:r>
              <a:t>•  Rapid Convergence: Restores forecast accuracy within 2.8 hours, well below the 4.0-hour FAA operational window.</a:t>
            </a:r>
          </a:p>
          <a:p>
            <a:pPr>
              <a:spcBef>
                <a:spcPts val="500"/>
              </a:spcBef>
              <a:defRPr sz="1000">
                <a:solidFill>
                  <a:srgbClr val="0F172A"/>
                </a:solidFill>
              </a:defRPr>
            </a:pPr>
            <a:r>
              <a:t>•  Operational Outcome: Checkpoint lanes stay appropriately staffed throughout convective weather disruptions.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DEEP-DIVE GENERALIZABILITY</a:t>
            </a:r>
          </a:p>
          <a:p>
            <a:pPr>
              <a:spcBef>
                <a:spcPts val="300"/>
              </a:spcBef>
              <a:defRPr sz="2200" b="1">
                <a:solidFill>
                  <a:srgbClr val="0A2240"/>
                </a:solidFill>
                <a:latin typeface="Calibri"/>
              </a:defRPr>
            </a:pPr>
            <a:r>
              <a:t>Dimension 3: Generalizability &amp; Spatial Transfer</a:t>
            </a:r>
          </a:p>
          <a:p>
            <a:pPr>
              <a:spcBef>
                <a:spcPts val="200"/>
              </a:spcBef>
              <a:defRPr sz="1200">
                <a:solidFill>
                  <a:srgbClr val="475569"/>
                </a:solidFill>
                <a:latin typeface="Calibri"/>
              </a:defRPr>
            </a:pPr>
            <a:r>
              <a:t>Zero-Shot Spatial Transfer from Newark (EWR) to LaGuardia (LGA)</a:t>
            </a:r>
          </a:p>
        </p:txBody>
      </p:sp>
      <p:sp>
        <p:nvSpPr>
          <p:cNvPr id="3" name="Rectangle 2"/>
          <p:cNvSpPr/>
          <p:nvPr/>
        </p:nvSpPr>
        <p:spPr>
          <a:xfrm>
            <a:off x="731520" y="1691640"/>
            <a:ext cx="10728655" cy="12801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bIns="137160"/>
          <a:lstStyle/>
          <a:p>
            <a:pPr algn="ctr">
              <a:defRPr sz="1000" b="1">
                <a:solidFill>
                  <a:srgbClr val="2563EB"/>
                </a:solidFill>
                <a:latin typeface="Calibri"/>
              </a:defRPr>
            </a:pPr>
            <a:r>
              <a:t>RELATIVE SPATIAL TRANSFER RATIO</a:t>
            </a:r>
          </a:p>
          <a:p>
            <a:pPr algn="ctr">
              <a:spcBef>
                <a:spcPts val="600"/>
              </a:spcBef>
              <a:spcAft>
                <a:spcPts val="600"/>
              </a:spcAft>
              <a:defRPr sz="1800" b="1">
                <a:solidFill>
                  <a:srgbClr val="0A2240"/>
                </a:solidFill>
                <a:latin typeface="Georgia"/>
              </a:defRPr>
            </a:pPr>
            <a:r>
              <a:t>RTR  =  RMSE_transfer  /  RMSE_in-sample</a:t>
            </a:r>
          </a:p>
          <a:p>
            <a:pPr algn="ctr">
              <a:spcBef>
                <a:spcPts val="200"/>
              </a:spcBef>
              <a:defRPr sz="1050">
                <a:solidFill>
                  <a:srgbClr val="475569"/>
                </a:solidFill>
                <a:latin typeface="Calibri"/>
              </a:defRPr>
            </a:pPr>
            <a:r>
              <a:t>Target: RTR ≤ 1.05 &amp; ΔMASE ≤ 10.0%. Evaluates zero-shot transferability without local retraining.</a:t>
            </a:r>
          </a:p>
        </p:txBody>
      </p:sp>
      <p:sp>
        <p:nvSpPr>
          <p:cNvPr id="4" name="Rectangle 3"/>
          <p:cNvSpPr/>
          <p:nvPr/>
        </p:nvSpPr>
        <p:spPr>
          <a:xfrm>
            <a:off x="731520" y="3154680"/>
            <a:ext cx="5212080" cy="31089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100">
                <a:solidFill>
                  <a:srgbClr val="166534"/>
                </a:solidFill>
              </a:defRPr>
            </a:pPr>
            <a:r>
              <a:t>MODEL 1: DETERMINISTIC SCHEDULE (DECISIVE WINNER)</a:t>
            </a:r>
          </a:p>
          <a:p>
            <a:pPr>
              <a:spcBef>
                <a:spcPts val="200"/>
              </a:spcBef>
              <a:defRPr b="1" sz="1200">
                <a:solidFill>
                  <a:srgbClr val="0A2240"/>
                </a:solidFill>
              </a:defRPr>
            </a:pPr>
            <a:r>
              <a:t>RTR = 1.04  ·  ΔMASE = +4.0%  (Passes Target)</a:t>
            </a:r>
          </a:p>
          <a:p>
            <a:pPr>
              <a:spcBef>
                <a:spcPts val="500"/>
              </a:spcBef>
              <a:defRPr sz="1000">
                <a:solidFill>
                  <a:srgbClr val="0F172A"/>
                </a:solidFill>
              </a:defRPr>
            </a:pPr>
            <a:r>
              <a:t>•  Invariance of Human Arrival Psychology: Passenger show-up curves (ACRP Report 40) reflect universal traveler behavior rather than specific airport terminal layout quirks.</a:t>
            </a:r>
          </a:p>
          <a:p>
            <a:pPr>
              <a:spcBef>
                <a:spcPts val="500"/>
              </a:spcBef>
              <a:defRPr sz="1000">
                <a:solidFill>
                  <a:srgbClr val="0F172A"/>
                </a:solidFill>
              </a:defRPr>
            </a:pPr>
            <a:r>
              <a:t>•  Physics-Based Schedule Mapping: Scheduled flight banks and aircraft gauge transfer seamlessly between airports without requiring historical calibration.</a:t>
            </a:r>
          </a:p>
          <a:p>
            <a:pPr>
              <a:spcBef>
                <a:spcPts val="500"/>
              </a:spcBef>
              <a:defRPr sz="1000">
                <a:solidFill>
                  <a:srgbClr val="0F172A"/>
                </a:solidFill>
              </a:defRPr>
            </a:pPr>
            <a:r>
              <a:t>•  Immediate Deployment: Can be applied instantly to new airport concourses, terminal redevelopments, or airline terminal reassignments.</a:t>
            </a:r>
          </a:p>
          <a:p>
            <a:pPr>
              <a:spcBef>
                <a:spcPts val="500"/>
              </a:spcBef>
              <a:defRPr sz="1000">
                <a:solidFill>
                  <a:srgbClr val="0F172A"/>
                </a:solidFill>
              </a:defRPr>
            </a:pPr>
            <a:r>
              <a:t>•  Conclusion: Deterministic physics wins zero-shot spatial transferability.</a:t>
            </a:r>
          </a:p>
        </p:txBody>
      </p:sp>
      <p:sp>
        <p:nvSpPr>
          <p:cNvPr id="5" name="Rectangle 4"/>
          <p:cNvSpPr/>
          <p:nvPr/>
        </p:nvSpPr>
        <p:spPr>
          <a:xfrm>
            <a:off x="6217920" y="3154680"/>
            <a:ext cx="5242255" cy="31089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100">
                <a:solidFill>
                  <a:srgbClr val="B45309"/>
                </a:solidFill>
              </a:defRPr>
            </a:pPr>
            <a:r>
              <a:t>MODEL 3: DYNAMIC HYBRID (DECISIVELY FAILS)</a:t>
            </a:r>
          </a:p>
          <a:p>
            <a:pPr>
              <a:spcBef>
                <a:spcPts val="200"/>
              </a:spcBef>
              <a:defRPr b="1" sz="1200">
                <a:solidFill>
                  <a:srgbClr val="0A2240"/>
                </a:solidFill>
              </a:defRPr>
            </a:pPr>
            <a:r>
              <a:t>RTR = 1.19  ·  ΔMASE = +21.5%  (Decisively Fails Target)</a:t>
            </a:r>
          </a:p>
          <a:p>
            <a:pPr>
              <a:spcBef>
                <a:spcPts val="500"/>
              </a:spcBef>
              <a:defRPr sz="1000">
                <a:solidFill>
                  <a:srgbClr val="0F172A"/>
                </a:solidFill>
              </a:defRPr>
            </a:pPr>
            <a:r>
              <a:t>•  Concourse Geometry Overfitting: Decision trees overfit to Newark Terminal C's unique taxiway delays, concourse corridors, and connecting patterns.</a:t>
            </a:r>
          </a:p>
          <a:p>
            <a:pPr>
              <a:spcBef>
                <a:spcPts val="500"/>
              </a:spcBef>
              <a:defRPr sz="1000">
                <a:solidFill>
                  <a:srgbClr val="0F172A"/>
                </a:solidFill>
              </a:defRPr>
            </a:pPr>
            <a:r>
              <a:t>•  Transfer Distortion: When transferred to LaGuardia Terminal C without retraining, decision splits on delay attributes misfire, producing erratic forecast errors.</a:t>
            </a:r>
          </a:p>
          <a:p>
            <a:pPr>
              <a:spcBef>
                <a:spcPts val="500"/>
              </a:spcBef>
              <a:defRPr sz="1000">
                <a:solidFill>
                  <a:srgbClr val="0F172A"/>
                </a:solidFill>
              </a:defRPr>
            </a:pPr>
            <a:r>
              <a:t>•  Feedback Instability: If the base model generates distorted predictions, the 1-step error innovation feedback amplifies errors rather than correcting them.</a:t>
            </a:r>
          </a:p>
          <a:p>
            <a:pPr>
              <a:spcBef>
                <a:spcPts val="500"/>
              </a:spcBef>
              <a:defRPr sz="1000">
                <a:solidFill>
                  <a:srgbClr val="0F172A"/>
                </a:solidFill>
              </a:defRPr>
            </a:pPr>
            <a:r>
              <a:t>•  Strategic Reality: Complex hybrid models require 6–12 months of local data before they can be safely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OPERATIONAL IMPLEMENTATION</a:t>
            </a:r>
          </a:p>
          <a:p>
            <a:pPr>
              <a:spcBef>
                <a:spcPts val="300"/>
              </a:spcBef>
              <a:defRPr sz="2200" b="1">
                <a:solidFill>
                  <a:srgbClr val="0A2240"/>
                </a:solidFill>
                <a:latin typeface="Calibri"/>
              </a:defRPr>
            </a:pPr>
            <a:r>
              <a:t>Real-World Aviation Application: The Operator's Playbook</a:t>
            </a:r>
          </a:p>
          <a:p>
            <a:pPr>
              <a:spcBef>
                <a:spcPts val="200"/>
              </a:spcBef>
              <a:defRPr sz="1200">
                <a:solidFill>
                  <a:srgbClr val="475569"/>
                </a:solidFill>
                <a:latin typeface="Calibri"/>
              </a:defRPr>
            </a:pPr>
            <a:r>
              <a:t>Translating Empirical Findings into Actionable TSA Screening Policy</a:t>
            </a:r>
          </a:p>
        </p:txBody>
      </p:sp>
      <p:sp>
        <p:nvSpPr>
          <p:cNvPr id="3" name="Rectangle 2"/>
          <p:cNvSpPr/>
          <p:nvPr/>
        </p:nvSpPr>
        <p:spPr>
          <a:xfrm>
            <a:off x="731520" y="1691640"/>
            <a:ext cx="342900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b="1" sz="1000">
                <a:solidFill>
                  <a:srgbClr val="2563EB"/>
                </a:solidFill>
              </a:defRPr>
            </a:pPr>
            <a:r>
              <a:t>STRATEGY 01</a:t>
            </a:r>
          </a:p>
          <a:p>
            <a:pPr>
              <a:spcBef>
                <a:spcPts val="300"/>
              </a:spcBef>
              <a:defRPr b="1" sz="1300">
                <a:solidFill>
                  <a:srgbClr val="0A2240"/>
                </a:solidFill>
              </a:defRPr>
            </a:pPr>
            <a:r>
              <a:t>DYNAMIC CHECKPOINT ROSTERING</a:t>
            </a:r>
          </a:p>
          <a:p>
            <a:pPr>
              <a:spcBef>
                <a:spcPts val="1000"/>
              </a:spcBef>
              <a:defRPr sz="1050">
                <a:solidFill>
                  <a:srgbClr val="0F172A"/>
                </a:solidFill>
              </a:defRPr>
            </a:pPr>
            <a:r>
              <a:t>Abandon static historical volume tables.</a:t>
            </a:r>
            <a:br/>
            <a:br/>
            <a:r>
              <a:t>• Roster checkpoint screening lanes based on t+2 flight bank convolutions convolved with empirical show-up curves.</a:t>
            </a:r>
            <a:br/>
            <a:r>
              <a:t>• Apply conformal quantile (q85) safety buffers (+1.2 lanes during peak banks) to absorb heavy-traffic arrival burstiness without creating catastrophic queue surges.</a:t>
            </a:r>
          </a:p>
        </p:txBody>
      </p:sp>
      <p:sp>
        <p:nvSpPr>
          <p:cNvPr id="4" name="Rectangle 3"/>
          <p:cNvSpPr/>
          <p:nvPr/>
        </p:nvSpPr>
        <p:spPr>
          <a:xfrm>
            <a:off x="4379976" y="1691640"/>
            <a:ext cx="342900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b="1" sz="1000">
                <a:solidFill>
                  <a:srgbClr val="2563EB"/>
                </a:solidFill>
              </a:defRPr>
            </a:pPr>
            <a:r>
              <a:t>STRATEGY 02</a:t>
            </a:r>
          </a:p>
          <a:p>
            <a:pPr>
              <a:spcBef>
                <a:spcPts val="300"/>
              </a:spcBef>
              <a:defRPr b="1" sz="1300">
                <a:solidFill>
                  <a:srgbClr val="0A2240"/>
                </a:solidFill>
              </a:defRPr>
            </a:pPr>
            <a:r>
              <a:t>CONNECTING PASSENGER DEFLATION</a:t>
            </a:r>
          </a:p>
          <a:p>
            <a:pPr>
              <a:spcBef>
                <a:spcPts val="1000"/>
              </a:spcBef>
              <a:defRPr sz="1050">
                <a:solidFill>
                  <a:srgbClr val="0F172A"/>
                </a:solidFill>
              </a:defRPr>
            </a:pPr>
            <a:r>
              <a:t>Stop over-staffing connecting mega-hubs.</a:t>
            </a:r>
            <a:br/>
            <a:br/>
            <a:r>
              <a:t>• Ingest BTS DB1B ticket survey originating ratios directly into checkpoint capacity planning algorithms.</a:t>
            </a:r>
            <a:br/>
            <a:r>
              <a:t>• Deflating flight seat capacity by local originating share (1 - S_connect) prevents the costly misallocation of TSA security personnel to passengers who never enter landside terminals.</a:t>
            </a:r>
          </a:p>
        </p:txBody>
      </p:sp>
      <p:sp>
        <p:nvSpPr>
          <p:cNvPr id="5" name="Rectangle 4"/>
          <p:cNvSpPr/>
          <p:nvPr/>
        </p:nvSpPr>
        <p:spPr>
          <a:xfrm>
            <a:off x="8028432" y="1691640"/>
            <a:ext cx="3429000" cy="4572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b="1" sz="1000">
                <a:solidFill>
                  <a:srgbClr val="2563EB"/>
                </a:solidFill>
              </a:defRPr>
            </a:pPr>
            <a:r>
              <a:t>STRATEGY 03</a:t>
            </a:r>
          </a:p>
          <a:p>
            <a:pPr>
              <a:spcBef>
                <a:spcPts val="300"/>
              </a:spcBef>
              <a:defRPr b="1" sz="1300">
                <a:solidFill>
                  <a:srgbClr val="0A2240"/>
                </a:solidFill>
              </a:defRPr>
            </a:pPr>
            <a:r>
              <a:t>REGIME-SWITCHED GATED ENGINE</a:t>
            </a:r>
          </a:p>
          <a:p>
            <a:pPr>
              <a:spcBef>
                <a:spcPts val="1000"/>
              </a:spcBef>
              <a:defRPr sz="1050">
                <a:solidFill>
                  <a:srgbClr val="0F172A"/>
                </a:solidFill>
              </a:defRPr>
            </a:pPr>
            <a:r>
              <a:t>Deploy the hybrid operational policy.</a:t>
            </a:r>
            <a:br/>
            <a:br/>
            <a:r>
              <a:t>• Nominal Operations (Delays &lt; 15m): Execute pure Supervised ML (Model 2) for zero-latency, low-compute Pareto efficiency.</a:t>
            </a:r>
            <a:br/>
            <a:r>
              <a:t>• Severe Convective Storms (Delays ≥ 45m): Automatically switch to Dynamic Hybrid (Model 3) with floor feedback to eliminate the Empty Checkpoint Fallacy.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51560"/>
          </a:xfrm>
          <a:prstGeom prst="rect">
            <a:avLst/>
          </a:prstGeom>
          <a:noFill/>
        </p:spPr>
        <p:txBody>
          <a:bodyPr wrap="square" lIns="0" tIns="0" rIns="0" bIns="0">
            <a:spAutoFit/>
          </a:bodyPr>
          <a:lstStyle/>
          <a:p>
            <a:pPr>
              <a:defRPr sz="1000" b="1">
                <a:solidFill>
                  <a:srgbClr val="2563EB"/>
                </a:solidFill>
                <a:latin typeface="Calibri"/>
              </a:defRPr>
            </a:pPr>
            <a:r>
              <a:t>RESEARCH SYNTHESIS</a:t>
            </a:r>
          </a:p>
          <a:p>
            <a:pPr>
              <a:spcBef>
                <a:spcPts val="300"/>
              </a:spcBef>
              <a:defRPr sz="2200" b="1">
                <a:solidFill>
                  <a:srgbClr val="0A2240"/>
                </a:solidFill>
                <a:latin typeface="Calibri"/>
              </a:defRPr>
            </a:pPr>
            <a:r>
              <a:t>Research Synthesis &amp; Concluding Takeaway</a:t>
            </a:r>
          </a:p>
          <a:p>
            <a:pPr>
              <a:spcBef>
                <a:spcPts val="200"/>
              </a:spcBef>
              <a:defRPr sz="1200">
                <a:solidFill>
                  <a:srgbClr val="475569"/>
                </a:solidFill>
                <a:latin typeface="Calibri"/>
              </a:defRPr>
            </a:pPr>
            <a:r>
              <a:t>Transforming Airport Security Screening from Reactive Firefighting to Resilient Synchronization</a:t>
            </a:r>
          </a:p>
        </p:txBody>
      </p:sp>
      <p:sp>
        <p:nvSpPr>
          <p:cNvPr id="3" name="Rectangle 2"/>
          <p:cNvSpPr/>
          <p:nvPr/>
        </p:nvSpPr>
        <p:spPr>
          <a:xfrm>
            <a:off x="731520" y="1691640"/>
            <a:ext cx="10728655" cy="1005840"/>
          </a:xfrm>
          <a:prstGeom prst="rect">
            <a:avLst/>
          </a:prstGeom>
          <a:solidFill>
            <a:srgbClr val="0A2240"/>
          </a:solidFill>
          <a:ln w="12700">
            <a:solidFill>
              <a:srgbClr val="0A224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defRPr b="1" sz="1000">
                <a:solidFill>
                  <a:srgbClr val="FFFFFF"/>
                </a:solidFill>
              </a:defRPr>
            </a:pPr>
            <a:r>
              <a:t>CORE RESEARCH SYNTHESIS</a:t>
            </a:r>
          </a:p>
          <a:p>
            <a:pPr>
              <a:spcBef>
                <a:spcPts val="200"/>
              </a:spcBef>
              <a:defRPr b="1" sz="1350">
                <a:solidFill>
                  <a:srgbClr val="FFFFFF"/>
                </a:solidFill>
                <a:latin typeface="Georgia"/>
              </a:defRPr>
            </a:pPr>
            <a:r>
              <a:t>Transforming Airport Security Screening from Reactive Firefighting to Resilient Stochastic Synchronization</a:t>
            </a:r>
          </a:p>
        </p:txBody>
      </p:sp>
      <p:sp>
        <p:nvSpPr>
          <p:cNvPr id="4" name="Rectangle 3"/>
          <p:cNvSpPr/>
          <p:nvPr/>
        </p:nvSpPr>
        <p:spPr>
          <a:xfrm>
            <a:off x="731520" y="2834640"/>
            <a:ext cx="10728655" cy="34290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spcBef>
                <a:spcPts val="600"/>
              </a:spcBef>
              <a:defRPr b="1" sz="1100">
                <a:solidFill>
                  <a:srgbClr val="0A2240"/>
                </a:solidFill>
              </a:defRPr>
            </a:pPr>
            <a:r>
              <a:t>•  The Values vs. Volatility Imperative:</a:t>
            </a:r>
          </a:p>
          <a:p>
            <a:pPr>
              <a:spcBef>
                <a:spcPts val="200"/>
              </a:spcBef>
              <a:defRPr sz="1000">
                <a:solidFill>
                  <a:srgbClr val="0F172A"/>
                </a:solidFill>
              </a:defRPr>
            </a:pPr>
            <a:r>
              <a:t>   Arrival volatility (σ_TSA, CV_TSA), not static passenger headcounts, dictates checkpoint queue formation under Kingman's heavy-traffic formula. Terminal planning must model stochastic arrival variance.</a:t>
            </a:r>
          </a:p>
          <a:p>
            <a:pPr>
              <a:spcBef>
                <a:spcPts val="600"/>
              </a:spcBef>
              <a:defRPr b="1" sz="1100">
                <a:solidFill>
                  <a:srgbClr val="0A2240"/>
                </a:solidFill>
              </a:defRPr>
            </a:pPr>
            <a:r>
              <a:t>•  Proof of the Master Hypothesis (H₁):</a:t>
            </a:r>
          </a:p>
          <a:p>
            <a:pPr>
              <a:spcBef>
                <a:spcPts val="200"/>
              </a:spcBef>
              <a:defRPr sz="1000">
                <a:solidFill>
                  <a:srgbClr val="0F172A"/>
                </a:solidFill>
              </a:defRPr>
            </a:pPr>
            <a:r>
              <a:t>   Proved the Asymmetric Trade-Off: No single predictive model is universally superior. Model 3 wins Robustness (RMSE) and Resilience; Model 2 wins Routine Pareto Efficiency; Model 1 wins Zero-Shot Spatial Portability.</a:t>
            </a:r>
          </a:p>
          <a:p>
            <a:pPr>
              <a:spcBef>
                <a:spcPts val="600"/>
              </a:spcBef>
              <a:defRPr b="1" sz="1100">
                <a:solidFill>
                  <a:srgbClr val="0A2240"/>
                </a:solidFill>
              </a:defRPr>
            </a:pPr>
            <a:r>
              <a:t>•  Eliminating the Empty Checkpoint Fallacy:</a:t>
            </a:r>
          </a:p>
          <a:p>
            <a:pPr>
              <a:spcBef>
                <a:spcPts val="200"/>
              </a:spcBef>
              <a:defRPr sz="1000">
                <a:solidFill>
                  <a:srgbClr val="0F172A"/>
                </a:solidFill>
              </a:defRPr>
            </a:pPr>
            <a:r>
              <a:t>   Real-time prior-hour screening floor innovation feedback (e_{t-1}) rescues forecasting during severe convective storms, cutting recovery time to 2.8 hours.</a:t>
            </a:r>
          </a:p>
          <a:p>
            <a:pPr>
              <a:spcBef>
                <a:spcPts val="600"/>
              </a:spcBef>
              <a:defRPr b="1" sz="1100">
                <a:solidFill>
                  <a:srgbClr val="0A2240"/>
                </a:solidFill>
              </a:defRPr>
            </a:pPr>
            <a:r>
              <a:t>•  The Regime-Switched Gated Engine:</a:t>
            </a:r>
          </a:p>
          <a:p>
            <a:pPr>
              <a:spcBef>
                <a:spcPts val="200"/>
              </a:spcBef>
              <a:defRPr sz="1000">
                <a:solidFill>
                  <a:srgbClr val="0F172A"/>
                </a:solidFill>
              </a:defRPr>
            </a:pPr>
            <a:r>
              <a:t>   A practical, context-aware operational framework that bridges airside flight schedules and landside passenger screening, delivering operational resilience without unnecessary computational overhead.</a:t>
            </a:r>
          </a:p>
          <a:p>
            <a:pPr algn="ctr">
              <a:spcBef>
                <a:spcPts val="1200"/>
              </a:spcBef>
              <a:defRPr b="1" i="1" sz="1200">
                <a:solidFill>
                  <a:srgbClr val="2563EB"/>
                </a:solidFill>
                <a:latin typeface="Georgia"/>
              </a:defRPr>
            </a:pPr>
            <a:r>
              <a:t>Thank you for your guidance, mentorship, and support. 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